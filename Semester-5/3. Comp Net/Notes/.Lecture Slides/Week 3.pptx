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960" r:id="rId2"/>
    <p:sldId id="1041" r:id="rId3"/>
    <p:sldId id="1162" r:id="rId4"/>
    <p:sldId id="1163" r:id="rId5"/>
    <p:sldId id="1164" r:id="rId6"/>
    <p:sldId id="1165" r:id="rId7"/>
    <p:sldId id="1166" r:id="rId8"/>
    <p:sldId id="1167" r:id="rId9"/>
    <p:sldId id="1168" r:id="rId10"/>
    <p:sldId id="1169" r:id="rId11"/>
    <p:sldId id="1170" r:id="rId12"/>
    <p:sldId id="1171" r:id="rId13"/>
    <p:sldId id="1172" r:id="rId14"/>
    <p:sldId id="1173" r:id="rId15"/>
    <p:sldId id="1174" r:id="rId16"/>
    <p:sldId id="1175" r:id="rId17"/>
    <p:sldId id="1254" r:id="rId18"/>
    <p:sldId id="1042" r:id="rId19"/>
    <p:sldId id="1068" r:id="rId20"/>
    <p:sldId id="1069" r:id="rId21"/>
    <p:sldId id="1070" r:id="rId22"/>
    <p:sldId id="1072" r:id="rId23"/>
    <p:sldId id="1073" r:id="rId24"/>
    <p:sldId id="1074" r:id="rId25"/>
    <p:sldId id="1075" r:id="rId26"/>
    <p:sldId id="1076" r:id="rId27"/>
    <p:sldId id="1077" r:id="rId28"/>
    <p:sldId id="1078" r:id="rId29"/>
    <p:sldId id="1079" r:id="rId30"/>
    <p:sldId id="1080" r:id="rId31"/>
    <p:sldId id="1081" r:id="rId32"/>
    <p:sldId id="1082" r:id="rId33"/>
    <p:sldId id="1083" r:id="rId34"/>
    <p:sldId id="1084" r:id="rId35"/>
    <p:sldId id="1085" r:id="rId36"/>
    <p:sldId id="1086" r:id="rId37"/>
    <p:sldId id="1215" r:id="rId38"/>
    <p:sldId id="1216" r:id="rId39"/>
    <p:sldId id="1217" r:id="rId40"/>
    <p:sldId id="1218" r:id="rId41"/>
    <p:sldId id="1219" r:id="rId42"/>
    <p:sldId id="1220" r:id="rId43"/>
    <p:sldId id="1221" r:id="rId44"/>
    <p:sldId id="1255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17"/>
    <p:restoredTop sz="94641"/>
  </p:normalViewPr>
  <p:slideViewPr>
    <p:cSldViewPr snapToGrid="0">
      <p:cViewPr varScale="1">
        <p:scale>
          <a:sx n="59" d="100"/>
          <a:sy n="59" d="100"/>
        </p:scale>
        <p:origin x="10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E54EF-41C7-4328-B618-45379DEC187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6277D-CA0C-4DF4-97E6-84E3C471A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58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8.1. Updates throughout, including a lot more animations.  These are the ppt files used to make Chapter 2 online lectures in Sept. 2020.</a:t>
            </a:r>
          </a:p>
          <a:p>
            <a:endParaRPr lang="en-US" dirty="0"/>
          </a:p>
          <a:p>
            <a:r>
              <a:rPr lang="en-US" dirty="0"/>
              <a:t>8.0  (April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78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02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502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246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6682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200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7561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9039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986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4032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850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94646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1012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9115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95103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353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1807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68983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82820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3365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02447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87474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86221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26812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37087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00930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5018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31017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91466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1360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6494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901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2689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3792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2318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re:</a:t>
            </a:r>
            <a:r>
              <a:rPr lang="en-US" baseline="0" dirty="0"/>
              <a:t> poor content providers – like in real-estate, location is everything.  servers want to be close to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2485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minutes (recall earlier delay versus arrival rate curve from Chapter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5438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40093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31645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3311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395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C2E2-BD8C-A1BE-0909-2672CB49F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AC5FE-0B58-927B-96BA-7CB73D0D9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5D02F-FEF9-A65D-88EB-3AA66976E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AE35B-C8D4-98E3-732B-84FAC214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FE567-3699-0B3C-C520-9E807C51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02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FD407-E4C3-C743-2406-991AAE891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6F330-1969-48DC-59D7-E7EB627B4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D3855-0354-7496-AD8F-13561C00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E5B31-2CE9-05D8-4F06-1E47CFAFD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4547C-508A-1E44-48B3-22662CDE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8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4EB8-05FC-53F7-0A8F-9554FB473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7BBDF-2997-7CAE-CF7B-86FE7F341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8EF38-687F-5377-E859-A32E089E6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5E159-AD5B-D53F-D764-DD09A4D52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CFC7B-ED86-AC41-D657-E5C73F750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84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92CED-8F22-21AD-3E64-F94E65015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36996-3703-DE7D-F145-260B18932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07CEB-7C15-C985-ADAB-25BDFF838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47C73-36F2-CC08-4B59-FA9D65B4C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F342F-1177-936F-DE85-99B4747BE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97CD5-E0BE-5373-D72C-FA4F5F8C7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060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6C2D-16B9-BA7C-A958-7559870CF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34721-EA4D-A6A5-4C02-0085F36C2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41684-300D-B236-5A62-016C3C12C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E5B934-FCB0-737A-8289-04022C0F0C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8D1E07-5F29-A60E-86A3-7A25AC7642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ECE497-EBE6-794C-31B3-CBA4B6729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88F39F-B4AF-5211-2A08-F8E6DD60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95D955-9A42-7C35-B34E-C99DE5A2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1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A0CD-4D16-88FA-E0ED-BE964F6B2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D8D24-C05A-1AC7-EDFF-85A22FD5C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464C6-167B-90FA-E16D-2CF43C12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2EE5C-C00E-11E5-441E-3271F90FA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44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E05D91-C9A4-7904-662E-93D295B3B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443E4-80E1-BB8B-83F8-AAA37AB6B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B0EA5-C446-8AD3-AD4E-0105E11D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75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4AA0A-2833-9EF9-E68F-9FF6FADD0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D2A70-4199-8F34-9D88-16B9FA97E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42A2D-E4A2-C8CC-5F7F-C66AD8178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BDC56-74DE-50CD-D4F3-10ECFB290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0BA40-3D83-F0C7-501F-EAEC77AE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7AF72-4951-26E7-99A8-18A0590D8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24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22FD4-58CB-E289-1165-B928A50D8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1428BE-ED0C-CBF5-BE88-8DE185E3C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331FBB-6F9D-D14C-6CC7-770B9140C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49860-B8EC-B985-B8F4-8F686BEC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101D1-D2ED-95B7-E326-E4A7C539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A0635-4E62-2EDE-4E93-AEB06EB7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5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0911D-4D6C-478C-53B5-C9D67D39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39837-467F-B49A-AEA1-45A38F231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732F3-44F9-3DCA-AD57-7306ED6E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D0E0E-D0F2-D679-2FDA-A533CC164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689A1-1E01-F610-7B77-E99CFFF8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21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58D34-F709-96B6-B325-7C4753B708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D8064-4802-D59B-9C3D-040FF556C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91505-BC06-729D-B95F-9D4427F4E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0071-B793-DFCA-4162-8FFEF43A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F1E9E-B18D-CE1E-7D57-6DFC58EA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9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46A8E5-AE49-E502-5FBC-18EF29A76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EF37E-33D7-B58F-9D71-84092BF28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3A49B-81DE-BCD9-F187-063DCA0F4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BFCC4-6B22-483E-BC79-95ABF5023F4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EEFF-1F7F-4B8A-5D2E-6A87AE6A5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A3CBB-952B-5966-368E-84769FA57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95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18" Type="http://schemas.openxmlformats.org/officeDocument/2006/relationships/image" Target="../media/image20.png"/><Relationship Id="rId3" Type="http://schemas.openxmlformats.org/officeDocument/2006/relationships/image" Target="../media/image3.png"/><Relationship Id="rId21" Type="http://schemas.openxmlformats.org/officeDocument/2006/relationships/image" Target="../media/image23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png"/><Relationship Id="rId15" Type="http://schemas.openxmlformats.org/officeDocument/2006/relationships/image" Target="../media/image17.png"/><Relationship Id="rId23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6.png"/><Relationship Id="rId22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120" y="2281917"/>
            <a:ext cx="537845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Application Layer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65C94-9E94-6144-BDBB-A8F5D511E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67D27E-258D-C546-967D-65B4E6ACE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427" y="3915326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    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pic>
        <p:nvPicPr>
          <p:cNvPr id="12" name="Picture 11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3BE6A818-0DC7-1C43-B5D9-6718F2878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4" y="488979"/>
            <a:ext cx="3040743" cy="380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Application layer: overview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defRPr/>
            </a:pPr>
            <a:r>
              <a:rPr lang="en-US" sz="3200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/>
            <a:r>
              <a:rPr lang="en-US" altLang="en-US" sz="3200" dirty="0"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 descr="Kurose&amp;Ross 8th edition photo">
            <a:extLst>
              <a:ext uri="{FF2B5EF4-FFF2-40B4-BE49-F238E27FC236}">
                <a16:creationId xmlns:a16="http://schemas.microsoft.com/office/drawing/2014/main" id="{A17D26A6-40FA-0B4B-8CB5-56D29C2B1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221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Application </a:t>
            </a:r>
            <a:r>
              <a:rPr lang="en-US" altLang="en-US" dirty="0">
                <a:cs typeface="Calibri" panose="020F0502020204030204" pitchFamily="34" charset="0"/>
              </a:rPr>
              <a:t>l</a:t>
            </a:r>
            <a:r>
              <a:rPr lang="en-US" altLang="en-US" sz="4400" dirty="0">
                <a:cs typeface="Calibri" panose="020F0502020204030204" pitchFamily="34" charset="0"/>
              </a:rPr>
              <a:t>ayer: overview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747307" y="1406319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Our goals: </a:t>
            </a:r>
          </a:p>
          <a:p>
            <a:pPr marL="460375" marR="0" lvl="0" indent="-3460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conceptual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implementation aspects of application-layer protocols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transport-layer service models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client-server paradigm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peer-to-peer paradigm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16985" y="1399497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marR="0" lvl="0" indent="-349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learn about protocols by examining popular application-layer protocols and infrastructure</a:t>
            </a:r>
          </a:p>
          <a:p>
            <a:pPr marL="692150" marR="0" lvl="1" indent="-349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</a:t>
            </a:r>
          </a:p>
          <a:p>
            <a:pPr marL="692150" marR="0" lvl="1" indent="-349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SMTP, IMAP</a:t>
            </a:r>
          </a:p>
          <a:p>
            <a:pPr marL="692150" marR="0" lvl="1" indent="-349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</a:t>
            </a:r>
          </a:p>
          <a:p>
            <a:pPr marL="349250" marR="0" lvl="0" indent="-349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programming network applications</a:t>
            </a:r>
          </a:p>
          <a:p>
            <a:pPr marL="692150" marR="0" lvl="1" indent="-349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socket API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95738BC-ECEC-DD4F-BBFF-ED532C851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51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Some </a:t>
            </a:r>
            <a:r>
              <a:rPr lang="en-US" altLang="en-US" dirty="0">
                <a:ea typeface="ＭＳ Ｐゴシック" panose="020B0600070205080204" pitchFamily="34" charset="-128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</a:rPr>
              <a:t>etwork apps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914400" y="1456928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social networking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Web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text messaging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e-mail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multi-user network games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streaming stored video (YouTube, Hulu, Netflix) 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P2P file sharing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EDF5219-071B-3D4F-9DD6-1CD36C0FFD4F}"/>
              </a:ext>
            </a:extLst>
          </p:cNvPr>
          <p:cNvSpPr txBox="1">
            <a:spLocks/>
          </p:cNvSpPr>
          <p:nvPr/>
        </p:nvSpPr>
        <p:spPr>
          <a:xfrm>
            <a:off x="6468101" y="1456928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voice over IP (e.g., Skype)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real-time video conferencing (e.g., Zoom)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search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remote login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…</a:t>
            </a:r>
          </a:p>
          <a:p>
            <a:pPr marL="142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044202-9730-3D4B-B0F0-0F87E127D55E}"/>
              </a:ext>
            </a:extLst>
          </p:cNvPr>
          <p:cNvSpPr txBox="1"/>
          <p:nvPr/>
        </p:nvSpPr>
        <p:spPr>
          <a:xfrm>
            <a:off x="6946490" y="5161935"/>
            <a:ext cx="3598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</a:t>
            </a:r>
            <a:r>
              <a:rPr kumimoji="0" lang="en-US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your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favorites?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ADE588D6-94A2-B04E-8537-8635EBD4C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17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6" grpId="0" build="p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418">
            <a:extLst>
              <a:ext uri="{FF2B5EF4-FFF2-40B4-BE49-F238E27FC236}">
                <a16:creationId xmlns:a16="http://schemas.microsoft.com/office/drawing/2014/main" id="{BE0D451A-5CE4-4C4B-B3DF-A408288EDA0C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369" name="Rectangle 419">
              <a:extLst>
                <a:ext uri="{FF2B5EF4-FFF2-40B4-BE49-F238E27FC236}">
                  <a16:creationId xmlns:a16="http://schemas.microsoft.com/office/drawing/2014/main" id="{F39DA03D-3BDA-2344-B3D3-3A95FB5E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0" name="AutoShape 420">
              <a:extLst>
                <a:ext uri="{FF2B5EF4-FFF2-40B4-BE49-F238E27FC236}">
                  <a16:creationId xmlns:a16="http://schemas.microsoft.com/office/drawing/2014/main" id="{579866B0-F884-A84A-B74A-EFEA50E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93351559-0D4C-F04C-928E-5CDA57B5EB47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id="{084B6293-559E-5D43-AF2B-4CB5E09EC6C5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91" name="Picture 1115" descr="antenna_stylized">
                <a:extLst>
                  <a:ext uri="{FF2B5EF4-FFF2-40B4-BE49-F238E27FC236}">
                    <a16:creationId xmlns:a16="http://schemas.microsoft.com/office/drawing/2014/main" id="{1821BC3E-6137-D844-92B9-4BA4CFF41F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116" descr="laptop_keyboard">
                <a:extLst>
                  <a:ext uri="{FF2B5EF4-FFF2-40B4-BE49-F238E27FC236}">
                    <a16:creationId xmlns:a16="http://schemas.microsoft.com/office/drawing/2014/main" id="{7F05CE3B-E67B-1B40-9D5B-2914F0B9B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1117">
                <a:extLst>
                  <a:ext uri="{FF2B5EF4-FFF2-40B4-BE49-F238E27FC236}">
                    <a16:creationId xmlns:a16="http://schemas.microsoft.com/office/drawing/2014/main" id="{B52A07C5-D801-5B41-BD20-C20958925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94" name="Picture 1118" descr="screen">
                <a:extLst>
                  <a:ext uri="{FF2B5EF4-FFF2-40B4-BE49-F238E27FC236}">
                    <a16:creationId xmlns:a16="http://schemas.microsoft.com/office/drawing/2014/main" id="{2EA30B4E-5447-0340-8DAD-349A843F2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1119">
                <a:extLst>
                  <a:ext uri="{FF2B5EF4-FFF2-40B4-BE49-F238E27FC236}">
                    <a16:creationId xmlns:a16="http://schemas.microsoft.com/office/drawing/2014/main" id="{1137F6C6-A7C9-9A4D-BCE3-048DB90E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 1120">
                <a:extLst>
                  <a:ext uri="{FF2B5EF4-FFF2-40B4-BE49-F238E27FC236}">
                    <a16:creationId xmlns:a16="http://schemas.microsoft.com/office/drawing/2014/main" id="{7A0060E2-767D-1545-8656-29ED1A47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1121">
                <a:extLst>
                  <a:ext uri="{FF2B5EF4-FFF2-40B4-BE49-F238E27FC236}">
                    <a16:creationId xmlns:a16="http://schemas.microsoft.com/office/drawing/2014/main" id="{15790F5A-ABAC-8D49-A4F9-E2F57655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1122">
                <a:extLst>
                  <a:ext uri="{FF2B5EF4-FFF2-40B4-BE49-F238E27FC236}">
                    <a16:creationId xmlns:a16="http://schemas.microsoft.com/office/drawing/2014/main" id="{8898B7ED-5BCF-8C4E-B1AA-B82AD50F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 1123">
                <a:extLst>
                  <a:ext uri="{FF2B5EF4-FFF2-40B4-BE49-F238E27FC236}">
                    <a16:creationId xmlns:a16="http://schemas.microsoft.com/office/drawing/2014/main" id="{5A7F91EF-AD6B-D64E-B73E-C762D73A7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1124">
                <a:extLst>
                  <a:ext uri="{FF2B5EF4-FFF2-40B4-BE49-F238E27FC236}">
                    <a16:creationId xmlns:a16="http://schemas.microsoft.com/office/drawing/2014/main" id="{BBB1B153-2E6F-7246-9B11-B68D01DF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1" name="Group 1125">
                <a:extLst>
                  <a:ext uri="{FF2B5EF4-FFF2-40B4-BE49-F238E27FC236}">
                    <a16:creationId xmlns:a16="http://schemas.microsoft.com/office/drawing/2014/main" id="{57060979-075D-9D4D-B12E-DA0CCD4C6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40" name="Freeform 1126">
                  <a:extLst>
                    <a:ext uri="{FF2B5EF4-FFF2-40B4-BE49-F238E27FC236}">
                      <a16:creationId xmlns:a16="http://schemas.microsoft.com/office/drawing/2014/main" id="{8DFFF656-1361-C546-8336-177F79E4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1127">
                  <a:extLst>
                    <a:ext uri="{FF2B5EF4-FFF2-40B4-BE49-F238E27FC236}">
                      <a16:creationId xmlns:a16="http://schemas.microsoft.com/office/drawing/2014/main" id="{60C6C6B3-72DE-664B-B4DE-3C04B0C5BF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1128">
                  <a:extLst>
                    <a:ext uri="{FF2B5EF4-FFF2-40B4-BE49-F238E27FC236}">
                      <a16:creationId xmlns:a16="http://schemas.microsoft.com/office/drawing/2014/main" id="{0D48292A-917D-D046-A974-043CEE5A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1129">
                  <a:extLst>
                    <a:ext uri="{FF2B5EF4-FFF2-40B4-BE49-F238E27FC236}">
                      <a16:creationId xmlns:a16="http://schemas.microsoft.com/office/drawing/2014/main" id="{DB6BAAEB-BADD-0A4F-8A9D-D72AFCA99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1130">
                  <a:extLst>
                    <a:ext uri="{FF2B5EF4-FFF2-40B4-BE49-F238E27FC236}">
                      <a16:creationId xmlns:a16="http://schemas.microsoft.com/office/drawing/2014/main" id="{05D5969F-F3B9-414D-975E-A6700098F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131">
                  <a:extLst>
                    <a:ext uri="{FF2B5EF4-FFF2-40B4-BE49-F238E27FC236}">
                      <a16:creationId xmlns:a16="http://schemas.microsoft.com/office/drawing/2014/main" id="{41BB174D-6019-384D-A5AC-1B4D92D9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2" name="Freeform 1132">
                <a:extLst>
                  <a:ext uri="{FF2B5EF4-FFF2-40B4-BE49-F238E27FC236}">
                    <a16:creationId xmlns:a16="http://schemas.microsoft.com/office/drawing/2014/main" id="{F8739864-4836-E447-8FC8-5886923FF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1133">
                <a:extLst>
                  <a:ext uri="{FF2B5EF4-FFF2-40B4-BE49-F238E27FC236}">
                    <a16:creationId xmlns:a16="http://schemas.microsoft.com/office/drawing/2014/main" id="{C59CADF3-CD09-FB48-A672-C2C50B66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134">
                <a:extLst>
                  <a:ext uri="{FF2B5EF4-FFF2-40B4-BE49-F238E27FC236}">
                    <a16:creationId xmlns:a16="http://schemas.microsoft.com/office/drawing/2014/main" id="{628AB6FD-35F6-0345-BD13-22EAAF9E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135">
                <a:extLst>
                  <a:ext uri="{FF2B5EF4-FFF2-40B4-BE49-F238E27FC236}">
                    <a16:creationId xmlns:a16="http://schemas.microsoft.com/office/drawing/2014/main" id="{76529D44-B4FD-DE4D-812E-E461A0FCC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136">
                <a:extLst>
                  <a:ext uri="{FF2B5EF4-FFF2-40B4-BE49-F238E27FC236}">
                    <a16:creationId xmlns:a16="http://schemas.microsoft.com/office/drawing/2014/main" id="{44CD9A89-0E3B-2C40-8436-71B7526BA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Freeform 1137">
                <a:extLst>
                  <a:ext uri="{FF2B5EF4-FFF2-40B4-BE49-F238E27FC236}">
                    <a16:creationId xmlns:a16="http://schemas.microsoft.com/office/drawing/2014/main" id="{92BF681C-02FC-8F49-A2CD-8F3446ECE5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139">
              <a:extLst>
                <a:ext uri="{FF2B5EF4-FFF2-40B4-BE49-F238E27FC236}">
                  <a16:creationId xmlns:a16="http://schemas.microsoft.com/office/drawing/2014/main" id="{904B7C12-C509-8641-BB63-56DEDB95F9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138" name="Picture 1140" descr="desktop_computer_stylized_medium">
                <a:extLst>
                  <a:ext uri="{FF2B5EF4-FFF2-40B4-BE49-F238E27FC236}">
                    <a16:creationId xmlns:a16="http://schemas.microsoft.com/office/drawing/2014/main" id="{BDC7F552-21C9-C942-90FF-0162099A3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9" name="Freeform 1141">
                <a:extLst>
                  <a:ext uri="{FF2B5EF4-FFF2-40B4-BE49-F238E27FC236}">
                    <a16:creationId xmlns:a16="http://schemas.microsoft.com/office/drawing/2014/main" id="{654B43BA-608E-5D4D-B11B-71762CFBE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id="{14715B6C-9A50-FE4B-A8D2-1E669BF891E3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113" name="Picture 571" descr="fridge2.png">
                <a:extLst>
                  <a:ext uri="{FF2B5EF4-FFF2-40B4-BE49-F238E27FC236}">
                    <a16:creationId xmlns:a16="http://schemas.microsoft.com/office/drawing/2014/main" id="{29DD0F98-F93B-0145-A925-F4125ED49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" name="Picture 1115" descr="antenna_stylized">
                <a:extLst>
                  <a:ext uri="{FF2B5EF4-FFF2-40B4-BE49-F238E27FC236}">
                    <a16:creationId xmlns:a16="http://schemas.microsoft.com/office/drawing/2014/main" id="{C1A64F68-4D16-AE4F-AB60-09D2C0CF0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483029-0B46-154F-9CA3-FEA06875B8DB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AB30C9-9641-104B-9006-CB16D4919778}"/>
              </a:ext>
            </a:extLst>
          </p:cNvPr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id="{F4E63F52-683B-8244-A48E-D8CF833C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id="359" name="Picture 653" descr="iphone_stylized_small">
                <a:extLst>
                  <a:ext uri="{FF2B5EF4-FFF2-40B4-BE49-F238E27FC236}">
                    <a16:creationId xmlns:a16="http://schemas.microsoft.com/office/drawing/2014/main" id="{EDF1EC93-A6E5-964F-B0D6-EE56B282A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87" name="Group 590">
              <a:extLst>
                <a:ext uri="{FF2B5EF4-FFF2-40B4-BE49-F238E27FC236}">
                  <a16:creationId xmlns:a16="http://schemas.microsoft.com/office/drawing/2014/main" id="{B2AAF0C3-BD73-634D-B492-B7CCF9735ED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id="488" name="Picture 591" descr="desktop_computer_stylized_medium">
                <a:extLst>
                  <a:ext uri="{FF2B5EF4-FFF2-40B4-BE49-F238E27FC236}">
                    <a16:creationId xmlns:a16="http://schemas.microsoft.com/office/drawing/2014/main" id="{1B000E5D-AA79-9741-93EF-69776E79DC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9" name="Freeform 592">
                <a:extLst>
                  <a:ext uri="{FF2B5EF4-FFF2-40B4-BE49-F238E27FC236}">
                    <a16:creationId xmlns:a16="http://schemas.microsoft.com/office/drawing/2014/main" id="{E285DBFE-A1C0-DE49-94FA-3F8D49F9A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C1E7801D-A747-164C-BE12-1FDEB3DFE743}"/>
                </a:ext>
              </a:extLst>
            </p:cNvPr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71" name="Group 618">
            <a:extLst>
              <a:ext uri="{FF2B5EF4-FFF2-40B4-BE49-F238E27FC236}">
                <a16:creationId xmlns:a16="http://schemas.microsoft.com/office/drawing/2014/main" id="{580255E5-A809-CB45-994D-F69BD8D6F8D7}"/>
              </a:ext>
            </a:extLst>
          </p:cNvPr>
          <p:cNvGrpSpPr>
            <a:grpSpLocks/>
          </p:cNvGrpSpPr>
          <p:nvPr/>
        </p:nvGrpSpPr>
        <p:grpSpPr bwMode="auto">
          <a:xfrm>
            <a:off x="8005845" y="1168489"/>
            <a:ext cx="1065213" cy="965200"/>
            <a:chOff x="4047" y="420"/>
            <a:chExt cx="671" cy="608"/>
          </a:xfrm>
        </p:grpSpPr>
        <p:sp>
          <p:nvSpPr>
            <p:cNvPr id="572" name="Rectangle 227">
              <a:extLst>
                <a:ext uri="{FF2B5EF4-FFF2-40B4-BE49-F238E27FC236}">
                  <a16:creationId xmlns:a16="http://schemas.microsoft.com/office/drawing/2014/main" id="{B2F29371-16FD-D244-80BF-A52E1D7F8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5" name="Rectangle 228">
              <a:extLst>
                <a:ext uri="{FF2B5EF4-FFF2-40B4-BE49-F238E27FC236}">
                  <a16:creationId xmlns:a16="http://schemas.microsoft.com/office/drawing/2014/main" id="{E66B124A-4E8B-D846-A7C2-C34B559B7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6" name="Rectangle 229">
              <a:extLst>
                <a:ext uri="{FF2B5EF4-FFF2-40B4-BE49-F238E27FC236}">
                  <a16:creationId xmlns:a16="http://schemas.microsoft.com/office/drawing/2014/main" id="{80574F4D-DD94-2C4B-B4A1-D4DE0E2DC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9" name="Text Box 230">
              <a:extLst>
                <a:ext uri="{FF2B5EF4-FFF2-40B4-BE49-F238E27FC236}">
                  <a16:creationId xmlns:a16="http://schemas.microsoft.com/office/drawing/2014/main" id="{2EABDC18-53BF-7B40-AB0D-A755F80C07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5" y="421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0" name="Line 231">
              <a:extLst>
                <a:ext uri="{FF2B5EF4-FFF2-40B4-BE49-F238E27FC236}">
                  <a16:creationId xmlns:a16="http://schemas.microsoft.com/office/drawing/2014/main" id="{E5CDD0A1-21E2-6748-A493-24F315669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1" name="Line 232">
              <a:extLst>
                <a:ext uri="{FF2B5EF4-FFF2-40B4-BE49-F238E27FC236}">
                  <a16:creationId xmlns:a16="http://schemas.microsoft.com/office/drawing/2014/main" id="{CDA63567-EA65-5A46-877E-710FE9AD1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3" name="Line 233">
              <a:extLst>
                <a:ext uri="{FF2B5EF4-FFF2-40B4-BE49-F238E27FC236}">
                  <a16:creationId xmlns:a16="http://schemas.microsoft.com/office/drawing/2014/main" id="{7FE7B44D-4874-7642-8A70-AE45F5B80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4" name="Freeform 917">
              <a:extLst>
                <a:ext uri="{FF2B5EF4-FFF2-40B4-BE49-F238E27FC236}">
                  <a16:creationId xmlns:a16="http://schemas.microsoft.com/office/drawing/2014/main" id="{9FBAE6C1-0ABD-B849-B7B3-8C34910CE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31" name="Group 619">
            <a:extLst>
              <a:ext uri="{FF2B5EF4-FFF2-40B4-BE49-F238E27FC236}">
                <a16:creationId xmlns:a16="http://schemas.microsoft.com/office/drawing/2014/main" id="{14A407A0-EBD9-3449-9859-9B138D20D5AC}"/>
              </a:ext>
            </a:extLst>
          </p:cNvPr>
          <p:cNvGrpSpPr>
            <a:grpSpLocks/>
          </p:cNvGrpSpPr>
          <p:nvPr/>
        </p:nvGrpSpPr>
        <p:grpSpPr bwMode="auto">
          <a:xfrm>
            <a:off x="10104523" y="4743539"/>
            <a:ext cx="1050926" cy="974725"/>
            <a:chOff x="4047" y="414"/>
            <a:chExt cx="662" cy="614"/>
          </a:xfrm>
        </p:grpSpPr>
        <p:sp>
          <p:nvSpPr>
            <p:cNvPr id="632" name="Rectangle 227">
              <a:extLst>
                <a:ext uri="{FF2B5EF4-FFF2-40B4-BE49-F238E27FC236}">
                  <a16:creationId xmlns:a16="http://schemas.microsoft.com/office/drawing/2014/main" id="{875D12D0-0645-B449-8F48-0AC45EE18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3" name="Rectangle 228">
              <a:extLst>
                <a:ext uri="{FF2B5EF4-FFF2-40B4-BE49-F238E27FC236}">
                  <a16:creationId xmlns:a16="http://schemas.microsoft.com/office/drawing/2014/main" id="{F233A0F6-C3A3-1D47-A777-BFAC1494E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4" name="Rectangle 229">
              <a:extLst>
                <a:ext uri="{FF2B5EF4-FFF2-40B4-BE49-F238E27FC236}">
                  <a16:creationId xmlns:a16="http://schemas.microsoft.com/office/drawing/2014/main" id="{3B52AB0C-7235-834F-A249-28BBCC6D2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6" name="Text Box 230">
              <a:extLst>
                <a:ext uri="{FF2B5EF4-FFF2-40B4-BE49-F238E27FC236}">
                  <a16:creationId xmlns:a16="http://schemas.microsoft.com/office/drawing/2014/main" id="{9B5B5523-DD29-8F46-BF07-8ECCDD6C7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414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7" name="Line 231">
              <a:extLst>
                <a:ext uri="{FF2B5EF4-FFF2-40B4-BE49-F238E27FC236}">
                  <a16:creationId xmlns:a16="http://schemas.microsoft.com/office/drawing/2014/main" id="{00E57763-CBA1-1542-B749-A48E642E0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9" name="Line 232">
              <a:extLst>
                <a:ext uri="{FF2B5EF4-FFF2-40B4-BE49-F238E27FC236}">
                  <a16:creationId xmlns:a16="http://schemas.microsoft.com/office/drawing/2014/main" id="{E4657539-B4FE-304C-816A-A074251AB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0" name="Line 233">
              <a:extLst>
                <a:ext uri="{FF2B5EF4-FFF2-40B4-BE49-F238E27FC236}">
                  <a16:creationId xmlns:a16="http://schemas.microsoft.com/office/drawing/2014/main" id="{DE0F6076-B3CE-C540-BD00-B77A1E45F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1" name="Freeform 917">
              <a:extLst>
                <a:ext uri="{FF2B5EF4-FFF2-40B4-BE49-F238E27FC236}">
                  <a16:creationId xmlns:a16="http://schemas.microsoft.com/office/drawing/2014/main" id="{0111663E-DD9D-6043-8338-8C5285F74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42" name="Group 628">
            <a:extLst>
              <a:ext uri="{FF2B5EF4-FFF2-40B4-BE49-F238E27FC236}">
                <a16:creationId xmlns:a16="http://schemas.microsoft.com/office/drawing/2014/main" id="{F65FBC4E-EE37-D144-AFDB-E6C408428C1F}"/>
              </a:ext>
            </a:extLst>
          </p:cNvPr>
          <p:cNvGrpSpPr>
            <a:grpSpLocks/>
          </p:cNvGrpSpPr>
          <p:nvPr/>
        </p:nvGrpSpPr>
        <p:grpSpPr bwMode="auto">
          <a:xfrm>
            <a:off x="7962986" y="4374557"/>
            <a:ext cx="1060451" cy="965200"/>
            <a:chOff x="4047" y="420"/>
            <a:chExt cx="668" cy="608"/>
          </a:xfrm>
        </p:grpSpPr>
        <p:sp>
          <p:nvSpPr>
            <p:cNvPr id="643" name="Rectangle 227">
              <a:extLst>
                <a:ext uri="{FF2B5EF4-FFF2-40B4-BE49-F238E27FC236}">
                  <a16:creationId xmlns:a16="http://schemas.microsoft.com/office/drawing/2014/main" id="{E92C3AA2-F23F-C148-8F92-1D04CB500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4" name="Rectangle 228">
              <a:extLst>
                <a:ext uri="{FF2B5EF4-FFF2-40B4-BE49-F238E27FC236}">
                  <a16:creationId xmlns:a16="http://schemas.microsoft.com/office/drawing/2014/main" id="{6330CAEB-E474-6241-9D9F-EEB5C5091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5" name="Rectangle 229">
              <a:extLst>
                <a:ext uri="{FF2B5EF4-FFF2-40B4-BE49-F238E27FC236}">
                  <a16:creationId xmlns:a16="http://schemas.microsoft.com/office/drawing/2014/main" id="{AFA24D83-EF79-8246-AE25-393D0CCB2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6" name="Text Box 230">
              <a:extLst>
                <a:ext uri="{FF2B5EF4-FFF2-40B4-BE49-F238E27FC236}">
                  <a16:creationId xmlns:a16="http://schemas.microsoft.com/office/drawing/2014/main" id="{3EEA565E-691A-5943-B9C1-2FBC1E5B7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423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7" name="Line 231">
              <a:extLst>
                <a:ext uri="{FF2B5EF4-FFF2-40B4-BE49-F238E27FC236}">
                  <a16:creationId xmlns:a16="http://schemas.microsoft.com/office/drawing/2014/main" id="{8E2DC1D5-A1BA-E349-B4E3-5CB27DD1F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8" name="Line 232">
              <a:extLst>
                <a:ext uri="{FF2B5EF4-FFF2-40B4-BE49-F238E27FC236}">
                  <a16:creationId xmlns:a16="http://schemas.microsoft.com/office/drawing/2014/main" id="{0D97E1EE-0440-9746-9909-8846196F3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9" name="Line 233">
              <a:extLst>
                <a:ext uri="{FF2B5EF4-FFF2-40B4-BE49-F238E27FC236}">
                  <a16:creationId xmlns:a16="http://schemas.microsoft.com/office/drawing/2014/main" id="{9453EBF5-7BBF-8943-8161-7DEB7997B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0" name="Freeform 917">
              <a:extLst>
                <a:ext uri="{FF2B5EF4-FFF2-40B4-BE49-F238E27FC236}">
                  <a16:creationId xmlns:a16="http://schemas.microsoft.com/office/drawing/2014/main" id="{B9EE01B3-0624-134E-8FD0-E4ADEDFD2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51" name="Line 913">
            <a:extLst>
              <a:ext uri="{FF2B5EF4-FFF2-40B4-BE49-F238E27FC236}">
                <a16:creationId xmlns:a16="http://schemas.microsoft.com/office/drawing/2014/main" id="{47A3D5AF-94CC-B24F-922A-C603CC0A5A2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8030" y="4451439"/>
            <a:ext cx="1290637" cy="54133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2" name="Line 911">
            <a:extLst>
              <a:ext uri="{FF2B5EF4-FFF2-40B4-BE49-F238E27FC236}">
                <a16:creationId xmlns:a16="http://schemas.microsoft.com/office/drawing/2014/main" id="{8E6A54E5-62F1-544B-AE41-5137E62BF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3280" y="1325651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Creating a network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pp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889178" y="1334086"/>
            <a:ext cx="5309184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write programs that: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run on (different) end systems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communicate over network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web server software communicates with browser software</a:t>
            </a:r>
          </a:p>
          <a:p>
            <a:pPr marL="142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need to write software for network-core devices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network-core devices do not run user applications 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applications on end systems  allows for rapid app development, propagation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659" name="Slide Number Placeholder 2">
            <a:extLst>
              <a:ext uri="{FF2B5EF4-FFF2-40B4-BE49-F238E27FC236}">
                <a16:creationId xmlns:a16="http://schemas.microsoft.com/office/drawing/2014/main" id="{76314F6E-363C-1941-BD9B-3234A7206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90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51" grpId="0" animBg="1"/>
      <p:bldP spid="65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418">
            <a:extLst>
              <a:ext uri="{FF2B5EF4-FFF2-40B4-BE49-F238E27FC236}">
                <a16:creationId xmlns:a16="http://schemas.microsoft.com/office/drawing/2014/main" id="{BE0D451A-5CE4-4C4B-B3DF-A408288EDA0C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369" name="Rectangle 419">
              <a:extLst>
                <a:ext uri="{FF2B5EF4-FFF2-40B4-BE49-F238E27FC236}">
                  <a16:creationId xmlns:a16="http://schemas.microsoft.com/office/drawing/2014/main" id="{F39DA03D-3BDA-2344-B3D3-3A95FB5E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0" name="AutoShape 420">
              <a:extLst>
                <a:ext uri="{FF2B5EF4-FFF2-40B4-BE49-F238E27FC236}">
                  <a16:creationId xmlns:a16="http://schemas.microsoft.com/office/drawing/2014/main" id="{579866B0-F884-A84A-B74A-EFEA50E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93351559-0D4C-F04C-928E-5CDA57B5EB47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id="{084B6293-559E-5D43-AF2B-4CB5E09EC6C5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91" name="Picture 1115" descr="antenna_stylized">
                <a:extLst>
                  <a:ext uri="{FF2B5EF4-FFF2-40B4-BE49-F238E27FC236}">
                    <a16:creationId xmlns:a16="http://schemas.microsoft.com/office/drawing/2014/main" id="{1821BC3E-6137-D844-92B9-4BA4CFF41F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116" descr="laptop_keyboard">
                <a:extLst>
                  <a:ext uri="{FF2B5EF4-FFF2-40B4-BE49-F238E27FC236}">
                    <a16:creationId xmlns:a16="http://schemas.microsoft.com/office/drawing/2014/main" id="{7F05CE3B-E67B-1B40-9D5B-2914F0B9B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1117">
                <a:extLst>
                  <a:ext uri="{FF2B5EF4-FFF2-40B4-BE49-F238E27FC236}">
                    <a16:creationId xmlns:a16="http://schemas.microsoft.com/office/drawing/2014/main" id="{B52A07C5-D801-5B41-BD20-C20958925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94" name="Picture 1118" descr="screen">
                <a:extLst>
                  <a:ext uri="{FF2B5EF4-FFF2-40B4-BE49-F238E27FC236}">
                    <a16:creationId xmlns:a16="http://schemas.microsoft.com/office/drawing/2014/main" id="{2EA30B4E-5447-0340-8DAD-349A843F2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1119">
                <a:extLst>
                  <a:ext uri="{FF2B5EF4-FFF2-40B4-BE49-F238E27FC236}">
                    <a16:creationId xmlns:a16="http://schemas.microsoft.com/office/drawing/2014/main" id="{1137F6C6-A7C9-9A4D-BCE3-048DB90E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 1120">
                <a:extLst>
                  <a:ext uri="{FF2B5EF4-FFF2-40B4-BE49-F238E27FC236}">
                    <a16:creationId xmlns:a16="http://schemas.microsoft.com/office/drawing/2014/main" id="{7A0060E2-767D-1545-8656-29ED1A47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1121">
                <a:extLst>
                  <a:ext uri="{FF2B5EF4-FFF2-40B4-BE49-F238E27FC236}">
                    <a16:creationId xmlns:a16="http://schemas.microsoft.com/office/drawing/2014/main" id="{15790F5A-ABAC-8D49-A4F9-E2F57655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1122">
                <a:extLst>
                  <a:ext uri="{FF2B5EF4-FFF2-40B4-BE49-F238E27FC236}">
                    <a16:creationId xmlns:a16="http://schemas.microsoft.com/office/drawing/2014/main" id="{8898B7ED-5BCF-8C4E-B1AA-B82AD50F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 1123">
                <a:extLst>
                  <a:ext uri="{FF2B5EF4-FFF2-40B4-BE49-F238E27FC236}">
                    <a16:creationId xmlns:a16="http://schemas.microsoft.com/office/drawing/2014/main" id="{5A7F91EF-AD6B-D64E-B73E-C762D73A7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1124">
                <a:extLst>
                  <a:ext uri="{FF2B5EF4-FFF2-40B4-BE49-F238E27FC236}">
                    <a16:creationId xmlns:a16="http://schemas.microsoft.com/office/drawing/2014/main" id="{BBB1B153-2E6F-7246-9B11-B68D01DF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1" name="Group 1125">
                <a:extLst>
                  <a:ext uri="{FF2B5EF4-FFF2-40B4-BE49-F238E27FC236}">
                    <a16:creationId xmlns:a16="http://schemas.microsoft.com/office/drawing/2014/main" id="{57060979-075D-9D4D-B12E-DA0CCD4C6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40" name="Freeform 1126">
                  <a:extLst>
                    <a:ext uri="{FF2B5EF4-FFF2-40B4-BE49-F238E27FC236}">
                      <a16:creationId xmlns:a16="http://schemas.microsoft.com/office/drawing/2014/main" id="{8DFFF656-1361-C546-8336-177F79E4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1127">
                  <a:extLst>
                    <a:ext uri="{FF2B5EF4-FFF2-40B4-BE49-F238E27FC236}">
                      <a16:creationId xmlns:a16="http://schemas.microsoft.com/office/drawing/2014/main" id="{60C6C6B3-72DE-664B-B4DE-3C04B0C5BF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1128">
                  <a:extLst>
                    <a:ext uri="{FF2B5EF4-FFF2-40B4-BE49-F238E27FC236}">
                      <a16:creationId xmlns:a16="http://schemas.microsoft.com/office/drawing/2014/main" id="{0D48292A-917D-D046-A974-043CEE5A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1129">
                  <a:extLst>
                    <a:ext uri="{FF2B5EF4-FFF2-40B4-BE49-F238E27FC236}">
                      <a16:creationId xmlns:a16="http://schemas.microsoft.com/office/drawing/2014/main" id="{DB6BAAEB-BADD-0A4F-8A9D-D72AFCA99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1130">
                  <a:extLst>
                    <a:ext uri="{FF2B5EF4-FFF2-40B4-BE49-F238E27FC236}">
                      <a16:creationId xmlns:a16="http://schemas.microsoft.com/office/drawing/2014/main" id="{05D5969F-F3B9-414D-975E-A6700098F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131">
                  <a:extLst>
                    <a:ext uri="{FF2B5EF4-FFF2-40B4-BE49-F238E27FC236}">
                      <a16:creationId xmlns:a16="http://schemas.microsoft.com/office/drawing/2014/main" id="{41BB174D-6019-384D-A5AC-1B4D92D9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2" name="Freeform 1132">
                <a:extLst>
                  <a:ext uri="{FF2B5EF4-FFF2-40B4-BE49-F238E27FC236}">
                    <a16:creationId xmlns:a16="http://schemas.microsoft.com/office/drawing/2014/main" id="{F8739864-4836-E447-8FC8-5886923FF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1133">
                <a:extLst>
                  <a:ext uri="{FF2B5EF4-FFF2-40B4-BE49-F238E27FC236}">
                    <a16:creationId xmlns:a16="http://schemas.microsoft.com/office/drawing/2014/main" id="{C59CADF3-CD09-FB48-A672-C2C50B66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134">
                <a:extLst>
                  <a:ext uri="{FF2B5EF4-FFF2-40B4-BE49-F238E27FC236}">
                    <a16:creationId xmlns:a16="http://schemas.microsoft.com/office/drawing/2014/main" id="{628AB6FD-35F6-0345-BD13-22EAAF9E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135">
                <a:extLst>
                  <a:ext uri="{FF2B5EF4-FFF2-40B4-BE49-F238E27FC236}">
                    <a16:creationId xmlns:a16="http://schemas.microsoft.com/office/drawing/2014/main" id="{76529D44-B4FD-DE4D-812E-E461A0FCC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136">
                <a:extLst>
                  <a:ext uri="{FF2B5EF4-FFF2-40B4-BE49-F238E27FC236}">
                    <a16:creationId xmlns:a16="http://schemas.microsoft.com/office/drawing/2014/main" id="{44CD9A89-0E3B-2C40-8436-71B7526BA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Freeform 1137">
                <a:extLst>
                  <a:ext uri="{FF2B5EF4-FFF2-40B4-BE49-F238E27FC236}">
                    <a16:creationId xmlns:a16="http://schemas.microsoft.com/office/drawing/2014/main" id="{92BF681C-02FC-8F49-A2CD-8F3446ECE5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139">
              <a:extLst>
                <a:ext uri="{FF2B5EF4-FFF2-40B4-BE49-F238E27FC236}">
                  <a16:creationId xmlns:a16="http://schemas.microsoft.com/office/drawing/2014/main" id="{904B7C12-C509-8641-BB63-56DEDB95F9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138" name="Picture 1140" descr="desktop_computer_stylized_medium">
                <a:extLst>
                  <a:ext uri="{FF2B5EF4-FFF2-40B4-BE49-F238E27FC236}">
                    <a16:creationId xmlns:a16="http://schemas.microsoft.com/office/drawing/2014/main" id="{BDC7F552-21C9-C942-90FF-0162099A3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9" name="Freeform 1141">
                <a:extLst>
                  <a:ext uri="{FF2B5EF4-FFF2-40B4-BE49-F238E27FC236}">
                    <a16:creationId xmlns:a16="http://schemas.microsoft.com/office/drawing/2014/main" id="{654B43BA-608E-5D4D-B11B-71762CFBE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id="{14715B6C-9A50-FE4B-A8D2-1E669BF891E3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113" name="Picture 571" descr="fridge2.png">
                <a:extLst>
                  <a:ext uri="{FF2B5EF4-FFF2-40B4-BE49-F238E27FC236}">
                    <a16:creationId xmlns:a16="http://schemas.microsoft.com/office/drawing/2014/main" id="{29DD0F98-F93B-0145-A925-F4125ED49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" name="Picture 1115" descr="antenna_stylized">
                <a:extLst>
                  <a:ext uri="{FF2B5EF4-FFF2-40B4-BE49-F238E27FC236}">
                    <a16:creationId xmlns:a16="http://schemas.microsoft.com/office/drawing/2014/main" id="{C1A64F68-4D16-AE4F-AB60-09D2C0CF0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483029-0B46-154F-9CA3-FEA06875B8DB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AB30C9-9641-104B-9006-CB16D4919778}"/>
              </a:ext>
            </a:extLst>
          </p:cNvPr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id="{F4E63F52-683B-8244-A48E-D8CF833C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id="359" name="Picture 653" descr="iphone_stylized_small">
                <a:extLst>
                  <a:ext uri="{FF2B5EF4-FFF2-40B4-BE49-F238E27FC236}">
                    <a16:creationId xmlns:a16="http://schemas.microsoft.com/office/drawing/2014/main" id="{EDF1EC93-A6E5-964F-B0D6-EE56B282A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87" name="Group 590">
              <a:extLst>
                <a:ext uri="{FF2B5EF4-FFF2-40B4-BE49-F238E27FC236}">
                  <a16:creationId xmlns:a16="http://schemas.microsoft.com/office/drawing/2014/main" id="{B2AAF0C3-BD73-634D-B492-B7CCF9735ED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id="488" name="Picture 591" descr="desktop_computer_stylized_medium">
                <a:extLst>
                  <a:ext uri="{FF2B5EF4-FFF2-40B4-BE49-F238E27FC236}">
                    <a16:creationId xmlns:a16="http://schemas.microsoft.com/office/drawing/2014/main" id="{1B000E5D-AA79-9741-93EF-69776E79DC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9" name="Freeform 592">
                <a:extLst>
                  <a:ext uri="{FF2B5EF4-FFF2-40B4-BE49-F238E27FC236}">
                    <a16:creationId xmlns:a16="http://schemas.microsoft.com/office/drawing/2014/main" id="{E285DBFE-A1C0-DE49-94FA-3F8D49F9A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C1E7801D-A747-164C-BE12-1FDEB3DFE743}"/>
                </a:ext>
              </a:extLst>
            </p:cNvPr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51" name="Line 913">
            <a:extLst>
              <a:ext uri="{FF2B5EF4-FFF2-40B4-BE49-F238E27FC236}">
                <a16:creationId xmlns:a16="http://schemas.microsoft.com/office/drawing/2014/main" id="{47A3D5AF-94CC-B24F-922A-C603CC0A5A2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10623" y="5474824"/>
            <a:ext cx="1423686" cy="28936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2" name="Line 911">
            <a:extLst>
              <a:ext uri="{FF2B5EF4-FFF2-40B4-BE49-F238E27FC236}">
                <a16:creationId xmlns:a16="http://schemas.microsoft.com/office/drawing/2014/main" id="{8E6A54E5-62F1-544B-AE41-5137E62BF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70450" y="2297968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Client-server </a:t>
            </a:r>
            <a:r>
              <a:rPr lang="en-US" altLang="en-US" dirty="0">
                <a:ea typeface="ＭＳ Ｐゴシック" panose="020B0600070205080204" pitchFamily="34" charset="-128"/>
              </a:rPr>
              <a:t>p</a:t>
            </a:r>
            <a:r>
              <a:rPr lang="en-US" altLang="en-US" sz="4400" dirty="0">
                <a:ea typeface="ＭＳ Ｐゴシック" panose="020B0600070205080204" pitchFamily="34" charset="-128"/>
              </a:rPr>
              <a:t>aradigm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889178" y="1260346"/>
            <a:ext cx="5968498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server: 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always-on host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permanent IP address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often in data centers, for scaling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75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clients: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contact, communicate with server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may be intermittently connected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may have dynamic IP addresses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communicate directly with each other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examples: HTTP, IMAP, FTP</a:t>
            </a: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571" name="Slide Number Placeholder 2">
            <a:extLst>
              <a:ext uri="{FF2B5EF4-FFF2-40B4-BE49-F238E27FC236}">
                <a16:creationId xmlns:a16="http://schemas.microsoft.com/office/drawing/2014/main" id="{96ECE80E-E07E-F54F-B7D9-AC2C33DC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89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9" name="Rectangle 419">
            <a:extLst>
              <a:ext uri="{FF2B5EF4-FFF2-40B4-BE49-F238E27FC236}">
                <a16:creationId xmlns:a16="http://schemas.microsoft.com/office/drawing/2014/main" id="{F39DA03D-3BDA-2344-B3D3-3A95FB5E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70" name="AutoShape 420">
            <a:extLst>
              <a:ext uri="{FF2B5EF4-FFF2-40B4-BE49-F238E27FC236}">
                <a16:creationId xmlns:a16="http://schemas.microsoft.com/office/drawing/2014/main" id="{579866B0-F884-A84A-B74A-EFEA50EBF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350" y="3289251"/>
            <a:ext cx="1458912" cy="317850"/>
          </a:xfrm>
          <a:prstGeom prst="triangle">
            <a:avLst>
              <a:gd name="adj" fmla="val 50000"/>
            </a:avLst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CC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2" name="Group 791">
            <a:extLst>
              <a:ext uri="{FF2B5EF4-FFF2-40B4-BE49-F238E27FC236}">
                <a16:creationId xmlns:a16="http://schemas.microsoft.com/office/drawing/2014/main" id="{084B6293-559E-5D43-AF2B-4CB5E09EC6C5}"/>
              </a:ext>
            </a:extLst>
          </p:cNvPr>
          <p:cNvGrpSpPr/>
          <p:nvPr/>
        </p:nvGrpSpPr>
        <p:grpSpPr>
          <a:xfrm>
            <a:off x="7493518" y="3419140"/>
            <a:ext cx="350807" cy="305517"/>
            <a:chOff x="7487144" y="3389820"/>
            <a:chExt cx="350807" cy="305517"/>
          </a:xfrm>
        </p:grpSpPr>
        <p:pic>
          <p:nvPicPr>
            <p:cNvPr id="91" name="Picture 1115" descr="antenna_stylized">
              <a:extLst>
                <a:ext uri="{FF2B5EF4-FFF2-40B4-BE49-F238E27FC236}">
                  <a16:creationId xmlns:a16="http://schemas.microsoft.com/office/drawing/2014/main" id="{1821BC3E-6137-D844-92B9-4BA4CFF41F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" name="Picture 1116" descr="laptop_keyboard">
              <a:extLst>
                <a:ext uri="{FF2B5EF4-FFF2-40B4-BE49-F238E27FC236}">
                  <a16:creationId xmlns:a16="http://schemas.microsoft.com/office/drawing/2014/main" id="{7F05CE3B-E67B-1B40-9D5B-2914F0B9BF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" name="Freeform 1117">
              <a:extLst>
                <a:ext uri="{FF2B5EF4-FFF2-40B4-BE49-F238E27FC236}">
                  <a16:creationId xmlns:a16="http://schemas.microsoft.com/office/drawing/2014/main" id="{B52A07C5-D801-5B41-BD20-C20958925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014" y="3459979"/>
              <a:ext cx="230764" cy="155883"/>
            </a:xfrm>
            <a:custGeom>
              <a:avLst/>
              <a:gdLst>
                <a:gd name="T0" fmla="*/ 143665061 w 2982"/>
                <a:gd name="T1" fmla="*/ 0 h 2442"/>
                <a:gd name="T2" fmla="*/ 0 w 2982"/>
                <a:gd name="T3" fmla="*/ 66329557 h 2442"/>
                <a:gd name="T4" fmla="*/ 573719931 w 2982"/>
                <a:gd name="T5" fmla="*/ 82975142 h 2442"/>
                <a:gd name="T6" fmla="*/ 717384993 w 2982"/>
                <a:gd name="T7" fmla="*/ 16645585 h 2442"/>
                <a:gd name="T8" fmla="*/ 14366506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4" name="Picture 1118" descr="screen">
              <a:extLst>
                <a:ext uri="{FF2B5EF4-FFF2-40B4-BE49-F238E27FC236}">
                  <a16:creationId xmlns:a16="http://schemas.microsoft.com/office/drawing/2014/main" id="{2EA30B4E-5447-0340-8DAD-349A843F2A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Freeform 1119">
              <a:extLst>
                <a:ext uri="{FF2B5EF4-FFF2-40B4-BE49-F238E27FC236}">
                  <a16:creationId xmlns:a16="http://schemas.microsoft.com/office/drawing/2014/main" id="{1137F6C6-A7C9-9A4D-BCE3-048DB90EF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1029" y="3455381"/>
              <a:ext cx="195517" cy="29007"/>
            </a:xfrm>
            <a:custGeom>
              <a:avLst/>
              <a:gdLst>
                <a:gd name="T0" fmla="*/ 35620212 w 2528"/>
                <a:gd name="T1" fmla="*/ 0 h 455"/>
                <a:gd name="T2" fmla="*/ 608343257 w 2528"/>
                <a:gd name="T3" fmla="*/ 16582250 h 455"/>
                <a:gd name="T4" fmla="*/ 572256449 w 2528"/>
                <a:gd name="T5" fmla="*/ 16582250 h 455"/>
                <a:gd name="T6" fmla="*/ 0 w 2528"/>
                <a:gd name="T7" fmla="*/ 16582250 h 455"/>
                <a:gd name="T8" fmla="*/ 35620212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 1120">
              <a:extLst>
                <a:ext uri="{FF2B5EF4-FFF2-40B4-BE49-F238E27FC236}">
                  <a16:creationId xmlns:a16="http://schemas.microsoft.com/office/drawing/2014/main" id="{7A0060E2-767D-1545-8656-29ED1A471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971" y="3455145"/>
              <a:ext cx="54275" cy="120745"/>
            </a:xfrm>
            <a:custGeom>
              <a:avLst/>
              <a:gdLst>
                <a:gd name="T0" fmla="*/ 142804406 w 702"/>
                <a:gd name="T1" fmla="*/ 0 h 1893"/>
                <a:gd name="T2" fmla="*/ 0 w 702"/>
                <a:gd name="T3" fmla="*/ 66174575 h 1893"/>
                <a:gd name="T4" fmla="*/ 35584530 w 702"/>
                <a:gd name="T5" fmla="*/ 66174575 h 1893"/>
                <a:gd name="T6" fmla="*/ 178855222 w 702"/>
                <a:gd name="T7" fmla="*/ 16607700 h 1893"/>
                <a:gd name="T8" fmla="*/ 142804406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 1121">
              <a:extLst>
                <a:ext uri="{FF2B5EF4-FFF2-40B4-BE49-F238E27FC236}">
                  <a16:creationId xmlns:a16="http://schemas.microsoft.com/office/drawing/2014/main" id="{15790F5A-ABAC-8D49-A4F9-E2F576550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6652" y="3476723"/>
              <a:ext cx="58489" cy="139375"/>
            </a:xfrm>
            <a:custGeom>
              <a:avLst/>
              <a:gdLst>
                <a:gd name="T0" fmla="*/ 179213623 w 756"/>
                <a:gd name="T1" fmla="*/ 0 h 2184"/>
                <a:gd name="T2" fmla="*/ 35656008 w 756"/>
                <a:gd name="T3" fmla="*/ 82904513 h 2184"/>
                <a:gd name="T4" fmla="*/ 0 w 756"/>
                <a:gd name="T5" fmla="*/ 82904513 h 2184"/>
                <a:gd name="T6" fmla="*/ 143090785 w 756"/>
                <a:gd name="T7" fmla="*/ 16632211 h 2184"/>
                <a:gd name="T8" fmla="*/ 179213623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reeform 1122">
              <a:extLst>
                <a:ext uri="{FF2B5EF4-FFF2-40B4-BE49-F238E27FC236}">
                  <a16:creationId xmlns:a16="http://schemas.microsoft.com/office/drawing/2014/main" id="{8898B7ED-5BCF-8C4E-B1AA-B82AD50F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332" y="3569758"/>
              <a:ext cx="214545" cy="47048"/>
            </a:xfrm>
            <a:custGeom>
              <a:avLst/>
              <a:gdLst>
                <a:gd name="T0" fmla="*/ 35658648 w 2773"/>
                <a:gd name="T1" fmla="*/ 0 h 738"/>
                <a:gd name="T2" fmla="*/ 0 w 2773"/>
                <a:gd name="T3" fmla="*/ 16581742 h 738"/>
                <a:gd name="T4" fmla="*/ 573357470 w 2773"/>
                <a:gd name="T5" fmla="*/ 33163485 h 738"/>
                <a:gd name="T6" fmla="*/ 573357470 w 2773"/>
                <a:gd name="T7" fmla="*/ 16581742 h 738"/>
                <a:gd name="T8" fmla="*/ 35658648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 1123">
              <a:extLst>
                <a:ext uri="{FF2B5EF4-FFF2-40B4-BE49-F238E27FC236}">
                  <a16:creationId xmlns:a16="http://schemas.microsoft.com/office/drawing/2014/main" id="{5A7F91EF-AD6B-D64E-B73E-C762D73A7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3165" y="3477902"/>
              <a:ext cx="54786" cy="139965"/>
            </a:xfrm>
            <a:custGeom>
              <a:avLst/>
              <a:gdLst>
                <a:gd name="T0" fmla="*/ 656550006 w 637"/>
                <a:gd name="T1" fmla="*/ 0 h 1659"/>
                <a:gd name="T2" fmla="*/ 656550006 w 637"/>
                <a:gd name="T3" fmla="*/ 0 h 1659"/>
                <a:gd name="T4" fmla="*/ 54716163 w 637"/>
                <a:gd name="T5" fmla="*/ 2147483646 h 1659"/>
                <a:gd name="T6" fmla="*/ 0 w 637"/>
                <a:gd name="T7" fmla="*/ 2147483646 h 1659"/>
                <a:gd name="T8" fmla="*/ 65655000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 1124">
              <a:extLst>
                <a:ext uri="{FF2B5EF4-FFF2-40B4-BE49-F238E27FC236}">
                  <a16:creationId xmlns:a16="http://schemas.microsoft.com/office/drawing/2014/main" id="{BBB1B153-2E6F-7246-9B11-B68D01DF6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588" y="3576007"/>
              <a:ext cx="190792" cy="46458"/>
            </a:xfrm>
            <a:custGeom>
              <a:avLst/>
              <a:gdLst>
                <a:gd name="T0" fmla="*/ 0 w 2216"/>
                <a:gd name="T1" fmla="*/ 0 h 550"/>
                <a:gd name="T2" fmla="*/ 54884212 w 2216"/>
                <a:gd name="T3" fmla="*/ 101852492 h 550"/>
                <a:gd name="T4" fmla="*/ 2147483646 w 2216"/>
                <a:gd name="T5" fmla="*/ 1017940055 h 550"/>
                <a:gd name="T6" fmla="*/ 2147483646 w 2216"/>
                <a:gd name="T7" fmla="*/ 865464562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1" name="Group 1125">
              <a:extLst>
                <a:ext uri="{FF2B5EF4-FFF2-40B4-BE49-F238E27FC236}">
                  <a16:creationId xmlns:a16="http://schemas.microsoft.com/office/drawing/2014/main" id="{57060979-075D-9D4D-B12E-DA0CCD4C6B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140" name="Freeform 1126">
                <a:extLst>
                  <a:ext uri="{FF2B5EF4-FFF2-40B4-BE49-F238E27FC236}">
                    <a16:creationId xmlns:a16="http://schemas.microsoft.com/office/drawing/2014/main" id="{8DFFF656-1361-C546-8336-177F79E46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127">
                <a:extLst>
                  <a:ext uri="{FF2B5EF4-FFF2-40B4-BE49-F238E27FC236}">
                    <a16:creationId xmlns:a16="http://schemas.microsoft.com/office/drawing/2014/main" id="{60C6C6B3-72DE-664B-B4DE-3C04B0C5B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128">
                <a:extLst>
                  <a:ext uri="{FF2B5EF4-FFF2-40B4-BE49-F238E27FC236}">
                    <a16:creationId xmlns:a16="http://schemas.microsoft.com/office/drawing/2014/main" id="{0D48292A-917D-D046-A974-043CEE5A4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129">
                <a:extLst>
                  <a:ext uri="{FF2B5EF4-FFF2-40B4-BE49-F238E27FC236}">
                    <a16:creationId xmlns:a16="http://schemas.microsoft.com/office/drawing/2014/main" id="{DB6BAAEB-BADD-0A4F-8A9D-D72AFCA99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130">
                <a:extLst>
                  <a:ext uri="{FF2B5EF4-FFF2-40B4-BE49-F238E27FC236}">
                    <a16:creationId xmlns:a16="http://schemas.microsoft.com/office/drawing/2014/main" id="{05D5969F-F3B9-414D-975E-A6700098F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Freeform 1131">
                <a:extLst>
                  <a:ext uri="{FF2B5EF4-FFF2-40B4-BE49-F238E27FC236}">
                    <a16:creationId xmlns:a16="http://schemas.microsoft.com/office/drawing/2014/main" id="{41BB174D-6019-384D-A5AC-1B4D92D93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2" name="Freeform 1132">
              <a:extLst>
                <a:ext uri="{FF2B5EF4-FFF2-40B4-BE49-F238E27FC236}">
                  <a16:creationId xmlns:a16="http://schemas.microsoft.com/office/drawing/2014/main" id="{F8739864-4836-E447-8FC8-5886923FF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4243" y="3629776"/>
              <a:ext cx="78411" cy="60608"/>
            </a:xfrm>
            <a:custGeom>
              <a:avLst/>
              <a:gdLst>
                <a:gd name="T0" fmla="*/ 39250883 w 990"/>
                <a:gd name="T1" fmla="*/ 342828616 h 792"/>
                <a:gd name="T2" fmla="*/ 354255671 w 990"/>
                <a:gd name="T3" fmla="*/ 0 h 792"/>
                <a:gd name="T4" fmla="*/ 354255671 w 990"/>
                <a:gd name="T5" fmla="*/ 34504242 h 792"/>
                <a:gd name="T6" fmla="*/ 0 w 990"/>
                <a:gd name="T7" fmla="*/ 342828616 h 792"/>
                <a:gd name="T8" fmla="*/ 39250883 w 990"/>
                <a:gd name="T9" fmla="*/ 342828616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1133">
              <a:extLst>
                <a:ext uri="{FF2B5EF4-FFF2-40B4-BE49-F238E27FC236}">
                  <a16:creationId xmlns:a16="http://schemas.microsoft.com/office/drawing/2014/main" id="{C59CADF3-CD09-FB48-A672-C2C50B66C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129" y="3634611"/>
              <a:ext cx="200625" cy="55302"/>
            </a:xfrm>
            <a:custGeom>
              <a:avLst/>
              <a:gdLst>
                <a:gd name="T0" fmla="*/ 39302216 w 2532"/>
                <a:gd name="T1" fmla="*/ 0 h 723"/>
                <a:gd name="T2" fmla="*/ 39302216 w 2532"/>
                <a:gd name="T3" fmla="*/ 0 h 723"/>
                <a:gd name="T4" fmla="*/ 867084690 w 2532"/>
                <a:gd name="T5" fmla="*/ 307891170 h 723"/>
                <a:gd name="T6" fmla="*/ 867084690 w 2532"/>
                <a:gd name="T7" fmla="*/ 342351506 h 723"/>
                <a:gd name="T8" fmla="*/ 0 w 2532"/>
                <a:gd name="T9" fmla="*/ 34009889 h 723"/>
                <a:gd name="T10" fmla="*/ 39302216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 1134">
              <a:extLst>
                <a:ext uri="{FF2B5EF4-FFF2-40B4-BE49-F238E27FC236}">
                  <a16:creationId xmlns:a16="http://schemas.microsoft.com/office/drawing/2014/main" id="{628AB6FD-35F6-0345-BD13-22EAAF9EC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257" y="3624470"/>
              <a:ext cx="2171" cy="11202"/>
            </a:xfrm>
            <a:custGeom>
              <a:avLst/>
              <a:gdLst>
                <a:gd name="T0" fmla="*/ 48903362 w 26"/>
                <a:gd name="T1" fmla="*/ 33634500 h 147"/>
                <a:gd name="T2" fmla="*/ 48903362 w 26"/>
                <a:gd name="T3" fmla="*/ 67263209 h 147"/>
                <a:gd name="T4" fmla="*/ 0 w 26"/>
                <a:gd name="T5" fmla="*/ 67263209 h 147"/>
                <a:gd name="T6" fmla="*/ 48903362 w 26"/>
                <a:gd name="T7" fmla="*/ 0 h 147"/>
                <a:gd name="T8" fmla="*/ 48903362 w 26"/>
                <a:gd name="T9" fmla="*/ 3363450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1135">
              <a:extLst>
                <a:ext uri="{FF2B5EF4-FFF2-40B4-BE49-F238E27FC236}">
                  <a16:creationId xmlns:a16="http://schemas.microsoft.com/office/drawing/2014/main" id="{76529D44-B4FD-DE4D-812E-E461A0FCC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384" y="3578837"/>
              <a:ext cx="93225" cy="46340"/>
            </a:xfrm>
            <a:custGeom>
              <a:avLst/>
              <a:gdLst>
                <a:gd name="T0" fmla="*/ 395043791 w 1176"/>
                <a:gd name="T1" fmla="*/ 0 h 606"/>
                <a:gd name="T2" fmla="*/ 0 w 1176"/>
                <a:gd name="T3" fmla="*/ 273654982 h 606"/>
                <a:gd name="T4" fmla="*/ 39357994 w 1176"/>
                <a:gd name="T5" fmla="*/ 273654982 h 606"/>
                <a:gd name="T6" fmla="*/ 395043791 w 1176"/>
                <a:gd name="T7" fmla="*/ 33985420 h 606"/>
                <a:gd name="T8" fmla="*/ 39504379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 1136">
              <a:extLst>
                <a:ext uri="{FF2B5EF4-FFF2-40B4-BE49-F238E27FC236}">
                  <a16:creationId xmlns:a16="http://schemas.microsoft.com/office/drawing/2014/main" id="{44CD9A89-0E3B-2C40-8436-71B7526BA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642" y="3626829"/>
              <a:ext cx="190281" cy="53180"/>
            </a:xfrm>
            <a:custGeom>
              <a:avLst/>
              <a:gdLst>
                <a:gd name="T0" fmla="*/ 31829833 w 2532"/>
                <a:gd name="T1" fmla="*/ 0 h 723"/>
                <a:gd name="T2" fmla="*/ 31829833 w 2532"/>
                <a:gd name="T3" fmla="*/ 0 h 723"/>
                <a:gd name="T4" fmla="*/ 382827787 w 2532"/>
                <a:gd name="T5" fmla="*/ 175498781 h 723"/>
                <a:gd name="T6" fmla="*/ 382827787 w 2532"/>
                <a:gd name="T7" fmla="*/ 175498781 h 723"/>
                <a:gd name="T8" fmla="*/ 0 w 2532"/>
                <a:gd name="T9" fmla="*/ 29448186 h 723"/>
                <a:gd name="T10" fmla="*/ 31829833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 1137">
              <a:extLst>
                <a:ext uri="{FF2B5EF4-FFF2-40B4-BE49-F238E27FC236}">
                  <a16:creationId xmlns:a16="http://schemas.microsoft.com/office/drawing/2014/main" id="{92BF681C-02FC-8F49-A2CD-8F3446ECE5D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00668" y="3623055"/>
              <a:ext cx="77645" cy="5506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02641137 h 723"/>
                <a:gd name="T6" fmla="*/ 0 w 2532"/>
                <a:gd name="T7" fmla="*/ 302641137 h 723"/>
                <a:gd name="T8" fmla="*/ 0 w 2532"/>
                <a:gd name="T9" fmla="*/ 33575256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14715B6C-9A50-FE4B-A8D2-1E669BF891E3}"/>
              </a:ext>
            </a:extLst>
          </p:cNvPr>
          <p:cNvGrpSpPr/>
          <p:nvPr/>
        </p:nvGrpSpPr>
        <p:grpSpPr>
          <a:xfrm>
            <a:off x="7803435" y="3325424"/>
            <a:ext cx="347997" cy="396620"/>
            <a:chOff x="7797061" y="3296104"/>
            <a:chExt cx="347997" cy="396620"/>
          </a:xfrm>
        </p:grpSpPr>
        <p:pic>
          <p:nvPicPr>
            <p:cNvPr id="113" name="Picture 571" descr="fridge2.png">
              <a:extLst>
                <a:ext uri="{FF2B5EF4-FFF2-40B4-BE49-F238E27FC236}">
                  <a16:creationId xmlns:a16="http://schemas.microsoft.com/office/drawing/2014/main" id="{29DD0F98-F93B-0145-A925-F4125ED49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" name="Picture 1115" descr="antenna_stylized">
              <a:extLst>
                <a:ext uri="{FF2B5EF4-FFF2-40B4-BE49-F238E27FC236}">
                  <a16:creationId xmlns:a16="http://schemas.microsoft.com/office/drawing/2014/main" id="{C1A64F68-4D16-AE4F-AB60-09D2C0CF0E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Peer-peer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rchitecture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889178" y="1260346"/>
            <a:ext cx="5968498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always-on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arbitrary end systems directly communicate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peers request service from other peers, provide service in return to other peers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self scalability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– new peers bring new service capacity, as well as new service demands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peers are intermittently connected and change IP addresses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complex management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P2P file sharing</a:t>
            </a: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575" name="Rectangle 574">
            <a:extLst>
              <a:ext uri="{FF2B5EF4-FFF2-40B4-BE49-F238E27FC236}">
                <a16:creationId xmlns:a16="http://schemas.microsoft.com/office/drawing/2014/main" id="{2DA99646-DBA9-0746-9A79-29EAA25D43FE}"/>
              </a:ext>
            </a:extLst>
          </p:cNvPr>
          <p:cNvSpPr/>
          <p:nvPr/>
        </p:nvSpPr>
        <p:spPr>
          <a:xfrm>
            <a:off x="6747501" y="1488461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227275-E754-4D43-889C-5A2BD4A21205}"/>
              </a:ext>
            </a:extLst>
          </p:cNvPr>
          <p:cNvGrpSpPr/>
          <p:nvPr/>
        </p:nvGrpSpPr>
        <p:grpSpPr>
          <a:xfrm>
            <a:off x="7680324" y="1814171"/>
            <a:ext cx="1991221" cy="4482411"/>
            <a:chOff x="7680324" y="1814171"/>
            <a:chExt cx="1991221" cy="4482411"/>
          </a:xfrm>
        </p:grpSpPr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1" name="Line 913">
              <a:extLst>
                <a:ext uri="{FF2B5EF4-FFF2-40B4-BE49-F238E27FC236}">
                  <a16:creationId xmlns:a16="http://schemas.microsoft.com/office/drawing/2014/main" id="{47A3D5AF-94CC-B24F-922A-C603CC0A5A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53326" y="2438326"/>
              <a:ext cx="498897" cy="1114752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2" name="Line 911">
              <a:extLst>
                <a:ext uri="{FF2B5EF4-FFF2-40B4-BE49-F238E27FC236}">
                  <a16:creationId xmlns:a16="http://schemas.microsoft.com/office/drawing/2014/main" id="{8E6A54E5-62F1-544B-AE41-5137E62BF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1176" y="2321758"/>
              <a:ext cx="1187" cy="2793530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1E120312-45B0-4C42-82FC-F180847C8246}"/>
                </a:ext>
              </a:extLst>
            </p:cNvPr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05394771-B526-F445-85E3-3C2DA3BC4892}"/>
                </a:ext>
              </a:extLst>
            </p:cNvPr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6" name="Oval 575">
              <a:extLst>
                <a:ext uri="{FF2B5EF4-FFF2-40B4-BE49-F238E27FC236}">
                  <a16:creationId xmlns:a16="http://schemas.microsoft.com/office/drawing/2014/main" id="{01400376-9630-4440-8893-6D129686EE19}"/>
                </a:ext>
              </a:extLst>
            </p:cNvPr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9" name="Line 913">
              <a:extLst>
                <a:ext uri="{FF2B5EF4-FFF2-40B4-BE49-F238E27FC236}">
                  <a16:creationId xmlns:a16="http://schemas.microsoft.com/office/drawing/2014/main" id="{4FC33EFC-28C4-404D-91B5-F7C18E706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3664" y="2462348"/>
              <a:ext cx="228982" cy="3299611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0" name="Line 913">
              <a:extLst>
                <a:ext uri="{FF2B5EF4-FFF2-40B4-BE49-F238E27FC236}">
                  <a16:creationId xmlns:a16="http://schemas.microsoft.com/office/drawing/2014/main" id="{7602507B-BECA-7042-893E-42D6FF9E5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5044" y="3911282"/>
              <a:ext cx="764880" cy="1866664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" name="Group 652">
            <a:extLst>
              <a:ext uri="{FF2B5EF4-FFF2-40B4-BE49-F238E27FC236}">
                <a16:creationId xmlns:a16="http://schemas.microsoft.com/office/drawing/2014/main" id="{F4E63F52-683B-8244-A48E-D8CF833CC085}"/>
              </a:ext>
            </a:extLst>
          </p:cNvPr>
          <p:cNvGrpSpPr>
            <a:grpSpLocks/>
          </p:cNvGrpSpPr>
          <p:nvPr/>
        </p:nvGrpSpPr>
        <p:grpSpPr bwMode="auto"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id="359" name="Picture 653" descr="iphone_stylized_small">
              <a:extLst>
                <a:ext uri="{FF2B5EF4-FFF2-40B4-BE49-F238E27FC236}">
                  <a16:creationId xmlns:a16="http://schemas.microsoft.com/office/drawing/2014/main" id="{EDF1EC93-A6E5-964F-B0D6-EE56B282AE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0" name="Picture 654" descr="antenna_radiation_stylized">
              <a:extLst>
                <a:ext uri="{FF2B5EF4-FFF2-40B4-BE49-F238E27FC236}">
                  <a16:creationId xmlns:a16="http://schemas.microsoft.com/office/drawing/2014/main" id="{0A17C594-505E-6F41-AEEB-272A31DFD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8" name="Group 1139">
            <a:extLst>
              <a:ext uri="{FF2B5EF4-FFF2-40B4-BE49-F238E27FC236}">
                <a16:creationId xmlns:a16="http://schemas.microsoft.com/office/drawing/2014/main" id="{904B7C12-C509-8641-BB63-56DEDB95F95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91996" y="3567143"/>
            <a:ext cx="359261" cy="342045"/>
            <a:chOff x="2839" y="3501"/>
            <a:chExt cx="755" cy="803"/>
          </a:xfrm>
        </p:grpSpPr>
        <p:pic>
          <p:nvPicPr>
            <p:cNvPr id="138" name="Picture 1140" descr="desktop_computer_stylized_medium">
              <a:extLst>
                <a:ext uri="{FF2B5EF4-FFF2-40B4-BE49-F238E27FC236}">
                  <a16:creationId xmlns:a16="http://schemas.microsoft.com/office/drawing/2014/main" id="{BDC7F552-21C9-C942-90FF-0162099A3D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9" name="Freeform 1141">
              <a:extLst>
                <a:ext uri="{FF2B5EF4-FFF2-40B4-BE49-F238E27FC236}">
                  <a16:creationId xmlns:a16="http://schemas.microsoft.com/office/drawing/2014/main" id="{654B43BA-608E-5D4D-B11B-71762CFBE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7" name="Group 590">
            <a:extLst>
              <a:ext uri="{FF2B5EF4-FFF2-40B4-BE49-F238E27FC236}">
                <a16:creationId xmlns:a16="http://schemas.microsoft.com/office/drawing/2014/main" id="{B2AAF0C3-BD73-634D-B492-B7CCF9735E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id="488" name="Picture 591" descr="desktop_computer_stylized_medium">
              <a:extLst>
                <a:ext uri="{FF2B5EF4-FFF2-40B4-BE49-F238E27FC236}">
                  <a16:creationId xmlns:a16="http://schemas.microsoft.com/office/drawing/2014/main" id="{1B000E5D-AA79-9741-93EF-69776E79D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592">
              <a:extLst>
                <a:ext uri="{FF2B5EF4-FFF2-40B4-BE49-F238E27FC236}">
                  <a16:creationId xmlns:a16="http://schemas.microsoft.com/office/drawing/2014/main" id="{E285DBFE-A1C0-DE49-94FA-3F8D49F9A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11" name="Slide Number Placeholder 2">
            <a:extLst>
              <a:ext uri="{FF2B5EF4-FFF2-40B4-BE49-F238E27FC236}">
                <a16:creationId xmlns:a16="http://schemas.microsoft.com/office/drawing/2014/main" id="{BF49A24D-3811-4749-86AF-DF0821A52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20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Processes communicating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606042" y="1565977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process: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program running within a host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within same host, two processes communicate using 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inter-process communication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(defined by OS)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processes in different hosts communicate by exchanging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F7AD000-A388-6C4C-8C9C-158A86A0C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5273" y="4263451"/>
            <a:ext cx="3989387" cy="183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note: applications with P2P architectures have client processes &amp; server processes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E7D9C5A-4A0F-3E45-B3EB-48F963F34B69}"/>
              </a:ext>
            </a:extLst>
          </p:cNvPr>
          <p:cNvGrpSpPr/>
          <p:nvPr/>
        </p:nvGrpSpPr>
        <p:grpSpPr>
          <a:xfrm>
            <a:off x="6974010" y="1488501"/>
            <a:ext cx="4092575" cy="2567781"/>
            <a:chOff x="6974010" y="1488501"/>
            <a:chExt cx="4092575" cy="2567781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96562BEA-C84E-254B-BD55-56C2EB6C508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025603" y="2022695"/>
              <a:ext cx="3989387" cy="2033587"/>
            </a:xfrm>
            <a:prstGeom prst="rect">
              <a:avLst/>
            </a:prstGeom>
            <a:noFill/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client process: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process that initiates communication</a:t>
              </a: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server process: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process that waits to be contacted</a:t>
              </a: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0414D3D5-1BB8-5844-8D2A-3C8E3E5DC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4010" y="1786951"/>
              <a:ext cx="4092575" cy="2062163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FAA5D4F0-1DCB-7C49-A07F-4729B9F9D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4660" y="1488501"/>
              <a:ext cx="2325688" cy="519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clients, servers</a:t>
              </a:r>
            </a:p>
          </p:txBody>
        </p:sp>
      </p:grp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126C885E-4769-8644-8E59-814749DC52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7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Sockets</a:t>
            </a:r>
            <a:endParaRPr lang="en-US" sz="4400" dirty="0"/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id="{AE0F6699-BC13-C349-9AC1-8B36945FE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1" y="1183986"/>
            <a:ext cx="10965041" cy="232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process sends/receives messages to/from its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 analogous to door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sending process shoves message out the door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sending process relies on transport infrastructure on other side of door to deliver message to socket at receiving process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two sockets involved: one on each side</a:t>
            </a:r>
          </a:p>
        </p:txBody>
      </p:sp>
      <p:sp>
        <p:nvSpPr>
          <p:cNvPr id="69" name="Freeform 66">
            <a:extLst>
              <a:ext uri="{FF2B5EF4-FFF2-40B4-BE49-F238E27FC236}">
                <a16:creationId xmlns:a16="http://schemas.microsoft.com/office/drawing/2014/main" id="{C55660F8-73B5-034B-A597-DD5D87ECF66A}"/>
              </a:ext>
            </a:extLst>
          </p:cNvPr>
          <p:cNvSpPr>
            <a:spLocks/>
          </p:cNvSpPr>
          <p:nvPr/>
        </p:nvSpPr>
        <p:spPr bwMode="auto">
          <a:xfrm>
            <a:off x="8482481" y="4098352"/>
            <a:ext cx="736600" cy="1998662"/>
          </a:xfrm>
          <a:custGeom>
            <a:avLst/>
            <a:gdLst>
              <a:gd name="T0" fmla="*/ 2147483647 w 464"/>
              <a:gd name="T1" fmla="*/ 2147483647 h 1259"/>
              <a:gd name="T2" fmla="*/ 0 w 464"/>
              <a:gd name="T3" fmla="*/ 0 h 1259"/>
              <a:gd name="T4" fmla="*/ 2147483647 w 464"/>
              <a:gd name="T5" fmla="*/ 2147483647 h 1259"/>
              <a:gd name="T6" fmla="*/ 2147483647 w 464"/>
              <a:gd name="T7" fmla="*/ 2147483647 h 1259"/>
              <a:gd name="T8" fmla="*/ 2147483647 w 464"/>
              <a:gd name="T9" fmla="*/ 2147483647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0" name="Freeform 7">
            <a:extLst>
              <a:ext uri="{FF2B5EF4-FFF2-40B4-BE49-F238E27FC236}">
                <a16:creationId xmlns:a16="http://schemas.microsoft.com/office/drawing/2014/main" id="{ABAB43B4-03FC-2A42-98B9-913DD8EC77B7}"/>
              </a:ext>
            </a:extLst>
          </p:cNvPr>
          <p:cNvSpPr>
            <a:spLocks/>
          </p:cNvSpPr>
          <p:nvPr/>
        </p:nvSpPr>
        <p:spPr bwMode="auto">
          <a:xfrm>
            <a:off x="5167781" y="5395339"/>
            <a:ext cx="1808162" cy="1031875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Text Box 51">
            <a:extLst>
              <a:ext uri="{FF2B5EF4-FFF2-40B4-BE49-F238E27FC236}">
                <a16:creationId xmlns:a16="http://schemas.microsoft.com/office/drawing/2014/main" id="{66AD3E16-6743-CC4C-9091-25C6B0A95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931" y="5527102"/>
            <a:ext cx="874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Internet</a:t>
            </a:r>
          </a:p>
        </p:txBody>
      </p:sp>
      <p:sp>
        <p:nvSpPr>
          <p:cNvPr id="72" name="Line 52">
            <a:extLst>
              <a:ext uri="{FF2B5EF4-FFF2-40B4-BE49-F238E27FC236}">
                <a16:creationId xmlns:a16="http://schemas.microsoft.com/office/drawing/2014/main" id="{2374F19B-E4B6-644E-AEE0-FC14C13C0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6481" y="5938264"/>
            <a:ext cx="22113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Text Box 53">
            <a:extLst>
              <a:ext uri="{FF2B5EF4-FFF2-40B4-BE49-F238E27FC236}">
                <a16:creationId xmlns:a16="http://schemas.microsoft.com/office/drawing/2014/main" id="{AD6E6CB7-7739-BE4D-84DA-1BBDF2D16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7618" y="5163564"/>
            <a:ext cx="10636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 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Text Box 56">
            <a:extLst>
              <a:ext uri="{FF2B5EF4-FFF2-40B4-BE49-F238E27FC236}">
                <a16:creationId xmlns:a16="http://schemas.microsoft.com/office/drawing/2014/main" id="{20BE946D-C7D0-4A45-83B1-1480163BA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5393" y="4263452"/>
            <a:ext cx="1470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 by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app developer</a:t>
            </a:r>
          </a:p>
        </p:txBody>
      </p:sp>
      <p:sp>
        <p:nvSpPr>
          <p:cNvPr id="75" name="Freeform 45">
            <a:extLst>
              <a:ext uri="{FF2B5EF4-FFF2-40B4-BE49-F238E27FC236}">
                <a16:creationId xmlns:a16="http://schemas.microsoft.com/office/drawing/2014/main" id="{6780AD31-F16D-1B4A-BC72-926F1B2A7FE8}"/>
              </a:ext>
            </a:extLst>
          </p:cNvPr>
          <p:cNvSpPr>
            <a:spLocks/>
          </p:cNvSpPr>
          <p:nvPr/>
        </p:nvSpPr>
        <p:spPr bwMode="auto">
          <a:xfrm>
            <a:off x="2742081" y="4161852"/>
            <a:ext cx="758825" cy="1997075"/>
          </a:xfrm>
          <a:custGeom>
            <a:avLst/>
            <a:gdLst>
              <a:gd name="T0" fmla="*/ 0 w 478"/>
              <a:gd name="T1" fmla="*/ 2147483647 h 1258"/>
              <a:gd name="T2" fmla="*/ 2147483647 w 478"/>
              <a:gd name="T3" fmla="*/ 0 h 1258"/>
              <a:gd name="T4" fmla="*/ 2147483647 w 478"/>
              <a:gd name="T5" fmla="*/ 2147483647 h 1258"/>
              <a:gd name="T6" fmla="*/ 2147483647 w 478"/>
              <a:gd name="T7" fmla="*/ 2147483647 h 1258"/>
              <a:gd name="T8" fmla="*/ 0 w 478"/>
              <a:gd name="T9" fmla="*/ 2147483647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6" name="Rectangle 23">
            <a:extLst>
              <a:ext uri="{FF2B5EF4-FFF2-40B4-BE49-F238E27FC236}">
                <a16:creationId xmlns:a16="http://schemas.microsoft.com/office/drawing/2014/main" id="{F7C1C383-CE46-7C44-B7F2-94606E877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5356" y="4117402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" name="Rectangle 24">
            <a:extLst>
              <a:ext uri="{FF2B5EF4-FFF2-40B4-BE49-F238E27FC236}">
                <a16:creationId xmlns:a16="http://schemas.microsoft.com/office/drawing/2014/main" id="{FD8D123C-B8FD-A64F-9AD3-86943A5D5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7256" y="4171377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8" name="Line 25">
            <a:extLst>
              <a:ext uri="{FF2B5EF4-FFF2-40B4-BE49-F238E27FC236}">
                <a16:creationId xmlns:a16="http://schemas.microsoft.com/office/drawing/2014/main" id="{A30BEE8C-0165-984E-888C-91DC647B6A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781" y="493178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9" name="Text Box 26">
            <a:extLst>
              <a:ext uri="{FF2B5EF4-FFF2-40B4-BE49-F238E27FC236}">
                <a16:creationId xmlns:a16="http://schemas.microsoft.com/office/drawing/2014/main" id="{4E5CE7E7-BE20-B242-B8AA-2C5D47992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918" y="491432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80" name="Line 27">
            <a:extLst>
              <a:ext uri="{FF2B5EF4-FFF2-40B4-BE49-F238E27FC236}">
                <a16:creationId xmlns:a16="http://schemas.microsoft.com/office/drawing/2014/main" id="{9AB6E7C8-3093-D94D-9D3B-10F5749B7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4718" y="525246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1" name="Line 28">
            <a:extLst>
              <a:ext uri="{FF2B5EF4-FFF2-40B4-BE49-F238E27FC236}">
                <a16:creationId xmlns:a16="http://schemas.microsoft.com/office/drawing/2014/main" id="{2F4C67B7-677F-C84F-B3B7-01AAFB2AD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0431" y="556202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Line 29">
            <a:extLst>
              <a:ext uri="{FF2B5EF4-FFF2-40B4-BE49-F238E27FC236}">
                <a16:creationId xmlns:a16="http://schemas.microsoft.com/office/drawing/2014/main" id="{3E1AB729-CEED-FF4B-AB94-DA2863E62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0431" y="584777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3" name="Text Box 26">
            <a:extLst>
              <a:ext uri="{FF2B5EF4-FFF2-40B4-BE49-F238E27FC236}">
                <a16:creationId xmlns:a16="http://schemas.microsoft.com/office/drawing/2014/main" id="{B3BC3B01-336B-B648-9417-1795AE45E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43" y="416185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84" name="Text Box 26">
            <a:extLst>
              <a:ext uri="{FF2B5EF4-FFF2-40B4-BE49-F238E27FC236}">
                <a16:creationId xmlns:a16="http://schemas.microsoft.com/office/drawing/2014/main" id="{DC97EC39-5ADE-8D46-9FEE-DBDD51FDB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393" y="581920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85" name="Text Box 26">
            <a:extLst>
              <a:ext uri="{FF2B5EF4-FFF2-40B4-BE49-F238E27FC236}">
                <a16:creationId xmlns:a16="http://schemas.microsoft.com/office/drawing/2014/main" id="{8C832346-4F39-4844-8091-F736554D8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443" y="553345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86" name="Text Box 26">
            <a:extLst>
              <a:ext uri="{FF2B5EF4-FFF2-40B4-BE49-F238E27FC236}">
                <a16:creationId xmlns:a16="http://schemas.microsoft.com/office/drawing/2014/main" id="{68FADC82-2C08-DB43-951D-4FB06FD5E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918" y="523817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87" name="Oval 57">
            <a:extLst>
              <a:ext uri="{FF2B5EF4-FFF2-40B4-BE49-F238E27FC236}">
                <a16:creationId xmlns:a16="http://schemas.microsoft.com/office/drawing/2014/main" id="{FBC4E611-49B5-5546-8E93-C03CEF4C0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193" y="4436489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grpSp>
        <p:nvGrpSpPr>
          <p:cNvPr id="88" name="Group 58">
            <a:extLst>
              <a:ext uri="{FF2B5EF4-FFF2-40B4-BE49-F238E27FC236}">
                <a16:creationId xmlns:a16="http://schemas.microsoft.com/office/drawing/2014/main" id="{BDB7A80F-EA2D-2740-83B7-DE5AFE13D157}"/>
              </a:ext>
            </a:extLst>
          </p:cNvPr>
          <p:cNvGrpSpPr>
            <a:grpSpLocks/>
          </p:cNvGrpSpPr>
          <p:nvPr/>
        </p:nvGrpSpPr>
        <p:grpSpPr bwMode="auto">
          <a:xfrm>
            <a:off x="3889843" y="4796852"/>
            <a:ext cx="546100" cy="225425"/>
            <a:chOff x="1287" y="2524"/>
            <a:chExt cx="260" cy="100"/>
          </a:xfrm>
        </p:grpSpPr>
        <p:sp>
          <p:nvSpPr>
            <p:cNvPr id="89" name="Rectangle 59">
              <a:extLst>
                <a:ext uri="{FF2B5EF4-FFF2-40B4-BE49-F238E27FC236}">
                  <a16:creationId xmlns:a16="http://schemas.microsoft.com/office/drawing/2014/main" id="{DE66C40C-3B9D-EF46-85B9-52614CA50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60">
              <a:extLst>
                <a:ext uri="{FF2B5EF4-FFF2-40B4-BE49-F238E27FC236}">
                  <a16:creationId xmlns:a16="http://schemas.microsoft.com/office/drawing/2014/main" id="{BB035EC9-3E84-A147-B1F1-334CDBA3D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61">
              <a:extLst>
                <a:ext uri="{FF2B5EF4-FFF2-40B4-BE49-F238E27FC236}">
                  <a16:creationId xmlns:a16="http://schemas.microsoft.com/office/drawing/2014/main" id="{A4F869EE-C3F1-524C-9E52-D9CF58C69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62">
              <a:extLst>
                <a:ext uri="{FF2B5EF4-FFF2-40B4-BE49-F238E27FC236}">
                  <a16:creationId xmlns:a16="http://schemas.microsoft.com/office/drawing/2014/main" id="{58E3BF21-8802-5F4C-9E24-B71F07259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3" name="Rectangle 23">
            <a:extLst>
              <a:ext uri="{FF2B5EF4-FFF2-40B4-BE49-F238E27FC236}">
                <a16:creationId xmlns:a16="http://schemas.microsoft.com/office/drawing/2014/main" id="{EA6D85FB-86B2-B745-ADFD-3765EC14F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718" y="4088827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" name="Rectangle 24">
            <a:extLst>
              <a:ext uri="{FF2B5EF4-FFF2-40B4-BE49-F238E27FC236}">
                <a16:creationId xmlns:a16="http://schemas.microsoft.com/office/drawing/2014/main" id="{A1355835-1546-1740-B9B8-CC9141EB3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618" y="4142802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5" name="Line 25">
            <a:extLst>
              <a:ext uri="{FF2B5EF4-FFF2-40B4-BE49-F238E27FC236}">
                <a16:creationId xmlns:a16="http://schemas.microsoft.com/office/drawing/2014/main" id="{22344C4F-F96A-944B-9A5E-6962A9AC2F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9143" y="490321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6" name="Text Box 26">
            <a:extLst>
              <a:ext uri="{FF2B5EF4-FFF2-40B4-BE49-F238E27FC236}">
                <a16:creationId xmlns:a16="http://schemas.microsoft.com/office/drawing/2014/main" id="{93E8ABA8-42C2-C44C-8972-76E2C7AD8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281" y="488575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97" name="Line 27">
            <a:extLst>
              <a:ext uri="{FF2B5EF4-FFF2-40B4-BE49-F238E27FC236}">
                <a16:creationId xmlns:a16="http://schemas.microsoft.com/office/drawing/2014/main" id="{4C22E15D-78C1-E143-93B3-4A31B8A25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7081" y="522388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8" name="Line 28">
            <a:extLst>
              <a:ext uri="{FF2B5EF4-FFF2-40B4-BE49-F238E27FC236}">
                <a16:creationId xmlns:a16="http://schemas.microsoft.com/office/drawing/2014/main" id="{5648F986-3546-E545-A6F7-3CF9C2DDA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2793" y="553345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9" name="Line 29">
            <a:extLst>
              <a:ext uri="{FF2B5EF4-FFF2-40B4-BE49-F238E27FC236}">
                <a16:creationId xmlns:a16="http://schemas.microsoft.com/office/drawing/2014/main" id="{55B6D46E-D326-D64F-A181-AB7274FEB6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2793" y="581920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0" name="Text Box 26">
            <a:extLst>
              <a:ext uri="{FF2B5EF4-FFF2-40B4-BE49-F238E27FC236}">
                <a16:creationId xmlns:a16="http://schemas.microsoft.com/office/drawing/2014/main" id="{704444CB-075A-0948-9F82-6F49A25E3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1206" y="413327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01" name="Text Box 26">
            <a:extLst>
              <a:ext uri="{FF2B5EF4-FFF2-40B4-BE49-F238E27FC236}">
                <a16:creationId xmlns:a16="http://schemas.microsoft.com/office/drawing/2014/main" id="{40B8469F-1FF4-FE40-9A71-D5EC33D37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6756" y="579062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02" name="Text Box 26">
            <a:extLst>
              <a:ext uri="{FF2B5EF4-FFF2-40B4-BE49-F238E27FC236}">
                <a16:creationId xmlns:a16="http://schemas.microsoft.com/office/drawing/2014/main" id="{713E03C4-58F2-5D42-92BD-0578A2D33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5806" y="550487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03" name="Text Box 26">
            <a:extLst>
              <a:ext uri="{FF2B5EF4-FFF2-40B4-BE49-F238E27FC236}">
                <a16:creationId xmlns:a16="http://schemas.microsoft.com/office/drawing/2014/main" id="{76001FF3-4EB3-9E44-B006-298749345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281" y="520960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04" name="Oval 78">
            <a:extLst>
              <a:ext uri="{FF2B5EF4-FFF2-40B4-BE49-F238E27FC236}">
                <a16:creationId xmlns:a16="http://schemas.microsoft.com/office/drawing/2014/main" id="{8A13F36B-8768-0745-9E90-83E8FC5EE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556" y="4407914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grpSp>
        <p:nvGrpSpPr>
          <p:cNvPr id="105" name="Group 79">
            <a:extLst>
              <a:ext uri="{FF2B5EF4-FFF2-40B4-BE49-F238E27FC236}">
                <a16:creationId xmlns:a16="http://schemas.microsoft.com/office/drawing/2014/main" id="{535443B2-390F-4D43-AFF5-FF5F8E34F3A9}"/>
              </a:ext>
            </a:extLst>
          </p:cNvPr>
          <p:cNvGrpSpPr>
            <a:grpSpLocks/>
          </p:cNvGrpSpPr>
          <p:nvPr/>
        </p:nvGrpSpPr>
        <p:grpSpPr bwMode="auto">
          <a:xfrm>
            <a:off x="7552206" y="4768277"/>
            <a:ext cx="546100" cy="225425"/>
            <a:chOff x="1287" y="2524"/>
            <a:chExt cx="260" cy="100"/>
          </a:xfrm>
        </p:grpSpPr>
        <p:sp>
          <p:nvSpPr>
            <p:cNvPr id="106" name="Rectangle 80">
              <a:extLst>
                <a:ext uri="{FF2B5EF4-FFF2-40B4-BE49-F238E27FC236}">
                  <a16:creationId xmlns:a16="http://schemas.microsoft.com/office/drawing/2014/main" id="{160B4F41-7E38-6E47-B7F6-C6AA76DC2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Rectangle 81">
              <a:extLst>
                <a:ext uri="{FF2B5EF4-FFF2-40B4-BE49-F238E27FC236}">
                  <a16:creationId xmlns:a16="http://schemas.microsoft.com/office/drawing/2014/main" id="{28B3876F-4677-0D4D-AF89-6E06B2B3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" name="Rectangle 82">
              <a:extLst>
                <a:ext uri="{FF2B5EF4-FFF2-40B4-BE49-F238E27FC236}">
                  <a16:creationId xmlns:a16="http://schemas.microsoft.com/office/drawing/2014/main" id="{51611D2E-921B-804E-9775-6922F75F4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" name="Rectangle 83">
              <a:extLst>
                <a:ext uri="{FF2B5EF4-FFF2-40B4-BE49-F238E27FC236}">
                  <a16:creationId xmlns:a16="http://schemas.microsoft.com/office/drawing/2014/main" id="{CBFB6CF2-1A50-F741-BAE7-97F8AF134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10" name="Line 88">
            <a:extLst>
              <a:ext uri="{FF2B5EF4-FFF2-40B4-BE49-F238E27FC236}">
                <a16:creationId xmlns:a16="http://schemas.microsoft.com/office/drawing/2014/main" id="{EAAA0F7C-765D-CD49-B290-164DB9D3A1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61831" y="4539677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1" name="Line 89">
            <a:extLst>
              <a:ext uri="{FF2B5EF4-FFF2-40B4-BE49-F238E27FC236}">
                <a16:creationId xmlns:a16="http://schemas.microsoft.com/office/drawing/2014/main" id="{D2CD81D4-6282-5749-AF3E-B0E55816C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7256" y="4965127"/>
            <a:ext cx="0" cy="10223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2" name="Line 90">
            <a:extLst>
              <a:ext uri="{FF2B5EF4-FFF2-40B4-BE49-F238E27FC236}">
                <a16:creationId xmlns:a16="http://schemas.microsoft.com/office/drawing/2014/main" id="{86899CB5-FD7D-A644-9755-2DA9E5F4AA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11068" y="5465189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3" name="Text Box 56">
            <a:extLst>
              <a:ext uri="{FF2B5EF4-FFF2-40B4-BE49-F238E27FC236}">
                <a16:creationId xmlns:a16="http://schemas.microsoft.com/office/drawing/2014/main" id="{2CFC877C-1B09-8849-95D0-2EBA259C9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968" y="4220589"/>
            <a:ext cx="917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socket</a:t>
            </a:r>
          </a:p>
        </p:txBody>
      </p:sp>
      <p:sp>
        <p:nvSpPr>
          <p:cNvPr id="114" name="Line 92">
            <a:extLst>
              <a:ext uri="{FF2B5EF4-FFF2-40B4-BE49-F238E27FC236}">
                <a16:creationId xmlns:a16="http://schemas.microsoft.com/office/drawing/2014/main" id="{F5883250-9436-014C-B8FA-7F184F4516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28018" y="4420614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5" name="Line 93">
            <a:extLst>
              <a:ext uri="{FF2B5EF4-FFF2-40B4-BE49-F238E27FC236}">
                <a16:creationId xmlns:a16="http://schemas.microsoft.com/office/drawing/2014/main" id="{F83582A8-D082-E24D-9637-B677A079F0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63181" y="4409502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6" name="Group 96">
            <a:extLst>
              <a:ext uri="{FF2B5EF4-FFF2-40B4-BE49-F238E27FC236}">
                <a16:creationId xmlns:a16="http://schemas.microsoft.com/office/drawing/2014/main" id="{A4EC689D-3AE5-AC42-8E9A-D41B31DF26A0}"/>
              </a:ext>
            </a:extLst>
          </p:cNvPr>
          <p:cNvGrpSpPr>
            <a:grpSpLocks/>
          </p:cNvGrpSpPr>
          <p:nvPr/>
        </p:nvGrpSpPr>
        <p:grpSpPr bwMode="auto">
          <a:xfrm>
            <a:off x="2318218" y="5474714"/>
            <a:ext cx="719138" cy="773113"/>
            <a:chOff x="-44" y="1473"/>
            <a:chExt cx="981" cy="1105"/>
          </a:xfrm>
        </p:grpSpPr>
        <p:pic>
          <p:nvPicPr>
            <p:cNvPr id="117" name="Picture 97" descr="desktop_computer_stylized_medium">
              <a:extLst>
                <a:ext uri="{FF2B5EF4-FFF2-40B4-BE49-F238E27FC236}">
                  <a16:creationId xmlns:a16="http://schemas.microsoft.com/office/drawing/2014/main" id="{4EAFAA9B-1FE4-8048-AEF5-4600C1CB33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8" name="Freeform 98">
              <a:extLst>
                <a:ext uri="{FF2B5EF4-FFF2-40B4-BE49-F238E27FC236}">
                  <a16:creationId xmlns:a16="http://schemas.microsoft.com/office/drawing/2014/main" id="{88B1BD01-DE89-6A4D-A050-0D8D405A8F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9" name="Group 99">
            <a:extLst>
              <a:ext uri="{FF2B5EF4-FFF2-40B4-BE49-F238E27FC236}">
                <a16:creationId xmlns:a16="http://schemas.microsoft.com/office/drawing/2014/main" id="{13D0F484-888E-5342-9E3B-6B702B522B8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014293" y="5669977"/>
            <a:ext cx="719138" cy="773112"/>
            <a:chOff x="-44" y="1473"/>
            <a:chExt cx="981" cy="1105"/>
          </a:xfrm>
        </p:grpSpPr>
        <p:pic>
          <p:nvPicPr>
            <p:cNvPr id="120" name="Picture 100" descr="desktop_computer_stylized_medium">
              <a:extLst>
                <a:ext uri="{FF2B5EF4-FFF2-40B4-BE49-F238E27FC236}">
                  <a16:creationId xmlns:a16="http://schemas.microsoft.com/office/drawing/2014/main" id="{A3C739BC-E497-6E4F-8AF0-1E359C6228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1" name="Freeform 101">
              <a:extLst>
                <a:ext uri="{FF2B5EF4-FFF2-40B4-BE49-F238E27FC236}">
                  <a16:creationId xmlns:a16="http://schemas.microsoft.com/office/drawing/2014/main" id="{34D4BA65-175D-534B-96CE-35055DA62B6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7" name="Slide Number Placeholder 2">
            <a:extLst>
              <a:ext uri="{FF2B5EF4-FFF2-40B4-BE49-F238E27FC236}">
                <a16:creationId xmlns:a16="http://schemas.microsoft.com/office/drawing/2014/main" id="{4F8ECF08-A4D3-AC44-87C7-BD50757B3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50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Addressing processes</a:t>
            </a:r>
            <a:endParaRPr lang="en-US" sz="4400" dirty="0"/>
          </a:p>
        </p:txBody>
      </p:sp>
      <p:sp>
        <p:nvSpPr>
          <p:cNvPr id="61" name="Rectangle 3">
            <a:extLst>
              <a:ext uri="{FF2B5EF4-FFF2-40B4-BE49-F238E27FC236}">
                <a16:creationId xmlns:a16="http://schemas.microsoft.com/office/drawing/2014/main" id="{4B0603A7-FD76-E142-950F-40A4CCA78957}"/>
              </a:ext>
            </a:extLst>
          </p:cNvPr>
          <p:cNvSpPr txBox="1">
            <a:spLocks noChangeArrowheads="1"/>
          </p:cNvSpPr>
          <p:nvPr/>
        </p:nvSpPr>
        <p:spPr>
          <a:xfrm>
            <a:off x="695101" y="1464896"/>
            <a:ext cx="4964479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receive messages, process  must have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identifier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device has unique 32-bit IP address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does  IP address of host on which process runs suffice for identifying the process?</a:t>
            </a:r>
          </a:p>
        </p:txBody>
      </p:sp>
      <p:sp>
        <p:nvSpPr>
          <p:cNvPr id="62" name="Rectangle 4">
            <a:extLst>
              <a:ext uri="{FF2B5EF4-FFF2-40B4-BE49-F238E27FC236}">
                <a16:creationId xmlns:a16="http://schemas.microsoft.com/office/drawing/2014/main" id="{3FB47D89-608E-6B48-B260-00596EFC3969}"/>
              </a:ext>
            </a:extLst>
          </p:cNvPr>
          <p:cNvSpPr txBox="1">
            <a:spLocks noChangeArrowheads="1"/>
          </p:cNvSpPr>
          <p:nvPr/>
        </p:nvSpPr>
        <p:spPr>
          <a:xfrm>
            <a:off x="6056491" y="1464896"/>
            <a:ext cx="5573224" cy="5218112"/>
          </a:xfrm>
          <a:prstGeom prst="rect">
            <a:avLst/>
          </a:prstGeom>
          <a:noFill/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identifier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includes both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and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port numbers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associated with process on host.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 port numbers: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 server: 80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server: 25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send HTTP message to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gaia.cs.umass.edu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web server: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128.119.245.12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port number: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80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more shortly…</a:t>
            </a: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E09403B9-43A8-5149-B58E-34440F6AB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85" y="4507034"/>
            <a:ext cx="431451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742950" marR="0" lvl="1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no,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processes can be running on same host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1946457-0440-7A46-8315-47A8A412F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47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An application-layer </a:t>
            </a:r>
            <a:r>
              <a:rPr lang="en-US" altLang="en-US" dirty="0">
                <a:ea typeface="ＭＳ Ｐゴシック" panose="020B0600070205080204" pitchFamily="34" charset="-128"/>
              </a:rPr>
              <a:t>p</a:t>
            </a:r>
            <a:r>
              <a:rPr lang="en-US" altLang="en-US" sz="4400" dirty="0">
                <a:ea typeface="ＭＳ Ｐゴシック" panose="020B0600070205080204" pitchFamily="34" charset="-128"/>
              </a:rPr>
              <a:t>rotocol </a:t>
            </a:r>
            <a:r>
              <a:rPr lang="en-US" altLang="en-US" dirty="0">
                <a:ea typeface="ＭＳ Ｐゴシック" panose="020B0600070205080204" pitchFamily="34" charset="-128"/>
              </a:rPr>
              <a:t>d</a:t>
            </a:r>
            <a:r>
              <a:rPr lang="en-US" altLang="en-US" sz="4400" dirty="0">
                <a:ea typeface="ＭＳ Ｐゴシック" panose="020B0600070205080204" pitchFamily="34" charset="-128"/>
              </a:rPr>
              <a:t>efines:</a:t>
            </a:r>
            <a:endParaRPr lang="en-US" sz="44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251B37A-10ED-6C4A-A5F1-4B1BE824E86A}"/>
              </a:ext>
            </a:extLst>
          </p:cNvPr>
          <p:cNvSpPr txBox="1">
            <a:spLocks noChangeArrowheads="1"/>
          </p:cNvSpPr>
          <p:nvPr/>
        </p:nvSpPr>
        <p:spPr>
          <a:xfrm>
            <a:off x="759182" y="1464838"/>
            <a:ext cx="5297309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types of messages exchanged,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request, response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 syntax: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what fields in messages &amp; how fields are delineated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 semantics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meaning of information in fields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rules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for when and how processes send &amp; respond to messages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3FA004C-2235-334F-8814-1F36401D2A86}"/>
              </a:ext>
            </a:extLst>
          </p:cNvPr>
          <p:cNvSpPr txBox="1">
            <a:spLocks noChangeArrowheads="1"/>
          </p:cNvSpPr>
          <p:nvPr/>
        </p:nvSpPr>
        <p:spPr>
          <a:xfrm>
            <a:off x="6555631" y="1474670"/>
            <a:ext cx="4758660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open protocols: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defined in RFCs, everyone has access to protocol definition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allows for interoperability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HTTP, SMTP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proprietary protocols: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Skype, Zoom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BFE3DF4-2D02-7D4F-B76E-99CD4324F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33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What </a:t>
            </a:r>
            <a:r>
              <a:rPr lang="en-US" altLang="en-US" dirty="0">
                <a:ea typeface="ＭＳ Ｐゴシック" panose="020B0600070205080204" pitchFamily="34" charset="-128"/>
              </a:rPr>
              <a:t>t</a:t>
            </a:r>
            <a:r>
              <a:rPr lang="en-US" altLang="en-US" sz="4400" dirty="0">
                <a:ea typeface="ＭＳ Ｐゴシック" panose="020B0600070205080204" pitchFamily="34" charset="-128"/>
              </a:rPr>
              <a:t>ransport </a:t>
            </a:r>
            <a:r>
              <a:rPr lang="en-US" altLang="en-US" dirty="0">
                <a:ea typeface="ＭＳ Ｐゴシック" panose="020B0600070205080204" pitchFamily="34" charset="-128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</a:rPr>
              <a:t>ervice does an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pp need?</a:t>
            </a:r>
            <a:endParaRPr lang="en-US" sz="44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A2F19F9-C8D7-114F-8257-FB4D95438E3B}"/>
              </a:ext>
            </a:extLst>
          </p:cNvPr>
          <p:cNvSpPr txBox="1">
            <a:spLocks noChangeArrowheads="1"/>
          </p:cNvSpPr>
          <p:nvPr/>
        </p:nvSpPr>
        <p:spPr>
          <a:xfrm>
            <a:off x="676025" y="1406872"/>
            <a:ext cx="4972505" cy="27971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190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integrity</a:t>
            </a:r>
          </a:p>
          <a:p>
            <a:pPr marL="233363" marR="0" lvl="0" indent="-2190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apps (e.g., file transfer, web transactions) require 100% reliable data transfer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 apps (e.g., audio) can tolerate some loss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A728678F-8DEF-4046-89DA-20D9B309E935}"/>
              </a:ext>
            </a:extLst>
          </p:cNvPr>
          <p:cNvSpPr txBox="1">
            <a:spLocks noChangeArrowheads="1"/>
          </p:cNvSpPr>
          <p:nvPr/>
        </p:nvSpPr>
        <p:spPr>
          <a:xfrm>
            <a:off x="544999" y="4365808"/>
            <a:ext cx="5572612" cy="2443163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timing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some apps (e.g., Internet telephony, interactive games) require low delay to be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effective”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9205150-A642-0847-95C4-8C48A24DA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691" y="1377376"/>
            <a:ext cx="4972505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throughput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some apps (e.g., multimedia) require minimum amount of throughput to be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effective”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other apps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 apps”) make use of whatever throughput they get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5EA7119B-8447-E949-AF1B-51F99BABC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0666" y="4830189"/>
            <a:ext cx="4533593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security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encryption, data integrity, …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54A58A9F-013E-E14B-A97A-3F5139157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21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Transport </a:t>
            </a:r>
            <a:r>
              <a:rPr lang="en-US" altLang="en-US" dirty="0">
                <a:ea typeface="ＭＳ Ｐゴシック" panose="020B0600070205080204" pitchFamily="34" charset="-128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</a:rPr>
              <a:t>ervice </a:t>
            </a:r>
            <a:r>
              <a:rPr lang="en-US" altLang="en-US" dirty="0">
                <a:ea typeface="ＭＳ Ｐゴシック" panose="020B0600070205080204" pitchFamily="34" charset="-128"/>
              </a:rPr>
              <a:t>r</a:t>
            </a:r>
            <a:r>
              <a:rPr lang="en-US" altLang="en-US" sz="4400" dirty="0">
                <a:ea typeface="ＭＳ Ｐゴシック" panose="020B0600070205080204" pitchFamily="34" charset="-128"/>
              </a:rPr>
              <a:t>equirements: common apps</a:t>
            </a:r>
            <a:endParaRPr lang="en-US" sz="4400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74FB7B-D397-7246-99E8-CE483DFAC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30" y="1536174"/>
            <a:ext cx="3479735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file transfer/download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e-mail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Web documents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real-time audio/video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streaming audio/video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interactive games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text messaging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AFA70EB7-D6E6-AF43-A3B7-A90356706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7968" y="1539349"/>
            <a:ext cx="2009076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 loss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loss-tolerant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loss-tolerant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loss-tolerant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2B53E900-CFB4-8641-AD80-727AE9380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692" y="1537762"/>
            <a:ext cx="3025344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throughput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audio: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5Kbps-1Mbps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video: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10Kbps-5Mbps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same as above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Kbps+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7DDCF5FE-9982-C44D-9FFC-E56BA98BF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9064" y="1585760"/>
            <a:ext cx="2936433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time sensitive?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yes, 10’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</a:t>
            </a:r>
            <a:r>
              <a:rPr kumimoji="0" lang="en-US" altLang="ja-JP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msec</a:t>
            </a:r>
            <a:endParaRPr kumimoji="0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yes, few secs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yes, 10’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</a:t>
            </a:r>
            <a:r>
              <a:rPr kumimoji="0" lang="en-US" altLang="ja-JP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msec</a:t>
            </a:r>
            <a:endParaRPr kumimoji="0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 and no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2228CC-A1AA-2642-A56E-E4F7B0293C25}"/>
              </a:ext>
            </a:extLst>
          </p:cNvPr>
          <p:cNvCxnSpPr/>
          <p:nvPr/>
        </p:nvCxnSpPr>
        <p:spPr>
          <a:xfrm>
            <a:off x="1931843" y="2115070"/>
            <a:ext cx="9382448" cy="0"/>
          </a:xfrm>
          <a:prstGeom prst="line">
            <a:avLst/>
          </a:prstGeom>
          <a:ln w="317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9224A1-0105-BB4F-B94B-90B305877290}"/>
              </a:ext>
            </a:extLst>
          </p:cNvPr>
          <p:cNvCxnSpPr/>
          <p:nvPr/>
        </p:nvCxnSpPr>
        <p:spPr>
          <a:xfrm>
            <a:off x="1939865" y="2900516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4A7C77C-B9C9-EE46-B426-55950F26169C}"/>
              </a:ext>
            </a:extLst>
          </p:cNvPr>
          <p:cNvCxnSpPr/>
          <p:nvPr/>
        </p:nvCxnSpPr>
        <p:spPr>
          <a:xfrm>
            <a:off x="1939865" y="3426882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5440764-46DB-324A-BB6F-3C97D7643878}"/>
              </a:ext>
            </a:extLst>
          </p:cNvPr>
          <p:cNvCxnSpPr/>
          <p:nvPr/>
        </p:nvCxnSpPr>
        <p:spPr>
          <a:xfrm>
            <a:off x="1939865" y="387196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0DC4FF-F8E4-5448-B459-EE842599FEE7}"/>
              </a:ext>
            </a:extLst>
          </p:cNvPr>
          <p:cNvCxnSpPr/>
          <p:nvPr/>
        </p:nvCxnSpPr>
        <p:spPr>
          <a:xfrm>
            <a:off x="1943100" y="481061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59182A-878C-AA49-B17B-09494DE9E7C7}"/>
              </a:ext>
            </a:extLst>
          </p:cNvPr>
          <p:cNvCxnSpPr/>
          <p:nvPr/>
        </p:nvCxnSpPr>
        <p:spPr>
          <a:xfrm>
            <a:off x="1943876" y="526399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FF0474-E5A5-BA49-A926-1DB9D2E63B31}"/>
              </a:ext>
            </a:extLst>
          </p:cNvPr>
          <p:cNvCxnSpPr/>
          <p:nvPr/>
        </p:nvCxnSpPr>
        <p:spPr>
          <a:xfrm>
            <a:off x="1943876" y="574552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DCA62624-6B99-2E4F-9C54-E08632D8D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702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Internet </a:t>
            </a:r>
            <a:r>
              <a:rPr lang="en-US" altLang="en-US" dirty="0">
                <a:ea typeface="ＭＳ Ｐゴシック" panose="020B0600070205080204" pitchFamily="34" charset="-128"/>
              </a:rPr>
              <a:t>t</a:t>
            </a:r>
            <a:r>
              <a:rPr lang="en-US" altLang="en-US" sz="4400" dirty="0">
                <a:ea typeface="ＭＳ Ｐゴシック" panose="020B0600070205080204" pitchFamily="34" charset="-128"/>
              </a:rPr>
              <a:t>ransport protocols services</a:t>
            </a:r>
            <a:endParaRPr lang="en-US" sz="4400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DE501EC-BB63-AE43-9802-69590E95725F}"/>
              </a:ext>
            </a:extLst>
          </p:cNvPr>
          <p:cNvSpPr txBox="1">
            <a:spLocks noChangeArrowheads="1"/>
          </p:cNvSpPr>
          <p:nvPr/>
        </p:nvSpPr>
        <p:spPr>
          <a:xfrm>
            <a:off x="753320" y="1383910"/>
            <a:ext cx="6016137" cy="4953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service: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reliable transport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between sending and receiving process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flow control: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won’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 overwhelm receiver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congestion control: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throttle sender when network overloaded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connection-oriented: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setup required between client and server processes</a:t>
            </a:r>
          </a:p>
          <a:p>
            <a:r>
              <a:rPr lang="en-US" altLang="en-US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does not provide: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prstClr val="black"/>
                </a:solidFill>
                <a:ea typeface="ＭＳ Ｐゴシック" panose="020B0600070205080204" pitchFamily="34" charset="-128"/>
              </a:rPr>
              <a:t>timing, minimum throughput guarantee, security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85CB224-459F-9A46-AAC8-FC8111271826}"/>
              </a:ext>
            </a:extLst>
          </p:cNvPr>
          <p:cNvSpPr txBox="1">
            <a:spLocks noChangeArrowheads="1"/>
          </p:cNvSpPr>
          <p:nvPr/>
        </p:nvSpPr>
        <p:spPr>
          <a:xfrm>
            <a:off x="6924091" y="1395634"/>
            <a:ext cx="5038725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-3381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UDP service: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unreliable data transfer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between sending and receiving process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not provide: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reliability, flow control, congestion control, timing, throughput guarantee, security, or connection setup.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A063EBCE-3A03-8F4C-B279-46497740F45C}"/>
              </a:ext>
            </a:extLst>
          </p:cNvPr>
          <p:cNvSpPr txBox="1">
            <a:spLocks noChangeArrowheads="1"/>
          </p:cNvSpPr>
          <p:nvPr/>
        </p:nvSpPr>
        <p:spPr>
          <a:xfrm>
            <a:off x="7316721" y="5388865"/>
            <a:ext cx="3651156" cy="125964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bother? 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there a UDP?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F16E5A18-9D2E-8A4C-A214-8B012F330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88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  <p:bldP spid="18" grpId="0" uiExpand="1" build="p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Internet applications, and transport protocols</a:t>
            </a:r>
            <a:endParaRPr lang="en-US" sz="4400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74FB7B-D397-7246-99E8-CE483DFAC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30" y="1536174"/>
            <a:ext cx="3479735" cy="424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file transfer/download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e-mail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Web documents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telephony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streaming audio/video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interactive games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2228CC-A1AA-2642-A56E-E4F7B0293C25}"/>
              </a:ext>
            </a:extLst>
          </p:cNvPr>
          <p:cNvCxnSpPr/>
          <p:nvPr/>
        </p:nvCxnSpPr>
        <p:spPr>
          <a:xfrm>
            <a:off x="1931843" y="2115070"/>
            <a:ext cx="9382448" cy="0"/>
          </a:xfrm>
          <a:prstGeom prst="line">
            <a:avLst/>
          </a:prstGeom>
          <a:ln w="317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9224A1-0105-BB4F-B94B-90B305877290}"/>
              </a:ext>
            </a:extLst>
          </p:cNvPr>
          <p:cNvCxnSpPr/>
          <p:nvPr/>
        </p:nvCxnSpPr>
        <p:spPr>
          <a:xfrm>
            <a:off x="1939865" y="2900516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4A7C77C-B9C9-EE46-B426-55950F26169C}"/>
              </a:ext>
            </a:extLst>
          </p:cNvPr>
          <p:cNvCxnSpPr/>
          <p:nvPr/>
        </p:nvCxnSpPr>
        <p:spPr>
          <a:xfrm>
            <a:off x="1939865" y="3426882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5440764-46DB-324A-BB6F-3C97D7643878}"/>
              </a:ext>
            </a:extLst>
          </p:cNvPr>
          <p:cNvCxnSpPr/>
          <p:nvPr/>
        </p:nvCxnSpPr>
        <p:spPr>
          <a:xfrm>
            <a:off x="1939865" y="387196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0DC4FF-F8E4-5448-B459-EE842599FEE7}"/>
              </a:ext>
            </a:extLst>
          </p:cNvPr>
          <p:cNvCxnSpPr/>
          <p:nvPr/>
        </p:nvCxnSpPr>
        <p:spPr>
          <a:xfrm>
            <a:off x="1943100" y="481061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59182A-878C-AA49-B17B-09494DE9E7C7}"/>
              </a:ext>
            </a:extLst>
          </p:cNvPr>
          <p:cNvCxnSpPr/>
          <p:nvPr/>
        </p:nvCxnSpPr>
        <p:spPr>
          <a:xfrm>
            <a:off x="1943876" y="526399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FF0474-E5A5-BA49-A926-1DB9D2E63B31}"/>
              </a:ext>
            </a:extLst>
          </p:cNvPr>
          <p:cNvCxnSpPr/>
          <p:nvPr/>
        </p:nvCxnSpPr>
        <p:spPr>
          <a:xfrm>
            <a:off x="1943876" y="574552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4">
            <a:extLst>
              <a:ext uri="{FF2B5EF4-FFF2-40B4-BE49-F238E27FC236}">
                <a16:creationId xmlns:a16="http://schemas.microsoft.com/office/drawing/2014/main" id="{5B1BE3BE-D970-9F49-A4D6-24B7C05F2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021" y="1113609"/>
            <a:ext cx="4019427" cy="5153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layer protocol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FTP [RFC 959]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[RFC 5321]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 1.1 [RFC 7320]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SIP [RFC 3261], RTP [RFC 3550], or proprietary HTTP [RFC 7320], DASH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WOW, FPS (proprietary) 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</a:b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EC200A6A-DCEC-4843-B6A0-ED8F92661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7541" y="1566040"/>
            <a:ext cx="2914772" cy="424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transport protocol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or UDP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 or TCP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93C3B59E-F3F5-494A-B878-7AC0C33A9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292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00A8"/>
                </a:solidFill>
                <a:ea typeface="ＭＳ Ｐゴシック" panose="020B0600070205080204" pitchFamily="34" charset="-128"/>
              </a:rPr>
              <a:t>Securing TCP</a:t>
            </a:r>
            <a:endParaRPr lang="en-US" sz="4400" dirty="0">
              <a:solidFill>
                <a:srgbClr val="0000A8"/>
              </a:solidFill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DE501EC-BB63-AE43-9802-69590E95725F}"/>
              </a:ext>
            </a:extLst>
          </p:cNvPr>
          <p:cNvSpPr txBox="1">
            <a:spLocks noChangeArrowheads="1"/>
          </p:cNvSpPr>
          <p:nvPr/>
        </p:nvSpPr>
        <p:spPr>
          <a:xfrm>
            <a:off x="753320" y="1383910"/>
            <a:ext cx="5957195" cy="4953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Vanilla TCP &amp; UDP sockets:</a:t>
            </a:r>
          </a:p>
          <a:p>
            <a:pPr marL="349250" marR="0" lvl="0" indent="-2190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encryption</a:t>
            </a:r>
          </a:p>
          <a:p>
            <a:pPr marL="349250" marR="0" lvl="0" indent="-2190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cleartext passwords sent into socket traverse Internet  in cleartext (!)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 Layer Security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(TLS) </a:t>
            </a:r>
          </a:p>
          <a:p>
            <a:pPr marL="349250" marR="0" lvl="0" indent="-2190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encrypted TCP connections</a:t>
            </a:r>
          </a:p>
          <a:p>
            <a:pPr marL="349250" marR="0" lvl="0" indent="-2190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integrity</a:t>
            </a:r>
          </a:p>
          <a:p>
            <a:pPr marL="349250" marR="0" lvl="0" indent="-2190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end-point authenticatio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85CB224-459F-9A46-AAC8-FC8111271826}"/>
              </a:ext>
            </a:extLst>
          </p:cNvPr>
          <p:cNvSpPr txBox="1">
            <a:spLocks noChangeArrowheads="1"/>
          </p:cNvSpPr>
          <p:nvPr/>
        </p:nvSpPr>
        <p:spPr>
          <a:xfrm>
            <a:off x="7115815" y="1395634"/>
            <a:ext cx="4514589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22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2228B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TSL implemented in application layer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apps use TSL libraries, that use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in turn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22228B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3336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cleartext sent into “socket”  traverse Internet 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encrypted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23336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more: Chapter 8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4741FF1-2F57-E94D-AE55-790B077EB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37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1" dirty="0"/>
              <a:t>Web and HTTP</a:t>
            </a:r>
          </a:p>
        </p:txBody>
      </p:sp>
    </p:spTree>
    <p:extLst>
      <p:ext uri="{BB962C8B-B14F-4D97-AF65-F5344CB8AC3E}">
        <p14:creationId xmlns:p14="http://schemas.microsoft.com/office/powerpoint/2010/main" val="619844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8" name="Picture 7" descr="Kurose&amp;Ross 8th edition photo">
            <a:extLst>
              <a:ext uri="{FF2B5EF4-FFF2-40B4-BE49-F238E27FC236}">
                <a16:creationId xmlns:a16="http://schemas.microsoft.com/office/drawing/2014/main" id="{95F7992F-0B40-8A40-9C6C-9B0007DB8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837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Web and HTTP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AB7AFB9-05B7-8F45-B2AB-A2B2DBC22CCE}"/>
              </a:ext>
            </a:extLst>
          </p:cNvPr>
          <p:cNvSpPr txBox="1">
            <a:spLocks noChangeArrowheads="1"/>
          </p:cNvSpPr>
          <p:nvPr/>
        </p:nvSpPr>
        <p:spPr>
          <a:xfrm>
            <a:off x="669395" y="1559756"/>
            <a:ext cx="10774192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First, a quick review…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page consists of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objects,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each of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which can be stored on different Web servers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can be HTML file, JPEG image, Java applet, audio file,…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page consists of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base HTML-file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which includes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several referenced objects, each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addressable by a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URL,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e.g.,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id="{A0C8A734-DC35-F347-AF3E-C7E64B7D785E}"/>
              </a:ext>
            </a:extLst>
          </p:cNvPr>
          <p:cNvGrpSpPr>
            <a:grpSpLocks/>
          </p:cNvGrpSpPr>
          <p:nvPr/>
        </p:nvGrpSpPr>
        <p:grpSpPr bwMode="auto">
          <a:xfrm>
            <a:off x="2463366" y="4853073"/>
            <a:ext cx="6835775" cy="1144588"/>
            <a:chOff x="788" y="2955"/>
            <a:chExt cx="4306" cy="721"/>
          </a:xfrm>
        </p:grpSpPr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07B49400-3628-264C-8D3A-69378F85C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" y="2955"/>
              <a:ext cx="41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www.someschool.edu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/</a:t>
              </a: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someDept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/</a:t>
              </a: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pic.gif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5B0BF68B-EFB6-904F-A81E-8D4DB716D3BA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821" y="2281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AutoShape 7">
              <a:extLst>
                <a:ext uri="{FF2B5EF4-FFF2-40B4-BE49-F238E27FC236}">
                  <a16:creationId xmlns:a16="http://schemas.microsoft.com/office/drawing/2014/main" id="{BF004AC2-43AC-6449-B799-0D73A5E5822D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024" y="2277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4D5B851A-267A-1546-B45E-931C3F7AF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9" y="3388"/>
              <a:ext cx="10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name</a:t>
              </a:r>
            </a:p>
          </p:txBody>
        </p:sp>
        <p:sp>
          <p:nvSpPr>
            <p:cNvPr id="18" name="Text Box 9">
              <a:extLst>
                <a:ext uri="{FF2B5EF4-FFF2-40B4-BE49-F238E27FC236}">
                  <a16:creationId xmlns:a16="http://schemas.microsoft.com/office/drawing/2014/main" id="{4EA9C80E-6BB3-B44E-A522-3C7B027B4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5" y="3338"/>
              <a:ext cx="10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path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name</a:t>
              </a:r>
            </a:p>
          </p:txBody>
        </p:sp>
      </p:grp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31E9D565-6810-E44B-9B1D-6FAB7B7F8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72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overview</a:t>
            </a:r>
            <a:endParaRPr lang="en-US" sz="4400" dirty="0"/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D0A9535F-9718-644A-A429-D02A2397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849" y="1608374"/>
            <a:ext cx="5988172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HTTP: hypertext transfer protocol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Web’</a:t>
            </a:r>
            <a:r>
              <a:rPr kumimoji="0" lang="en-US" altLang="ja-JP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 application-layer protocol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client/server model:</a:t>
            </a:r>
          </a:p>
          <a:p>
            <a:pPr marL="685800" marR="0" lvl="1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</a:t>
            </a: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: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browser that requests, receives, (using HTTP protocol) and </a:t>
            </a:r>
            <a:r>
              <a:rPr kumimoji="0" lang="ja-JP" altLang="en-US" sz="2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“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displays</a:t>
            </a:r>
            <a:r>
              <a:rPr kumimoji="0" lang="ja-JP" altLang="en-US" sz="2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”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objects </a:t>
            </a:r>
          </a:p>
          <a:p>
            <a:pPr marL="685800" marR="0" lvl="1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server: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server sends (using HTTP protocol) objects in response to requests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pSp>
        <p:nvGrpSpPr>
          <p:cNvPr id="75" name="Group 35">
            <a:extLst>
              <a:ext uri="{FF2B5EF4-FFF2-40B4-BE49-F238E27FC236}">
                <a16:creationId xmlns:a16="http://schemas.microsoft.com/office/drawing/2014/main" id="{9F18C3DA-1F75-254F-8252-0752283DD6D8}"/>
              </a:ext>
            </a:extLst>
          </p:cNvPr>
          <p:cNvGrpSpPr>
            <a:grpSpLocks/>
          </p:cNvGrpSpPr>
          <p:nvPr/>
        </p:nvGrpSpPr>
        <p:grpSpPr bwMode="auto">
          <a:xfrm>
            <a:off x="8129954" y="2391117"/>
            <a:ext cx="2101850" cy="946150"/>
            <a:chOff x="3640" y="1346"/>
            <a:chExt cx="1324" cy="596"/>
          </a:xfrm>
        </p:grpSpPr>
        <p:sp>
          <p:nvSpPr>
            <p:cNvPr id="76" name="Line 19">
              <a:extLst>
                <a:ext uri="{FF2B5EF4-FFF2-40B4-BE49-F238E27FC236}">
                  <a16:creationId xmlns:a16="http://schemas.microsoft.com/office/drawing/2014/main" id="{32A5B725-224A-8641-84D7-5E247267A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7" name="Text Box 24">
              <a:extLst>
                <a:ext uri="{FF2B5EF4-FFF2-40B4-BE49-F238E27FC236}">
                  <a16:creationId xmlns:a16="http://schemas.microsoft.com/office/drawing/2014/main" id="{AFF1AA49-1EC5-FD4D-A4C7-4E97FBE86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8" name="Group 36">
            <a:extLst>
              <a:ext uri="{FF2B5EF4-FFF2-40B4-BE49-F238E27FC236}">
                <a16:creationId xmlns:a16="http://schemas.microsoft.com/office/drawing/2014/main" id="{CCF7DC4F-F784-E14E-9279-0C9C13F3B891}"/>
              </a:ext>
            </a:extLst>
          </p:cNvPr>
          <p:cNvGrpSpPr>
            <a:grpSpLocks/>
          </p:cNvGrpSpPr>
          <p:nvPr/>
        </p:nvGrpSpPr>
        <p:grpSpPr bwMode="auto">
          <a:xfrm>
            <a:off x="8241079" y="2599080"/>
            <a:ext cx="1971675" cy="904875"/>
            <a:chOff x="4141" y="394"/>
            <a:chExt cx="1242" cy="570"/>
          </a:xfrm>
        </p:grpSpPr>
        <p:sp>
          <p:nvSpPr>
            <p:cNvPr id="79" name="Line 20">
              <a:extLst>
                <a:ext uri="{FF2B5EF4-FFF2-40B4-BE49-F238E27FC236}">
                  <a16:creationId xmlns:a16="http://schemas.microsoft.com/office/drawing/2014/main" id="{162E51BA-C1E2-004B-832B-C97F73DD43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Text Box 26">
              <a:extLst>
                <a:ext uri="{FF2B5EF4-FFF2-40B4-BE49-F238E27FC236}">
                  <a16:creationId xmlns:a16="http://schemas.microsoft.com/office/drawing/2014/main" id="{8A281BFE-8385-CA42-BA62-2631AB1C4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1" name="Group 37">
            <a:extLst>
              <a:ext uri="{FF2B5EF4-FFF2-40B4-BE49-F238E27FC236}">
                <a16:creationId xmlns:a16="http://schemas.microsoft.com/office/drawing/2014/main" id="{75AC8EC6-FB97-154F-8581-1A51362C9E51}"/>
              </a:ext>
            </a:extLst>
          </p:cNvPr>
          <p:cNvGrpSpPr>
            <a:grpSpLocks/>
          </p:cNvGrpSpPr>
          <p:nvPr/>
        </p:nvGrpSpPr>
        <p:grpSpPr bwMode="auto">
          <a:xfrm rot="-3183056">
            <a:off x="8106142" y="3884955"/>
            <a:ext cx="2101850" cy="946150"/>
            <a:chOff x="3640" y="1346"/>
            <a:chExt cx="1324" cy="596"/>
          </a:xfrm>
        </p:grpSpPr>
        <p:sp>
          <p:nvSpPr>
            <p:cNvPr id="82" name="Line 19">
              <a:extLst>
                <a:ext uri="{FF2B5EF4-FFF2-40B4-BE49-F238E27FC236}">
                  <a16:creationId xmlns:a16="http://schemas.microsoft.com/office/drawing/2014/main" id="{69FABD09-8D01-A244-A69C-7220481CA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3" name="Text Box 24">
              <a:extLst>
                <a:ext uri="{FF2B5EF4-FFF2-40B4-BE49-F238E27FC236}">
                  <a16:creationId xmlns:a16="http://schemas.microsoft.com/office/drawing/2014/main" id="{96F64D17-51D6-0A4A-BDA6-07C403F43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4" name="Group 40">
            <a:extLst>
              <a:ext uri="{FF2B5EF4-FFF2-40B4-BE49-F238E27FC236}">
                <a16:creationId xmlns:a16="http://schemas.microsoft.com/office/drawing/2014/main" id="{B9736B82-D8C5-DA43-B8F2-093DA6AB6E5D}"/>
              </a:ext>
            </a:extLst>
          </p:cNvPr>
          <p:cNvGrpSpPr>
            <a:grpSpLocks/>
          </p:cNvGrpSpPr>
          <p:nvPr/>
        </p:nvGrpSpPr>
        <p:grpSpPr bwMode="auto">
          <a:xfrm rot="-3264937">
            <a:off x="8152179" y="4124667"/>
            <a:ext cx="1971675" cy="904875"/>
            <a:chOff x="4141" y="394"/>
            <a:chExt cx="1242" cy="570"/>
          </a:xfrm>
        </p:grpSpPr>
        <p:sp>
          <p:nvSpPr>
            <p:cNvPr id="85" name="Line 20">
              <a:extLst>
                <a:ext uri="{FF2B5EF4-FFF2-40B4-BE49-F238E27FC236}">
                  <a16:creationId xmlns:a16="http://schemas.microsoft.com/office/drawing/2014/main" id="{1D55C3D5-A428-CC44-8B43-7C6CB47D04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Text Box 26">
              <a:extLst>
                <a:ext uri="{FF2B5EF4-FFF2-40B4-BE49-F238E27FC236}">
                  <a16:creationId xmlns:a16="http://schemas.microsoft.com/office/drawing/2014/main" id="{98847E99-AF68-1F43-AC46-9AD80D645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67724E3-B9EF-784C-81CF-0208D90CEEBE}"/>
              </a:ext>
            </a:extLst>
          </p:cNvPr>
          <p:cNvGrpSpPr/>
          <p:nvPr/>
        </p:nvGrpSpPr>
        <p:grpSpPr>
          <a:xfrm>
            <a:off x="7046475" y="4540592"/>
            <a:ext cx="2210665" cy="1578194"/>
            <a:chOff x="7046475" y="4540592"/>
            <a:chExt cx="2210665" cy="1578194"/>
          </a:xfrm>
        </p:grpSpPr>
        <p:sp>
          <p:nvSpPr>
            <p:cNvPr id="74" name="Text Box 23">
              <a:extLst>
                <a:ext uri="{FF2B5EF4-FFF2-40B4-BE49-F238E27FC236}">
                  <a16:creationId xmlns:a16="http://schemas.microsoft.com/office/drawing/2014/main" id="{61B2A806-9EFC-9449-97BE-336492E83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6475" y="5472455"/>
              <a:ext cx="221066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iPhone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Safari browser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87" name="Picture 43" descr="iphone_stylized_small">
              <a:extLst>
                <a:ext uri="{FF2B5EF4-FFF2-40B4-BE49-F238E27FC236}">
                  <a16:creationId xmlns:a16="http://schemas.microsoft.com/office/drawing/2014/main" id="{D1E934F1-FF6C-B341-A221-38110724AC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4179" y="4540592"/>
              <a:ext cx="382588" cy="91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5E3F8E5-5BB6-9F4D-BD7D-96E3FCFF937E}"/>
              </a:ext>
            </a:extLst>
          </p:cNvPr>
          <p:cNvGrpSpPr/>
          <p:nvPr/>
        </p:nvGrpSpPr>
        <p:grpSpPr>
          <a:xfrm>
            <a:off x="6584832" y="1722780"/>
            <a:ext cx="2270564" cy="1610628"/>
            <a:chOff x="6584832" y="1722780"/>
            <a:chExt cx="2270564" cy="1610628"/>
          </a:xfrm>
        </p:grpSpPr>
        <p:sp>
          <p:nvSpPr>
            <p:cNvPr id="72" name="Text Box 7">
              <a:extLst>
                <a:ext uri="{FF2B5EF4-FFF2-40B4-BE49-F238E27FC236}">
                  <a16:creationId xmlns:a16="http://schemas.microsoft.com/office/drawing/2014/main" id="{EE5DED9F-E1C4-F34D-899C-5E5BAFDAD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4832" y="2687077"/>
              <a:ext cx="227056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PC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Firefox browser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88" name="Group 44">
              <a:extLst>
                <a:ext uri="{FF2B5EF4-FFF2-40B4-BE49-F238E27FC236}">
                  <a16:creationId xmlns:a16="http://schemas.microsoft.com/office/drawing/2014/main" id="{9EAD6FC3-A72E-8241-AA6C-FE53B680C4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9192" y="1722780"/>
              <a:ext cx="1066800" cy="1079500"/>
              <a:chOff x="-44" y="1473"/>
              <a:chExt cx="981" cy="1105"/>
            </a:xfrm>
          </p:grpSpPr>
          <p:pic>
            <p:nvPicPr>
              <p:cNvPr id="89" name="Picture 45" descr="desktop_computer_stylized_medium">
                <a:extLst>
                  <a:ext uri="{FF2B5EF4-FFF2-40B4-BE49-F238E27FC236}">
                    <a16:creationId xmlns:a16="http://schemas.microsoft.com/office/drawing/2014/main" id="{1ADDC1FA-6D07-3F4E-8F74-21843504B2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0" name="Freeform 46">
                <a:extLst>
                  <a:ext uri="{FF2B5EF4-FFF2-40B4-BE49-F238E27FC236}">
                    <a16:creationId xmlns:a16="http://schemas.microsoft.com/office/drawing/2014/main" id="{42A6104A-05E4-B94E-8AC8-1F8524B85F7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46FA54E-9DBE-BF46-9FA4-0BD5D56FE85D}"/>
              </a:ext>
            </a:extLst>
          </p:cNvPr>
          <p:cNvGrpSpPr/>
          <p:nvPr/>
        </p:nvGrpSpPr>
        <p:grpSpPr>
          <a:xfrm>
            <a:off x="9655810" y="2888005"/>
            <a:ext cx="2414547" cy="2197950"/>
            <a:chOff x="9655810" y="2888005"/>
            <a:chExt cx="2414547" cy="2197950"/>
          </a:xfrm>
        </p:grpSpPr>
        <p:sp>
          <p:nvSpPr>
            <p:cNvPr id="73" name="Text Box 9">
              <a:extLst>
                <a:ext uri="{FF2B5EF4-FFF2-40B4-BE49-F238E27FC236}">
                  <a16:creationId xmlns:a16="http://schemas.microsoft.com/office/drawing/2014/main" id="{1DB0406D-8424-A242-88CD-CF99DD0C8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5810" y="4162625"/>
              <a:ext cx="2414547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Apache Web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1" name="Group 47">
              <a:extLst>
                <a:ext uri="{FF2B5EF4-FFF2-40B4-BE49-F238E27FC236}">
                  <a16:creationId xmlns:a16="http://schemas.microsoft.com/office/drawing/2014/main" id="{1578750D-9ADE-FF47-A035-3F58F7F95E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0217" y="2888005"/>
              <a:ext cx="695325" cy="1282700"/>
              <a:chOff x="4140" y="429"/>
              <a:chExt cx="1425" cy="2396"/>
            </a:xfrm>
          </p:grpSpPr>
          <p:sp>
            <p:nvSpPr>
              <p:cNvPr id="92" name="Freeform 48">
                <a:extLst>
                  <a:ext uri="{FF2B5EF4-FFF2-40B4-BE49-F238E27FC236}">
                    <a16:creationId xmlns:a16="http://schemas.microsoft.com/office/drawing/2014/main" id="{30FC1D0E-933E-6B40-9A42-0E9717238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3" name="Rectangle 49">
                <a:extLst>
                  <a:ext uri="{FF2B5EF4-FFF2-40B4-BE49-F238E27FC236}">
                    <a16:creationId xmlns:a16="http://schemas.microsoft.com/office/drawing/2014/main" id="{B5655423-6CF0-CD49-B3A9-063B782C1F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" y="429"/>
                <a:ext cx="1048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Freeform 50">
                <a:extLst>
                  <a:ext uri="{FF2B5EF4-FFF2-40B4-BE49-F238E27FC236}">
                    <a16:creationId xmlns:a16="http://schemas.microsoft.com/office/drawing/2014/main" id="{A0AC0D67-FA58-B147-A1DC-191134726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5" name="Freeform 51">
                <a:extLst>
                  <a:ext uri="{FF2B5EF4-FFF2-40B4-BE49-F238E27FC236}">
                    <a16:creationId xmlns:a16="http://schemas.microsoft.com/office/drawing/2014/main" id="{DE00B670-08D8-5142-A593-67DE6409B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Rectangle 52">
                <a:extLst>
                  <a:ext uri="{FF2B5EF4-FFF2-40B4-BE49-F238E27FC236}">
                    <a16:creationId xmlns:a16="http://schemas.microsoft.com/office/drawing/2014/main" id="{C0F46C25-0562-1D41-A932-B4DCFBC60F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97" name="Group 53">
                <a:extLst>
                  <a:ext uri="{FF2B5EF4-FFF2-40B4-BE49-F238E27FC236}">
                    <a16:creationId xmlns:a16="http://schemas.microsoft.com/office/drawing/2014/main" id="{42D2ADD9-FBDF-B348-8727-B1428057A1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22" name="AutoShape 54">
                  <a:extLst>
                    <a:ext uri="{FF2B5EF4-FFF2-40B4-BE49-F238E27FC236}">
                      <a16:creationId xmlns:a16="http://schemas.microsoft.com/office/drawing/2014/main" id="{B3A024BC-0571-B343-B957-96A9956CB1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9"/>
                  <a:ext cx="727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23" name="AutoShape 55">
                  <a:extLst>
                    <a:ext uri="{FF2B5EF4-FFF2-40B4-BE49-F238E27FC236}">
                      <a16:creationId xmlns:a16="http://schemas.microsoft.com/office/drawing/2014/main" id="{BCE631BE-5109-0446-9778-CCBD1DF0A6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6"/>
                  <a:ext cx="694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98" name="Rectangle 56">
                <a:extLst>
                  <a:ext uri="{FF2B5EF4-FFF2-40B4-BE49-F238E27FC236}">
                    <a16:creationId xmlns:a16="http://schemas.microsoft.com/office/drawing/2014/main" id="{5D3DFADC-1C8D-AF4C-85AA-0F7A2C55C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99" name="Group 57">
                <a:extLst>
                  <a:ext uri="{FF2B5EF4-FFF2-40B4-BE49-F238E27FC236}">
                    <a16:creationId xmlns:a16="http://schemas.microsoft.com/office/drawing/2014/main" id="{C1D33EC1-1E29-8544-B98D-73191F02F7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20" name="AutoShape 58">
                  <a:extLst>
                    <a:ext uri="{FF2B5EF4-FFF2-40B4-BE49-F238E27FC236}">
                      <a16:creationId xmlns:a16="http://schemas.microsoft.com/office/drawing/2014/main" id="{82D153A1-613C-9C4E-A2C0-B1C929BC01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9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21" name="AutoShape 59">
                  <a:extLst>
                    <a:ext uri="{FF2B5EF4-FFF2-40B4-BE49-F238E27FC236}">
                      <a16:creationId xmlns:a16="http://schemas.microsoft.com/office/drawing/2014/main" id="{F147FCC4-6131-8F44-A906-F0D80C4D72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8"/>
                  <a:ext cx="690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0" name="Rectangle 60">
                <a:extLst>
                  <a:ext uri="{FF2B5EF4-FFF2-40B4-BE49-F238E27FC236}">
                    <a16:creationId xmlns:a16="http://schemas.microsoft.com/office/drawing/2014/main" id="{85C735FA-9571-F248-9BA5-6CDBDBE01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57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1" name="Rectangle 61">
                <a:extLst>
                  <a:ext uri="{FF2B5EF4-FFF2-40B4-BE49-F238E27FC236}">
                    <a16:creationId xmlns:a16="http://schemas.microsoft.com/office/drawing/2014/main" id="{5812C6A4-3EC0-A249-9E63-F46527542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02" name="Group 62">
                <a:extLst>
                  <a:ext uri="{FF2B5EF4-FFF2-40B4-BE49-F238E27FC236}">
                    <a16:creationId xmlns:a16="http://schemas.microsoft.com/office/drawing/2014/main" id="{7E620A9B-CBE1-F240-88FD-5855746633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8" name="AutoShape 63">
                  <a:extLst>
                    <a:ext uri="{FF2B5EF4-FFF2-40B4-BE49-F238E27FC236}">
                      <a16:creationId xmlns:a16="http://schemas.microsoft.com/office/drawing/2014/main" id="{042898BA-1F4B-D343-83D2-32F6B871E1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9" name="AutoShape 64">
                  <a:extLst>
                    <a:ext uri="{FF2B5EF4-FFF2-40B4-BE49-F238E27FC236}">
                      <a16:creationId xmlns:a16="http://schemas.microsoft.com/office/drawing/2014/main" id="{43D7819E-9A5B-E741-ACC4-82E6487AE3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4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" name="Freeform 65">
                <a:extLst>
                  <a:ext uri="{FF2B5EF4-FFF2-40B4-BE49-F238E27FC236}">
                    <a16:creationId xmlns:a16="http://schemas.microsoft.com/office/drawing/2014/main" id="{7CC2BA69-A482-5D4B-8CA5-B5AC73726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04" name="Group 66">
                <a:extLst>
                  <a:ext uri="{FF2B5EF4-FFF2-40B4-BE49-F238E27FC236}">
                    <a16:creationId xmlns:a16="http://schemas.microsoft.com/office/drawing/2014/main" id="{F21B3CA3-EDB9-ED4A-9790-00B6351372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6" name="AutoShape 67">
                  <a:extLst>
                    <a:ext uri="{FF2B5EF4-FFF2-40B4-BE49-F238E27FC236}">
                      <a16:creationId xmlns:a16="http://schemas.microsoft.com/office/drawing/2014/main" id="{9EDB1FCF-F653-F642-8D80-BF382D9E0C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7" name="AutoShape 68">
                  <a:extLst>
                    <a:ext uri="{FF2B5EF4-FFF2-40B4-BE49-F238E27FC236}">
                      <a16:creationId xmlns:a16="http://schemas.microsoft.com/office/drawing/2014/main" id="{609BFCAD-4861-EE43-8362-EA6C485563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5" name="Rectangle 69">
                <a:extLst>
                  <a:ext uri="{FF2B5EF4-FFF2-40B4-BE49-F238E27FC236}">
                    <a16:creationId xmlns:a16="http://schemas.microsoft.com/office/drawing/2014/main" id="{5D47278C-43D3-204F-86FD-15B202090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32"/>
                <a:ext cx="68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6" name="Freeform 70">
                <a:extLst>
                  <a:ext uri="{FF2B5EF4-FFF2-40B4-BE49-F238E27FC236}">
                    <a16:creationId xmlns:a16="http://schemas.microsoft.com/office/drawing/2014/main" id="{C4685EB6-AA09-4243-9AED-1759E88D1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Freeform 71">
                <a:extLst>
                  <a:ext uri="{FF2B5EF4-FFF2-40B4-BE49-F238E27FC236}">
                    <a16:creationId xmlns:a16="http://schemas.microsoft.com/office/drawing/2014/main" id="{F8013113-6639-D746-8787-464D70E73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" name="Oval 72">
                <a:extLst>
                  <a:ext uri="{FF2B5EF4-FFF2-40B4-BE49-F238E27FC236}">
                    <a16:creationId xmlns:a16="http://schemas.microsoft.com/office/drawing/2014/main" id="{BAF4B182-B231-9044-AFF9-C80B2E27F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11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" name="Freeform 73">
                <a:extLst>
                  <a:ext uri="{FF2B5EF4-FFF2-40B4-BE49-F238E27FC236}">
                    <a16:creationId xmlns:a16="http://schemas.microsoft.com/office/drawing/2014/main" id="{5BF1720C-9B23-A442-9078-1CB2D3EAD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" name="AutoShape 74">
                <a:extLst>
                  <a:ext uri="{FF2B5EF4-FFF2-40B4-BE49-F238E27FC236}">
                    <a16:creationId xmlns:a16="http://schemas.microsoft.com/office/drawing/2014/main" id="{5C72D219-90B2-E948-8C51-2DF4C76E67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201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1" name="AutoShape 75">
                <a:extLst>
                  <a:ext uri="{FF2B5EF4-FFF2-40B4-BE49-F238E27FC236}">
                    <a16:creationId xmlns:a16="http://schemas.microsoft.com/office/drawing/2014/main" id="{83107432-CCDD-3F4A-A673-5C965AB662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" y="2712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2" name="Oval 76">
                <a:extLst>
                  <a:ext uri="{FF2B5EF4-FFF2-40B4-BE49-F238E27FC236}">
                    <a16:creationId xmlns:a16="http://schemas.microsoft.com/office/drawing/2014/main" id="{93D83AE9-CB35-4043-B0A0-1FFA79087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Oval 77">
                <a:extLst>
                  <a:ext uri="{FF2B5EF4-FFF2-40B4-BE49-F238E27FC236}">
                    <a16:creationId xmlns:a16="http://schemas.microsoft.com/office/drawing/2014/main" id="{C8BA1D5C-380B-5844-9DFE-FB0350399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3"/>
                <a:ext cx="163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14" name="Oval 78">
                <a:extLst>
                  <a:ext uri="{FF2B5EF4-FFF2-40B4-BE49-F238E27FC236}">
                    <a16:creationId xmlns:a16="http://schemas.microsoft.com/office/drawing/2014/main" id="{EF0EACD3-D07B-0F4F-BB94-4F2D63912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0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Rectangle 79">
                <a:extLst>
                  <a:ext uri="{FF2B5EF4-FFF2-40B4-BE49-F238E27FC236}">
                    <a16:creationId xmlns:a16="http://schemas.microsoft.com/office/drawing/2014/main" id="{C545DB8D-EFCD-9A46-858D-A246B93C7B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5"/>
                <a:ext cx="88" cy="76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C473C8CC-FB59-904B-86D0-BFB6A6140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43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overview (continued)</a:t>
            </a:r>
            <a:endParaRPr lang="en-US" sz="4400" dirty="0"/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FA4476ED-595B-8542-B50D-C134553D5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614" y="1548630"/>
            <a:ext cx="5551487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HTTP uses TCP: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client initiates TCP connection (creates socket) to server,  port 80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server accepts TCP connection from client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HTTP messages (application-layer protocol messages) exchanged between browser (HTTP client) and Web server (HTTP server)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TCP connection closed</a:t>
            </a:r>
          </a:p>
        </p:txBody>
      </p:sp>
      <p:sp>
        <p:nvSpPr>
          <p:cNvPr id="65" name="Rectangle 4">
            <a:extLst>
              <a:ext uri="{FF2B5EF4-FFF2-40B4-BE49-F238E27FC236}">
                <a16:creationId xmlns:a16="http://schemas.microsoft.com/office/drawing/2014/main" id="{1CC4B9E5-1262-0749-B776-9A1B21976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9801" y="1582098"/>
            <a:ext cx="5053013" cy="1705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HTTP is </a:t>
            </a:r>
            <a:r>
              <a:rPr kumimoji="0" lang="ja-JP" altLang="en-US" sz="32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“</a:t>
            </a:r>
            <a:r>
              <a:rPr kumimoji="0" lang="en-US" altLang="ja-JP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stateless</a:t>
            </a:r>
            <a:r>
              <a:rPr kumimoji="0" lang="ja-JP" altLang="en-US" sz="32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”</a:t>
            </a:r>
            <a:endParaRPr kumimoji="0" lang="en-US" altLang="ja-JP" sz="3200" b="0" i="1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server maintains</a:t>
            </a: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 no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information about past client requests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94DB0D-84CB-6F41-9F45-5FA35ED2C87F}"/>
              </a:ext>
            </a:extLst>
          </p:cNvPr>
          <p:cNvGrpSpPr/>
          <p:nvPr/>
        </p:nvGrpSpPr>
        <p:grpSpPr>
          <a:xfrm>
            <a:off x="6909802" y="3209500"/>
            <a:ext cx="5282198" cy="3248103"/>
            <a:chOff x="6909802" y="3209500"/>
            <a:chExt cx="5282198" cy="3248103"/>
          </a:xfrm>
        </p:grpSpPr>
        <p:sp>
          <p:nvSpPr>
            <p:cNvPr id="63" name="Rectangle 9">
              <a:extLst>
                <a:ext uri="{FF2B5EF4-FFF2-40B4-BE49-F238E27FC236}">
                  <a16:creationId xmlns:a16="http://schemas.microsoft.com/office/drawing/2014/main" id="{74F3501A-F7F5-FD47-A745-1E00F8869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6403" y="3383184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" name="Rectangle 7">
              <a:extLst>
                <a:ext uri="{FF2B5EF4-FFF2-40B4-BE49-F238E27FC236}">
                  <a16:creationId xmlns:a16="http://schemas.microsoft.com/office/drawing/2014/main" id="{21466037-84B8-2C47-8046-BD516C96C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802" y="3449212"/>
              <a:ext cx="5053013" cy="284797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5" name="Rectangle 9">
              <a:extLst>
                <a:ext uri="{FF2B5EF4-FFF2-40B4-BE49-F238E27FC236}">
                  <a16:creationId xmlns:a16="http://schemas.microsoft.com/office/drawing/2014/main" id="{132EE02F-99A4-C148-8E27-84A38CF87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5878" y="3287287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6" name="Rectangle 6">
              <a:extLst>
                <a:ext uri="{FF2B5EF4-FFF2-40B4-BE49-F238E27FC236}">
                  <a16:creationId xmlns:a16="http://schemas.microsoft.com/office/drawing/2014/main" id="{64A41E8B-84D6-BE48-B3C9-3F388FD9B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8987" y="3609628"/>
              <a:ext cx="5053013" cy="284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protocols that maintain </a:t>
              </a:r>
              <a:r>
                <a:rPr kumimoji="0" lang="ja-JP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“</a:t>
              </a:r>
              <a:r>
                <a:rPr kumimoji="0" lang="en-US" altLang="ja-JP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state</a:t>
              </a:r>
              <a:r>
                <a:rPr kumimoji="0" lang="ja-JP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”</a:t>
              </a:r>
              <a:r>
                <a:rPr kumimoji="0" lang="en-US" altLang="ja-JP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 are complex!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past history (state) must be maintained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if server/client crashes, their views of </a:t>
              </a:r>
              <a:r>
                <a:rPr kumimoji="0" lang="ja-JP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“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state</a:t>
              </a:r>
              <a:r>
                <a:rPr kumimoji="0" lang="ja-JP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”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 may be inconsistent, must be reconciled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Char char="r"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7" name="Text Box 8">
              <a:extLst>
                <a:ext uri="{FF2B5EF4-FFF2-40B4-BE49-F238E27FC236}">
                  <a16:creationId xmlns:a16="http://schemas.microsoft.com/office/drawing/2014/main" id="{ADCE3EE0-3E4E-7741-A055-6E8599605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532" y="3209500"/>
              <a:ext cx="9460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aside</a:t>
              </a:r>
            </a:p>
          </p:txBody>
        </p:sp>
      </p:grp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43C0D7C-054F-1B4F-AC91-25A09EF99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131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two types</a:t>
            </a:r>
            <a:endParaRPr lang="en-US" sz="44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0F92E26-A453-3745-8C0F-BF92C1E3A8B6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543086"/>
            <a:ext cx="5039401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Non-persistent HTTP</a:t>
            </a:r>
          </a:p>
          <a:p>
            <a:pPr marL="644525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opened</a:t>
            </a:r>
          </a:p>
          <a:p>
            <a:pPr marL="644525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at most one object sent over TCP connection</a:t>
            </a:r>
          </a:p>
          <a:p>
            <a:pPr marL="644525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closed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downloading multiple objects required multiple connections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E46F3CB-B7A2-6C4C-B085-55F383976BB8}"/>
              </a:ext>
            </a:extLst>
          </p:cNvPr>
          <p:cNvSpPr txBox="1">
            <a:spLocks noChangeArrowheads="1"/>
          </p:cNvSpPr>
          <p:nvPr/>
        </p:nvSpPr>
        <p:spPr>
          <a:xfrm>
            <a:off x="6781215" y="1543086"/>
            <a:ext cx="5039401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Persistent HTTP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opened to a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multiple objects can be sent over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single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TCP connection between client, and that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closed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55A10CF-7248-164C-A5EF-FC5AA96E9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56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example</a:t>
            </a:r>
            <a:endParaRPr lang="en-US" sz="4400" dirty="0"/>
          </a:p>
        </p:txBody>
      </p:sp>
      <p:sp>
        <p:nvSpPr>
          <p:cNvPr id="6" name="Line 11">
            <a:extLst>
              <a:ext uri="{FF2B5EF4-FFF2-40B4-BE49-F238E27FC236}">
                <a16:creationId xmlns:a16="http://schemas.microsoft.com/office/drawing/2014/main" id="{67AC580C-18A4-D247-92B5-6D862101F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91" y="2868166"/>
            <a:ext cx="10658" cy="3480471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301A620-3B2F-B341-BCAC-A3E4F12C8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58" y="5641558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4008892-5F15-CD46-8B74-F28D8BF76E3B}"/>
              </a:ext>
            </a:extLst>
          </p:cNvPr>
          <p:cNvSpPr txBox="1">
            <a:spLocks noChangeArrowheads="1"/>
          </p:cNvSpPr>
          <p:nvPr/>
        </p:nvSpPr>
        <p:spPr>
          <a:xfrm>
            <a:off x="809349" y="1351435"/>
            <a:ext cx="7942262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enters URL: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E22C996-6035-504C-97CC-082C3EAD4AF4}"/>
              </a:ext>
            </a:extLst>
          </p:cNvPr>
          <p:cNvSpPr txBox="1">
            <a:spLocks noChangeArrowheads="1"/>
          </p:cNvSpPr>
          <p:nvPr/>
        </p:nvSpPr>
        <p:spPr>
          <a:xfrm>
            <a:off x="944384" y="2447251"/>
            <a:ext cx="4850242" cy="1905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client initiates TCP connection to HTTP server (process) at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www.someSchool.edu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 port 80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4518B9B7-A17A-DD48-BBA8-A1AC04589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983" y="4077834"/>
            <a:ext cx="421653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client sends HTTP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message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(containing URL) into TCP connection socket. Message indicates that client wants object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someDepartment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home.index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AC1983CF-C4CB-FF47-A69D-3E65B8C96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7018" y="2733157"/>
            <a:ext cx="5389528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1b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server at host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www.someSchool.edu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waiting for TCP connection at port 80  </a:t>
            </a:r>
            <a:r>
              <a:rPr kumimoji="0" lang="ja-JP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accepts</a:t>
            </a:r>
            <a:r>
              <a:rPr kumimoji="0" lang="ja-JP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”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connection, notifying client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0B2B9504-D191-9144-8C84-929183C16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976" y="4739906"/>
            <a:ext cx="539487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server receives request message, forms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 message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containing requested object, and sends message into its socket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B4DAFA34-3C73-6F47-8061-690804DAF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2530" y="4961816"/>
            <a:ext cx="1800180" cy="60195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0A9DB4DB-78BB-C14F-903C-4C820480B1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89517" y="5671992"/>
            <a:ext cx="1410287" cy="89186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27BF3D34-DFF2-A04F-84F9-CBAE80221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83" y="5563771"/>
            <a:ext cx="673100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19" name="Line 8">
            <a:extLst>
              <a:ext uri="{FF2B5EF4-FFF2-40B4-BE49-F238E27FC236}">
                <a16:creationId xmlns:a16="http://schemas.microsoft.com/office/drawing/2014/main" id="{8D8A0BF5-72E5-9E41-A2AE-DE0F79C9B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6851" y="2779258"/>
            <a:ext cx="155102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Line 14">
            <a:extLst>
              <a:ext uri="{FF2B5EF4-FFF2-40B4-BE49-F238E27FC236}">
                <a16:creationId xmlns:a16="http://schemas.microsoft.com/office/drawing/2014/main" id="{054521BF-054B-B342-A343-164F3CB503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2530" y="3366635"/>
            <a:ext cx="1551026" cy="1006986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B64D7167-BDDE-A148-84EB-4FB5D33E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(containing text, references to 10 jpeg images)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52A420B-2488-A04D-8D7F-CC71C334B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www.someSchool.edu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someDepartment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home.index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3" name="Group 44">
            <a:extLst>
              <a:ext uri="{FF2B5EF4-FFF2-40B4-BE49-F238E27FC236}">
                <a16:creationId xmlns:a16="http://schemas.microsoft.com/office/drawing/2014/main" id="{2394097B-A6BF-8042-8504-A7CA070914D8}"/>
              </a:ext>
            </a:extLst>
          </p:cNvPr>
          <p:cNvGrpSpPr>
            <a:grpSpLocks/>
          </p:cNvGrpSpPr>
          <p:nvPr/>
        </p:nvGrpSpPr>
        <p:grpSpPr bwMode="auto"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id="24" name="Picture 45" descr="desktop_computer_stylized_medium">
              <a:extLst>
                <a:ext uri="{FF2B5EF4-FFF2-40B4-BE49-F238E27FC236}">
                  <a16:creationId xmlns:a16="http://schemas.microsoft.com/office/drawing/2014/main" id="{807C0FED-FCBE-2D4E-A1F2-CBF2C81D3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9119D5B0-5ADB-2048-9F8B-D683AC19EA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" name="Group 47">
            <a:extLst>
              <a:ext uri="{FF2B5EF4-FFF2-40B4-BE49-F238E27FC236}">
                <a16:creationId xmlns:a16="http://schemas.microsoft.com/office/drawing/2014/main" id="{DB78F20D-7762-EC45-A5F7-9DBB8F599433}"/>
              </a:ext>
            </a:extLst>
          </p:cNvPr>
          <p:cNvGrpSpPr>
            <a:grpSpLocks/>
          </p:cNvGrpSpPr>
          <p:nvPr/>
        </p:nvGrpSpPr>
        <p:grpSpPr bwMode="auto"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id="{9F7835DE-1DB5-554B-9435-F2109923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Rectangle 49">
              <a:extLst>
                <a:ext uri="{FF2B5EF4-FFF2-40B4-BE49-F238E27FC236}">
                  <a16:creationId xmlns:a16="http://schemas.microsoft.com/office/drawing/2014/main" id="{D58C67CB-FC2C-6C45-A584-0EE3943CC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id="{2E7357FA-BE14-7B45-B9C8-D3AD131C8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86D743E9-08EF-3443-A09F-9FD39BD6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147C38BE-745B-5043-B214-0B9EA392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" name="Group 53">
              <a:extLst>
                <a:ext uri="{FF2B5EF4-FFF2-40B4-BE49-F238E27FC236}">
                  <a16:creationId xmlns:a16="http://schemas.microsoft.com/office/drawing/2014/main" id="{FBCFE8CA-D754-EF47-A59B-C987FE102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" name="AutoShape 54">
                <a:extLst>
                  <a:ext uri="{FF2B5EF4-FFF2-40B4-BE49-F238E27FC236}">
                    <a16:creationId xmlns:a16="http://schemas.microsoft.com/office/drawing/2014/main" id="{4CB48C03-464D-0344-AF93-DBB0CF13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AutoShape 55">
                <a:extLst>
                  <a:ext uri="{FF2B5EF4-FFF2-40B4-BE49-F238E27FC236}">
                    <a16:creationId xmlns:a16="http://schemas.microsoft.com/office/drawing/2014/main" id="{9545D198-3BD7-694B-B5DC-4ED4C79FC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BB7A1A44-103A-4142-BB05-0C014EC72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" name="Group 57">
              <a:extLst>
                <a:ext uri="{FF2B5EF4-FFF2-40B4-BE49-F238E27FC236}">
                  <a16:creationId xmlns:a16="http://schemas.microsoft.com/office/drawing/2014/main" id="{A7308D7F-AFED-CA43-852A-E750251C6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" name="AutoShape 58">
                <a:extLst>
                  <a:ext uri="{FF2B5EF4-FFF2-40B4-BE49-F238E27FC236}">
                    <a16:creationId xmlns:a16="http://schemas.microsoft.com/office/drawing/2014/main" id="{72E4409D-5ADE-A147-AA65-DA4499631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AutoShape 59">
                <a:extLst>
                  <a:ext uri="{FF2B5EF4-FFF2-40B4-BE49-F238E27FC236}">
                    <a16:creationId xmlns:a16="http://schemas.microsoft.com/office/drawing/2014/main" id="{B7CA2B3C-6AEB-7A43-B3B4-4DF705769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id="{BA20BEBE-68B5-1249-B593-1C7CD6B37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" name="Rectangle 61">
              <a:extLst>
                <a:ext uri="{FF2B5EF4-FFF2-40B4-BE49-F238E27FC236}">
                  <a16:creationId xmlns:a16="http://schemas.microsoft.com/office/drawing/2014/main" id="{E5963EC5-6FAF-A14D-AB16-7FE0DA31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" name="Group 62">
              <a:extLst>
                <a:ext uri="{FF2B5EF4-FFF2-40B4-BE49-F238E27FC236}">
                  <a16:creationId xmlns:a16="http://schemas.microsoft.com/office/drawing/2014/main" id="{A8DEC631-5A58-7849-9209-1EB5AB569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" name="AutoShape 63">
                <a:extLst>
                  <a:ext uri="{FF2B5EF4-FFF2-40B4-BE49-F238E27FC236}">
                    <a16:creationId xmlns:a16="http://schemas.microsoft.com/office/drawing/2014/main" id="{6FBD34E3-C5B6-E944-B4E7-984347F69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" name="AutoShape 64">
                <a:extLst>
                  <a:ext uri="{FF2B5EF4-FFF2-40B4-BE49-F238E27FC236}">
                    <a16:creationId xmlns:a16="http://schemas.microsoft.com/office/drawing/2014/main" id="{444700C5-DD16-7045-A6DF-957B4E65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8" name="Freeform 65">
              <a:extLst>
                <a:ext uri="{FF2B5EF4-FFF2-40B4-BE49-F238E27FC236}">
                  <a16:creationId xmlns:a16="http://schemas.microsoft.com/office/drawing/2014/main" id="{210F459F-9F66-B847-B785-6AE02157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id="{07904654-EF90-4B4C-B348-E6F299AD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" name="AutoShape 67">
                <a:extLst>
                  <a:ext uri="{FF2B5EF4-FFF2-40B4-BE49-F238E27FC236}">
                    <a16:creationId xmlns:a16="http://schemas.microsoft.com/office/drawing/2014/main" id="{927A6F56-7195-2A4B-A9FF-BD73015A7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AutoShape 68">
                <a:extLst>
                  <a:ext uri="{FF2B5EF4-FFF2-40B4-BE49-F238E27FC236}">
                    <a16:creationId xmlns:a16="http://schemas.microsoft.com/office/drawing/2014/main" id="{AE3156D8-7946-6043-B3B8-2B13B7293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" name="Rectangle 69">
              <a:extLst>
                <a:ext uri="{FF2B5EF4-FFF2-40B4-BE49-F238E27FC236}">
                  <a16:creationId xmlns:a16="http://schemas.microsoft.com/office/drawing/2014/main" id="{CE18F5A0-5742-0B4F-982F-6BC169203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" name="Freeform 70">
              <a:extLst>
                <a:ext uri="{FF2B5EF4-FFF2-40B4-BE49-F238E27FC236}">
                  <a16:creationId xmlns:a16="http://schemas.microsoft.com/office/drawing/2014/main" id="{2BD50CD9-1EF1-ED4C-AFCE-14AD1B90C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id="{577EA932-97EB-4149-8C8C-9011420A3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" name="Oval 72">
              <a:extLst>
                <a:ext uri="{FF2B5EF4-FFF2-40B4-BE49-F238E27FC236}">
                  <a16:creationId xmlns:a16="http://schemas.microsoft.com/office/drawing/2014/main" id="{49966F96-01DC-0A43-BCBA-D06A3569E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Freeform 73">
              <a:extLst>
                <a:ext uri="{FF2B5EF4-FFF2-40B4-BE49-F238E27FC236}">
                  <a16:creationId xmlns:a16="http://schemas.microsoft.com/office/drawing/2014/main" id="{F1C686DE-B7D5-2148-BCC7-2FAC2C01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AutoShape 74">
              <a:extLst>
                <a:ext uri="{FF2B5EF4-FFF2-40B4-BE49-F238E27FC236}">
                  <a16:creationId xmlns:a16="http://schemas.microsoft.com/office/drawing/2014/main" id="{F82F43AD-BE0F-344E-BEE9-58D59D825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AutoShape 75">
              <a:extLst>
                <a:ext uri="{FF2B5EF4-FFF2-40B4-BE49-F238E27FC236}">
                  <a16:creationId xmlns:a16="http://schemas.microsoft.com/office/drawing/2014/main" id="{50B859D7-FD53-4C47-95AC-855D1B2F3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Oval 76">
              <a:extLst>
                <a:ext uri="{FF2B5EF4-FFF2-40B4-BE49-F238E27FC236}">
                  <a16:creationId xmlns:a16="http://schemas.microsoft.com/office/drawing/2014/main" id="{83896475-9FE1-9143-9428-50459AAB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" name="Oval 77">
              <a:extLst>
                <a:ext uri="{FF2B5EF4-FFF2-40B4-BE49-F238E27FC236}">
                  <a16:creationId xmlns:a16="http://schemas.microsoft.com/office/drawing/2014/main" id="{10EA96BE-EF36-2B49-A03B-AEC86510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" name="Oval 78">
              <a:extLst>
                <a:ext uri="{FF2B5EF4-FFF2-40B4-BE49-F238E27FC236}">
                  <a16:creationId xmlns:a16="http://schemas.microsoft.com/office/drawing/2014/main" id="{BE8642C4-0C45-D94F-821D-2190EC54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id="{C9A770C5-A3F8-D845-B1BA-3D43D933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FD2215CF-ECE6-6746-8DE5-3833EE239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4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example (cont.)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4008892-5F15-CD46-8B74-F28D8BF76E3B}"/>
              </a:ext>
            </a:extLst>
          </p:cNvPr>
          <p:cNvSpPr txBox="1">
            <a:spLocks noChangeArrowheads="1"/>
          </p:cNvSpPr>
          <p:nvPr/>
        </p:nvSpPr>
        <p:spPr>
          <a:xfrm>
            <a:off x="809349" y="1351435"/>
            <a:ext cx="7942262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enters URL:</a:t>
            </a: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B64D7167-BDDE-A148-84EB-4FB5D33E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(containing text, references to 10 jpeg images)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52A420B-2488-A04D-8D7F-CC71C334B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www.someSchool.edu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someDepartment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home.index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3" name="Group 44">
            <a:extLst>
              <a:ext uri="{FF2B5EF4-FFF2-40B4-BE49-F238E27FC236}">
                <a16:creationId xmlns:a16="http://schemas.microsoft.com/office/drawing/2014/main" id="{2394097B-A6BF-8042-8504-A7CA070914D8}"/>
              </a:ext>
            </a:extLst>
          </p:cNvPr>
          <p:cNvGrpSpPr>
            <a:grpSpLocks/>
          </p:cNvGrpSpPr>
          <p:nvPr/>
        </p:nvGrpSpPr>
        <p:grpSpPr bwMode="auto"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id="24" name="Picture 45" descr="desktop_computer_stylized_medium">
              <a:extLst>
                <a:ext uri="{FF2B5EF4-FFF2-40B4-BE49-F238E27FC236}">
                  <a16:creationId xmlns:a16="http://schemas.microsoft.com/office/drawing/2014/main" id="{807C0FED-FCBE-2D4E-A1F2-CBF2C81D3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9119D5B0-5ADB-2048-9F8B-D683AC19EA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" name="Group 47">
            <a:extLst>
              <a:ext uri="{FF2B5EF4-FFF2-40B4-BE49-F238E27FC236}">
                <a16:creationId xmlns:a16="http://schemas.microsoft.com/office/drawing/2014/main" id="{DB78F20D-7762-EC45-A5F7-9DBB8F599433}"/>
              </a:ext>
            </a:extLst>
          </p:cNvPr>
          <p:cNvGrpSpPr>
            <a:grpSpLocks/>
          </p:cNvGrpSpPr>
          <p:nvPr/>
        </p:nvGrpSpPr>
        <p:grpSpPr bwMode="auto"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id="{9F7835DE-1DB5-554B-9435-F2109923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Rectangle 49">
              <a:extLst>
                <a:ext uri="{FF2B5EF4-FFF2-40B4-BE49-F238E27FC236}">
                  <a16:creationId xmlns:a16="http://schemas.microsoft.com/office/drawing/2014/main" id="{D58C67CB-FC2C-6C45-A584-0EE3943CC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id="{2E7357FA-BE14-7B45-B9C8-D3AD131C8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86D743E9-08EF-3443-A09F-9FD39BD6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147C38BE-745B-5043-B214-0B9EA392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" name="Group 53">
              <a:extLst>
                <a:ext uri="{FF2B5EF4-FFF2-40B4-BE49-F238E27FC236}">
                  <a16:creationId xmlns:a16="http://schemas.microsoft.com/office/drawing/2014/main" id="{FBCFE8CA-D754-EF47-A59B-C987FE102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" name="AutoShape 54">
                <a:extLst>
                  <a:ext uri="{FF2B5EF4-FFF2-40B4-BE49-F238E27FC236}">
                    <a16:creationId xmlns:a16="http://schemas.microsoft.com/office/drawing/2014/main" id="{4CB48C03-464D-0344-AF93-DBB0CF13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AutoShape 55">
                <a:extLst>
                  <a:ext uri="{FF2B5EF4-FFF2-40B4-BE49-F238E27FC236}">
                    <a16:creationId xmlns:a16="http://schemas.microsoft.com/office/drawing/2014/main" id="{9545D198-3BD7-694B-B5DC-4ED4C79FC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BB7A1A44-103A-4142-BB05-0C014EC72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" name="Group 57">
              <a:extLst>
                <a:ext uri="{FF2B5EF4-FFF2-40B4-BE49-F238E27FC236}">
                  <a16:creationId xmlns:a16="http://schemas.microsoft.com/office/drawing/2014/main" id="{A7308D7F-AFED-CA43-852A-E750251C6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" name="AutoShape 58">
                <a:extLst>
                  <a:ext uri="{FF2B5EF4-FFF2-40B4-BE49-F238E27FC236}">
                    <a16:creationId xmlns:a16="http://schemas.microsoft.com/office/drawing/2014/main" id="{72E4409D-5ADE-A147-AA65-DA4499631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AutoShape 59">
                <a:extLst>
                  <a:ext uri="{FF2B5EF4-FFF2-40B4-BE49-F238E27FC236}">
                    <a16:creationId xmlns:a16="http://schemas.microsoft.com/office/drawing/2014/main" id="{B7CA2B3C-6AEB-7A43-B3B4-4DF705769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id="{BA20BEBE-68B5-1249-B593-1C7CD6B37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" name="Rectangle 61">
              <a:extLst>
                <a:ext uri="{FF2B5EF4-FFF2-40B4-BE49-F238E27FC236}">
                  <a16:creationId xmlns:a16="http://schemas.microsoft.com/office/drawing/2014/main" id="{E5963EC5-6FAF-A14D-AB16-7FE0DA31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" name="Group 62">
              <a:extLst>
                <a:ext uri="{FF2B5EF4-FFF2-40B4-BE49-F238E27FC236}">
                  <a16:creationId xmlns:a16="http://schemas.microsoft.com/office/drawing/2014/main" id="{A8DEC631-5A58-7849-9209-1EB5AB569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" name="AutoShape 63">
                <a:extLst>
                  <a:ext uri="{FF2B5EF4-FFF2-40B4-BE49-F238E27FC236}">
                    <a16:creationId xmlns:a16="http://schemas.microsoft.com/office/drawing/2014/main" id="{6FBD34E3-C5B6-E944-B4E7-984347F69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" name="AutoShape 64">
                <a:extLst>
                  <a:ext uri="{FF2B5EF4-FFF2-40B4-BE49-F238E27FC236}">
                    <a16:creationId xmlns:a16="http://schemas.microsoft.com/office/drawing/2014/main" id="{444700C5-DD16-7045-A6DF-957B4E65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8" name="Freeform 65">
              <a:extLst>
                <a:ext uri="{FF2B5EF4-FFF2-40B4-BE49-F238E27FC236}">
                  <a16:creationId xmlns:a16="http://schemas.microsoft.com/office/drawing/2014/main" id="{210F459F-9F66-B847-B785-6AE02157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id="{07904654-EF90-4B4C-B348-E6F299AD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" name="AutoShape 67">
                <a:extLst>
                  <a:ext uri="{FF2B5EF4-FFF2-40B4-BE49-F238E27FC236}">
                    <a16:creationId xmlns:a16="http://schemas.microsoft.com/office/drawing/2014/main" id="{927A6F56-7195-2A4B-A9FF-BD73015A7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AutoShape 68">
                <a:extLst>
                  <a:ext uri="{FF2B5EF4-FFF2-40B4-BE49-F238E27FC236}">
                    <a16:creationId xmlns:a16="http://schemas.microsoft.com/office/drawing/2014/main" id="{AE3156D8-7946-6043-B3B8-2B13B7293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" name="Rectangle 69">
              <a:extLst>
                <a:ext uri="{FF2B5EF4-FFF2-40B4-BE49-F238E27FC236}">
                  <a16:creationId xmlns:a16="http://schemas.microsoft.com/office/drawing/2014/main" id="{CE18F5A0-5742-0B4F-982F-6BC169203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" name="Freeform 70">
              <a:extLst>
                <a:ext uri="{FF2B5EF4-FFF2-40B4-BE49-F238E27FC236}">
                  <a16:creationId xmlns:a16="http://schemas.microsoft.com/office/drawing/2014/main" id="{2BD50CD9-1EF1-ED4C-AFCE-14AD1B90C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id="{577EA932-97EB-4149-8C8C-9011420A3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" name="Oval 72">
              <a:extLst>
                <a:ext uri="{FF2B5EF4-FFF2-40B4-BE49-F238E27FC236}">
                  <a16:creationId xmlns:a16="http://schemas.microsoft.com/office/drawing/2014/main" id="{49966F96-01DC-0A43-BCBA-D06A3569E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Freeform 73">
              <a:extLst>
                <a:ext uri="{FF2B5EF4-FFF2-40B4-BE49-F238E27FC236}">
                  <a16:creationId xmlns:a16="http://schemas.microsoft.com/office/drawing/2014/main" id="{F1C686DE-B7D5-2148-BCC7-2FAC2C01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AutoShape 74">
              <a:extLst>
                <a:ext uri="{FF2B5EF4-FFF2-40B4-BE49-F238E27FC236}">
                  <a16:creationId xmlns:a16="http://schemas.microsoft.com/office/drawing/2014/main" id="{F82F43AD-BE0F-344E-BEE9-58D59D825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AutoShape 75">
              <a:extLst>
                <a:ext uri="{FF2B5EF4-FFF2-40B4-BE49-F238E27FC236}">
                  <a16:creationId xmlns:a16="http://schemas.microsoft.com/office/drawing/2014/main" id="{50B859D7-FD53-4C47-95AC-855D1B2F3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Oval 76">
              <a:extLst>
                <a:ext uri="{FF2B5EF4-FFF2-40B4-BE49-F238E27FC236}">
                  <a16:creationId xmlns:a16="http://schemas.microsoft.com/office/drawing/2014/main" id="{83896475-9FE1-9143-9428-50459AAB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" name="Oval 77">
              <a:extLst>
                <a:ext uri="{FF2B5EF4-FFF2-40B4-BE49-F238E27FC236}">
                  <a16:creationId xmlns:a16="http://schemas.microsoft.com/office/drawing/2014/main" id="{10EA96BE-EF36-2B49-A03B-AEC86510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" name="Oval 78">
              <a:extLst>
                <a:ext uri="{FF2B5EF4-FFF2-40B4-BE49-F238E27FC236}">
                  <a16:creationId xmlns:a16="http://schemas.microsoft.com/office/drawing/2014/main" id="{BE8642C4-0C45-D94F-821D-2190EC54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id="{C9A770C5-A3F8-D845-B1BA-3D43D933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9" name="Rectangle 6">
            <a:extLst>
              <a:ext uri="{FF2B5EF4-FFF2-40B4-BE49-F238E27FC236}">
                <a16:creationId xmlns:a16="http://schemas.microsoft.com/office/drawing/2014/main" id="{F5ECC14E-6AC7-4243-86F2-25BD5F2B8464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3200188"/>
            <a:ext cx="5085273" cy="201012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5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client receives response message containing html file, displays html.  Parsing html file, finds 10 referenced jpeg  objects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" name="Rectangle 7">
            <a:extLst>
              <a:ext uri="{FF2B5EF4-FFF2-40B4-BE49-F238E27FC236}">
                <a16:creationId xmlns:a16="http://schemas.microsoft.com/office/drawing/2014/main" id="{D3260771-3905-E24E-8B12-64D566C6B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480" y="4851930"/>
            <a:ext cx="38100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6.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Steps 1-5 repeated for each of 10 jpeg objects</a:t>
            </a:r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9E1B76BD-C8EB-7245-9B75-E2D499F3E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6580" y="2782360"/>
            <a:ext cx="38100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4.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server closes TCP connection. </a:t>
            </a:r>
          </a:p>
        </p:txBody>
      </p:sp>
      <p:sp>
        <p:nvSpPr>
          <p:cNvPr id="65" name="Line 17">
            <a:extLst>
              <a:ext uri="{FF2B5EF4-FFF2-40B4-BE49-F238E27FC236}">
                <a16:creationId xmlns:a16="http://schemas.microsoft.com/office/drawing/2014/main" id="{4F85C1F3-F91B-C04C-B746-8E5570895A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87465" y="3200187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Line 11">
            <a:extLst>
              <a:ext uri="{FF2B5EF4-FFF2-40B4-BE49-F238E27FC236}">
                <a16:creationId xmlns:a16="http://schemas.microsoft.com/office/drawing/2014/main" id="{F8CE636E-DC4B-BA4E-A771-E70EE904F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91" y="2868166"/>
            <a:ext cx="10658" cy="3480471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3787AF32-7BD3-C144-BD02-222C42900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58" y="5641558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8" name="Text Box 12">
            <a:extLst>
              <a:ext uri="{FF2B5EF4-FFF2-40B4-BE49-F238E27FC236}">
                <a16:creationId xmlns:a16="http://schemas.microsoft.com/office/drawing/2014/main" id="{B3CFBAD8-5CBD-8B48-A941-3E86D5E65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83" y="5563771"/>
            <a:ext cx="673100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62" name="Slide Number Placeholder 2">
            <a:extLst>
              <a:ext uri="{FF2B5EF4-FFF2-40B4-BE49-F238E27FC236}">
                <a16:creationId xmlns:a16="http://schemas.microsoft.com/office/drawing/2014/main" id="{805F15D5-7E9E-E54C-BDFB-FEFBBAA1D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6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uild="p"/>
      <p:bldP spid="6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response time</a:t>
            </a:r>
            <a:endParaRPr lang="en-US" sz="4400" dirty="0"/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6FDB6615-546D-6440-BBC8-3C06990BF0E4}"/>
              </a:ext>
            </a:extLst>
          </p:cNvPr>
          <p:cNvSpPr txBox="1">
            <a:spLocks noChangeArrowheads="1"/>
          </p:cNvSpPr>
          <p:nvPr/>
        </p:nvSpPr>
        <p:spPr>
          <a:xfrm>
            <a:off x="736393" y="1919178"/>
            <a:ext cx="5683502" cy="333733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RTT (definition):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time for a small packet to travel from client to server and back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response time (per object):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 RTT to initiate TCP connection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 RTT for HTTP request and first few bytes of HTTP response to return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object/file transmission time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3" name="Line 15">
            <a:extLst>
              <a:ext uri="{FF2B5EF4-FFF2-40B4-BE49-F238E27FC236}">
                <a16:creationId xmlns:a16="http://schemas.microsoft.com/office/drawing/2014/main" id="{4929D219-0DD0-EE4D-B40F-3D0B3F80F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7229" y="2671284"/>
            <a:ext cx="0" cy="28321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Line 16">
            <a:extLst>
              <a:ext uri="{FF2B5EF4-FFF2-40B4-BE49-F238E27FC236}">
                <a16:creationId xmlns:a16="http://schemas.microsoft.com/office/drawing/2014/main" id="{8CAAC30A-AACE-CA43-94F8-6356C7DBF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9887916" y="2664934"/>
            <a:ext cx="0" cy="2881312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Line 17">
            <a:extLst>
              <a:ext uri="{FF2B5EF4-FFF2-40B4-BE49-F238E27FC236}">
                <a16:creationId xmlns:a16="http://schemas.microsoft.com/office/drawing/2014/main" id="{AF42B5BB-493F-1A4F-A479-A45F6B472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1516" y="2903059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Line 18">
            <a:extLst>
              <a:ext uri="{FF2B5EF4-FFF2-40B4-BE49-F238E27FC236}">
                <a16:creationId xmlns:a16="http://schemas.microsoft.com/office/drawing/2014/main" id="{C9AE042D-B868-CC49-B9F2-374B1A84C6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229" y="3341209"/>
            <a:ext cx="1673225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Line 19">
            <a:extLst>
              <a:ext uri="{FF2B5EF4-FFF2-40B4-BE49-F238E27FC236}">
                <a16:creationId xmlns:a16="http://schemas.microsoft.com/office/drawing/2014/main" id="{99C22C7D-D82A-5C41-99D1-EA13F1243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5166" y="3849209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AutoShape 21">
            <a:extLst>
              <a:ext uri="{FF2B5EF4-FFF2-40B4-BE49-F238E27FC236}">
                <a16:creationId xmlns:a16="http://schemas.microsoft.com/office/drawing/2014/main" id="{DD02DF36-65CF-F14E-88DF-53BB17EBFDA7}"/>
              </a:ext>
            </a:extLst>
          </p:cNvPr>
          <p:cNvSpPr>
            <a:spLocks/>
          </p:cNvSpPr>
          <p:nvPr/>
        </p:nvSpPr>
        <p:spPr bwMode="auto">
          <a:xfrm>
            <a:off x="9903942" y="4249143"/>
            <a:ext cx="99857" cy="161739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Text Box 22">
            <a:extLst>
              <a:ext uri="{FF2B5EF4-FFF2-40B4-BE49-F238E27FC236}">
                <a16:creationId xmlns:a16="http://schemas.microsoft.com/office/drawing/2014/main" id="{CCB0A876-D266-4A45-A302-8A1ECD42C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7454" y="3944459"/>
            <a:ext cx="1123577" cy="879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 to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transmit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file</a:t>
            </a:r>
          </a:p>
        </p:txBody>
      </p:sp>
      <p:sp>
        <p:nvSpPr>
          <p:cNvPr id="75" name="Line 23">
            <a:extLst>
              <a:ext uri="{FF2B5EF4-FFF2-40B4-BE49-F238E27FC236}">
                <a16:creationId xmlns:a16="http://schemas.microsoft.com/office/drawing/2014/main" id="{5718D752-EA30-EF40-828E-5D0FFEB1D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6704" y="2877659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Text Box 24">
            <a:extLst>
              <a:ext uri="{FF2B5EF4-FFF2-40B4-BE49-F238E27FC236}">
                <a16:creationId xmlns:a16="http://schemas.microsoft.com/office/drawing/2014/main" id="{8BC58F30-FF48-FF4E-819B-1E40B9095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60" y="2563010"/>
            <a:ext cx="1363707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initiate TCP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connection</a:t>
            </a:r>
          </a:p>
        </p:txBody>
      </p:sp>
      <p:sp>
        <p:nvSpPr>
          <p:cNvPr id="77" name="AutoShape 25">
            <a:extLst>
              <a:ext uri="{FF2B5EF4-FFF2-40B4-BE49-F238E27FC236}">
                <a16:creationId xmlns:a16="http://schemas.microsoft.com/office/drawing/2014/main" id="{1676996C-B2C6-6440-BDFC-70D850B75C3C}"/>
              </a:ext>
            </a:extLst>
          </p:cNvPr>
          <p:cNvSpPr>
            <a:spLocks/>
          </p:cNvSpPr>
          <p:nvPr/>
        </p:nvSpPr>
        <p:spPr bwMode="auto">
          <a:xfrm>
            <a:off x="7941641" y="2928459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8" name="Text Box 26">
            <a:extLst>
              <a:ext uri="{FF2B5EF4-FFF2-40B4-BE49-F238E27FC236}">
                <a16:creationId xmlns:a16="http://schemas.microsoft.com/office/drawing/2014/main" id="{86DB8643-EF07-8F4F-9625-5A4CA4A15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041" y="3139596"/>
            <a:ext cx="575222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RTT</a:t>
            </a:r>
          </a:p>
        </p:txBody>
      </p:sp>
      <p:sp>
        <p:nvSpPr>
          <p:cNvPr id="79" name="Line 27">
            <a:extLst>
              <a:ext uri="{FF2B5EF4-FFF2-40B4-BE49-F238E27FC236}">
                <a16:creationId xmlns:a16="http://schemas.microsoft.com/office/drawing/2014/main" id="{981309A0-6209-8843-8011-139102021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5916" y="3782534"/>
            <a:ext cx="354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 Box 28">
            <a:extLst>
              <a:ext uri="{FF2B5EF4-FFF2-40B4-BE49-F238E27FC236}">
                <a16:creationId xmlns:a16="http://schemas.microsoft.com/office/drawing/2014/main" id="{F8F4F9A2-8F8A-0A49-A582-7B28C50C8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3113" y="3589815"/>
            <a:ext cx="1969956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file</a:t>
            </a:r>
          </a:p>
        </p:txBody>
      </p:sp>
      <p:sp>
        <p:nvSpPr>
          <p:cNvPr id="81" name="AutoShape 29">
            <a:extLst>
              <a:ext uri="{FF2B5EF4-FFF2-40B4-BE49-F238E27FC236}">
                <a16:creationId xmlns:a16="http://schemas.microsoft.com/office/drawing/2014/main" id="{38B5D7F5-BB3A-C042-A65C-E340A56B8131}"/>
              </a:ext>
            </a:extLst>
          </p:cNvPr>
          <p:cNvSpPr>
            <a:spLocks/>
          </p:cNvSpPr>
          <p:nvPr/>
        </p:nvSpPr>
        <p:spPr bwMode="auto">
          <a:xfrm>
            <a:off x="7947991" y="3838096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0">
            <a:extLst>
              <a:ext uri="{FF2B5EF4-FFF2-40B4-BE49-F238E27FC236}">
                <a16:creationId xmlns:a16="http://schemas.microsoft.com/office/drawing/2014/main" id="{F6FF37B4-B442-4047-946B-77B07E91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8091" y="4061934"/>
            <a:ext cx="575222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RTT</a:t>
            </a:r>
          </a:p>
        </p:txBody>
      </p:sp>
      <p:sp>
        <p:nvSpPr>
          <p:cNvPr id="83" name="Line 35">
            <a:extLst>
              <a:ext uri="{FF2B5EF4-FFF2-40B4-BE49-F238E27FC236}">
                <a16:creationId xmlns:a16="http://schemas.microsoft.com/office/drawing/2014/main" id="{1D97958B-3B35-E742-B7C6-848FC7C172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8988" y="4805006"/>
            <a:ext cx="361323" cy="2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 Box 36">
            <a:extLst>
              <a:ext uri="{FF2B5EF4-FFF2-40B4-BE49-F238E27FC236}">
                <a16:creationId xmlns:a16="http://schemas.microsoft.com/office/drawing/2014/main" id="{24A3B2D9-8989-434A-9FC2-223A7BF47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5684" y="4617233"/>
            <a:ext cx="1647627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file received</a:t>
            </a:r>
          </a:p>
        </p:txBody>
      </p:sp>
      <p:sp>
        <p:nvSpPr>
          <p:cNvPr id="85" name="Text Box 37">
            <a:extLst>
              <a:ext uri="{FF2B5EF4-FFF2-40B4-BE49-F238E27FC236}">
                <a16:creationId xmlns:a16="http://schemas.microsoft.com/office/drawing/2014/main" id="{5F7EC06B-E293-DF46-888B-439F61ED3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1804" y="5517671"/>
            <a:ext cx="663964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86" name="Text Box 38">
            <a:extLst>
              <a:ext uri="{FF2B5EF4-FFF2-40B4-BE49-F238E27FC236}">
                <a16:creationId xmlns:a16="http://schemas.microsoft.com/office/drawing/2014/main" id="{29F1D00D-DC1A-684B-8E6D-3829DD416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9791" y="5500209"/>
            <a:ext cx="6639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grpSp>
        <p:nvGrpSpPr>
          <p:cNvPr id="87" name="Group 43">
            <a:extLst>
              <a:ext uri="{FF2B5EF4-FFF2-40B4-BE49-F238E27FC236}">
                <a16:creationId xmlns:a16="http://schemas.microsoft.com/office/drawing/2014/main" id="{541F6086-47C8-874D-8AA5-F7E42EE4D031}"/>
              </a:ext>
            </a:extLst>
          </p:cNvPr>
          <p:cNvGrpSpPr>
            <a:grpSpLocks/>
          </p:cNvGrpSpPr>
          <p:nvPr/>
        </p:nvGrpSpPr>
        <p:grpSpPr bwMode="auto">
          <a:xfrm>
            <a:off x="9687891" y="1898171"/>
            <a:ext cx="423863" cy="684213"/>
            <a:chOff x="4140" y="429"/>
            <a:chExt cx="1425" cy="2396"/>
          </a:xfrm>
        </p:grpSpPr>
        <p:sp>
          <p:nvSpPr>
            <p:cNvPr id="88" name="Freeform 44">
              <a:extLst>
                <a:ext uri="{FF2B5EF4-FFF2-40B4-BE49-F238E27FC236}">
                  <a16:creationId xmlns:a16="http://schemas.microsoft.com/office/drawing/2014/main" id="{6DAF6B62-B819-F74E-96B5-613320600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Rectangle 45">
              <a:extLst>
                <a:ext uri="{FF2B5EF4-FFF2-40B4-BE49-F238E27FC236}">
                  <a16:creationId xmlns:a16="http://schemas.microsoft.com/office/drawing/2014/main" id="{50F7D37B-F313-5C49-8576-42FF33D8D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Freeform 46">
              <a:extLst>
                <a:ext uri="{FF2B5EF4-FFF2-40B4-BE49-F238E27FC236}">
                  <a16:creationId xmlns:a16="http://schemas.microsoft.com/office/drawing/2014/main" id="{87E40F45-93DC-2B4E-ADDC-55D37D40B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Freeform 47">
              <a:extLst>
                <a:ext uri="{FF2B5EF4-FFF2-40B4-BE49-F238E27FC236}">
                  <a16:creationId xmlns:a16="http://schemas.microsoft.com/office/drawing/2014/main" id="{7B112D55-79F9-1F4D-B446-8C88751FF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2" name="Rectangle 48">
              <a:extLst>
                <a:ext uri="{FF2B5EF4-FFF2-40B4-BE49-F238E27FC236}">
                  <a16:creationId xmlns:a16="http://schemas.microsoft.com/office/drawing/2014/main" id="{956D8EF0-FF87-9E4B-887E-2B313EF77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3" name="Group 49">
              <a:extLst>
                <a:ext uri="{FF2B5EF4-FFF2-40B4-BE49-F238E27FC236}">
                  <a16:creationId xmlns:a16="http://schemas.microsoft.com/office/drawing/2014/main" id="{66F581E1-4301-C04A-BC92-0FE36983E2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8" name="AutoShape 50">
                <a:extLst>
                  <a:ext uri="{FF2B5EF4-FFF2-40B4-BE49-F238E27FC236}">
                    <a16:creationId xmlns:a16="http://schemas.microsoft.com/office/drawing/2014/main" id="{060EE10F-40BB-F147-A18B-D592D4900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9" name="AutoShape 51">
                <a:extLst>
                  <a:ext uri="{FF2B5EF4-FFF2-40B4-BE49-F238E27FC236}">
                    <a16:creationId xmlns:a16="http://schemas.microsoft.com/office/drawing/2014/main" id="{964C81AE-2600-6248-820C-48DB107C0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4" name="Rectangle 52">
              <a:extLst>
                <a:ext uri="{FF2B5EF4-FFF2-40B4-BE49-F238E27FC236}">
                  <a16:creationId xmlns:a16="http://schemas.microsoft.com/office/drawing/2014/main" id="{0B3B5D85-0106-D947-B9AB-3DEF402BD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5" name="Group 53">
              <a:extLst>
                <a:ext uri="{FF2B5EF4-FFF2-40B4-BE49-F238E27FC236}">
                  <a16:creationId xmlns:a16="http://schemas.microsoft.com/office/drawing/2014/main" id="{21E327E2-0D3F-BB45-88FA-94BE824723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6" name="AutoShape 54">
                <a:extLst>
                  <a:ext uri="{FF2B5EF4-FFF2-40B4-BE49-F238E27FC236}">
                    <a16:creationId xmlns:a16="http://schemas.microsoft.com/office/drawing/2014/main" id="{A09779CB-5E1C-FF46-9276-B827DEE6B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7" name="AutoShape 55">
                <a:extLst>
                  <a:ext uri="{FF2B5EF4-FFF2-40B4-BE49-F238E27FC236}">
                    <a16:creationId xmlns:a16="http://schemas.microsoft.com/office/drawing/2014/main" id="{67162A33-48AB-8447-8BA1-9899B1EFA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6" name="Rectangle 56">
              <a:extLst>
                <a:ext uri="{FF2B5EF4-FFF2-40B4-BE49-F238E27FC236}">
                  <a16:creationId xmlns:a16="http://schemas.microsoft.com/office/drawing/2014/main" id="{C0727CA6-9309-D04B-829F-614EF5BEA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Rectangle 57">
              <a:extLst>
                <a:ext uri="{FF2B5EF4-FFF2-40B4-BE49-F238E27FC236}">
                  <a16:creationId xmlns:a16="http://schemas.microsoft.com/office/drawing/2014/main" id="{17B7496E-619F-B745-A3B6-4EDDE39B5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8" name="Group 58">
              <a:extLst>
                <a:ext uri="{FF2B5EF4-FFF2-40B4-BE49-F238E27FC236}">
                  <a16:creationId xmlns:a16="http://schemas.microsoft.com/office/drawing/2014/main" id="{B3F5CCBA-FB37-F741-A1BE-6A326312AB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4" name="AutoShape 59">
                <a:extLst>
                  <a:ext uri="{FF2B5EF4-FFF2-40B4-BE49-F238E27FC236}">
                    <a16:creationId xmlns:a16="http://schemas.microsoft.com/office/drawing/2014/main" id="{DEAAF06F-764B-A04C-A4F4-4AF808C89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AutoShape 60">
                <a:extLst>
                  <a:ext uri="{FF2B5EF4-FFF2-40B4-BE49-F238E27FC236}">
                    <a16:creationId xmlns:a16="http://schemas.microsoft.com/office/drawing/2014/main" id="{73A61CB6-ED08-FD4B-8F83-3336B8F82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9" name="Freeform 61">
              <a:extLst>
                <a:ext uri="{FF2B5EF4-FFF2-40B4-BE49-F238E27FC236}">
                  <a16:creationId xmlns:a16="http://schemas.microsoft.com/office/drawing/2014/main" id="{1AB063BC-5497-FD41-9B58-4C27970B6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00" name="Group 62">
              <a:extLst>
                <a:ext uri="{FF2B5EF4-FFF2-40B4-BE49-F238E27FC236}">
                  <a16:creationId xmlns:a16="http://schemas.microsoft.com/office/drawing/2014/main" id="{20634D40-DCFD-8449-B684-70B31A9B35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2" name="AutoShape 63">
                <a:extLst>
                  <a:ext uri="{FF2B5EF4-FFF2-40B4-BE49-F238E27FC236}">
                    <a16:creationId xmlns:a16="http://schemas.microsoft.com/office/drawing/2014/main" id="{F58EC583-5702-1E4B-A6F2-1309BD877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AutoShape 64">
                <a:extLst>
                  <a:ext uri="{FF2B5EF4-FFF2-40B4-BE49-F238E27FC236}">
                    <a16:creationId xmlns:a16="http://schemas.microsoft.com/office/drawing/2014/main" id="{DB3DA62B-8007-4E4C-93B9-0F102F104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01" name="Rectangle 65">
              <a:extLst>
                <a:ext uri="{FF2B5EF4-FFF2-40B4-BE49-F238E27FC236}">
                  <a16:creationId xmlns:a16="http://schemas.microsoft.com/office/drawing/2014/main" id="{C31A2516-63E0-E740-AE1D-B59F6C976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Freeform 66">
              <a:extLst>
                <a:ext uri="{FF2B5EF4-FFF2-40B4-BE49-F238E27FC236}">
                  <a16:creationId xmlns:a16="http://schemas.microsoft.com/office/drawing/2014/main" id="{B8246D8C-6855-C044-A8BA-8F170062C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3" name="Freeform 67">
              <a:extLst>
                <a:ext uri="{FF2B5EF4-FFF2-40B4-BE49-F238E27FC236}">
                  <a16:creationId xmlns:a16="http://schemas.microsoft.com/office/drawing/2014/main" id="{924E847A-F4E0-DA4B-8D4E-A56FEAA69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4" name="Oval 68">
              <a:extLst>
                <a:ext uri="{FF2B5EF4-FFF2-40B4-BE49-F238E27FC236}">
                  <a16:creationId xmlns:a16="http://schemas.microsoft.com/office/drawing/2014/main" id="{8CAE9087-3C8E-F24B-A512-CEB1940F0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" name="Freeform 69">
              <a:extLst>
                <a:ext uri="{FF2B5EF4-FFF2-40B4-BE49-F238E27FC236}">
                  <a16:creationId xmlns:a16="http://schemas.microsoft.com/office/drawing/2014/main" id="{2AB5FE84-419E-EB41-B46F-B90EA8215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" name="AutoShape 70">
              <a:extLst>
                <a:ext uri="{FF2B5EF4-FFF2-40B4-BE49-F238E27FC236}">
                  <a16:creationId xmlns:a16="http://schemas.microsoft.com/office/drawing/2014/main" id="{5044997C-6434-1F4E-951A-58848E528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AutoShape 71">
              <a:extLst>
                <a:ext uri="{FF2B5EF4-FFF2-40B4-BE49-F238E27FC236}">
                  <a16:creationId xmlns:a16="http://schemas.microsoft.com/office/drawing/2014/main" id="{E0E22BAF-7B23-B44C-827B-153E00211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" name="Oval 72">
              <a:extLst>
                <a:ext uri="{FF2B5EF4-FFF2-40B4-BE49-F238E27FC236}">
                  <a16:creationId xmlns:a16="http://schemas.microsoft.com/office/drawing/2014/main" id="{E772A220-7A72-DF4C-B4F3-72E6DDF1F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" name="Oval 73">
              <a:extLst>
                <a:ext uri="{FF2B5EF4-FFF2-40B4-BE49-F238E27FC236}">
                  <a16:creationId xmlns:a16="http://schemas.microsoft.com/office/drawing/2014/main" id="{E52F28FE-19A0-E943-AE0B-DEEA92222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0" name="Oval 74">
              <a:extLst>
                <a:ext uri="{FF2B5EF4-FFF2-40B4-BE49-F238E27FC236}">
                  <a16:creationId xmlns:a16="http://schemas.microsoft.com/office/drawing/2014/main" id="{679A21A4-960E-C240-991F-7A91E9D33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1" name="Rectangle 75">
              <a:extLst>
                <a:ext uri="{FF2B5EF4-FFF2-40B4-BE49-F238E27FC236}">
                  <a16:creationId xmlns:a16="http://schemas.microsoft.com/office/drawing/2014/main" id="{5FE7BC29-1F3A-FC4D-B0A8-E7C985E21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76">
            <a:extLst>
              <a:ext uri="{FF2B5EF4-FFF2-40B4-BE49-F238E27FC236}">
                <a16:creationId xmlns:a16="http://schemas.microsoft.com/office/drawing/2014/main" id="{ACB35F9B-E584-6A4C-A928-821626F2884C}"/>
              </a:ext>
            </a:extLst>
          </p:cNvPr>
          <p:cNvGrpSpPr>
            <a:grpSpLocks/>
          </p:cNvGrpSpPr>
          <p:nvPr/>
        </p:nvGrpSpPr>
        <p:grpSpPr bwMode="auto">
          <a:xfrm>
            <a:off x="7686054" y="1920396"/>
            <a:ext cx="698500" cy="709613"/>
            <a:chOff x="-44" y="1473"/>
            <a:chExt cx="981" cy="1105"/>
          </a:xfrm>
        </p:grpSpPr>
        <p:pic>
          <p:nvPicPr>
            <p:cNvPr id="121" name="Picture 77" descr="desktop_computer_stylized_medium">
              <a:extLst>
                <a:ext uri="{FF2B5EF4-FFF2-40B4-BE49-F238E27FC236}">
                  <a16:creationId xmlns:a16="http://schemas.microsoft.com/office/drawing/2014/main" id="{C2C6AD66-1148-CD4D-99F7-5C6A689E28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78">
              <a:extLst>
                <a:ext uri="{FF2B5EF4-FFF2-40B4-BE49-F238E27FC236}">
                  <a16:creationId xmlns:a16="http://schemas.microsoft.com/office/drawing/2014/main" id="{40C43405-EE8F-6348-9658-64CCF319FF4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Freeform 1">
            <a:extLst>
              <a:ext uri="{FF2B5EF4-FFF2-40B4-BE49-F238E27FC236}">
                <a16:creationId xmlns:a16="http://schemas.microsoft.com/office/drawing/2014/main" id="{2D3ED81E-7823-0B47-8E02-97411E72ACFD}"/>
              </a:ext>
            </a:extLst>
          </p:cNvPr>
          <p:cNvSpPr/>
          <p:nvPr/>
        </p:nvSpPr>
        <p:spPr>
          <a:xfrm>
            <a:off x="8188984" y="4246818"/>
            <a:ext cx="1700270" cy="558188"/>
          </a:xfrm>
          <a:custGeom>
            <a:avLst/>
            <a:gdLst>
              <a:gd name="connsiteX0" fmla="*/ 0 w 1700270"/>
              <a:gd name="connsiteY0" fmla="*/ 389262 h 543498"/>
              <a:gd name="connsiteX1" fmla="*/ 1700270 w 1700270"/>
              <a:gd name="connsiteY1" fmla="*/ 0 h 543498"/>
              <a:gd name="connsiteX2" fmla="*/ 1696598 w 1700270"/>
              <a:gd name="connsiteY2" fmla="*/ 176269 h 543498"/>
              <a:gd name="connsiteX3" fmla="*/ 0 w 1700270"/>
              <a:gd name="connsiteY3" fmla="*/ 543498 h 543498"/>
              <a:gd name="connsiteX4" fmla="*/ 0 w 1700270"/>
              <a:gd name="connsiteY4" fmla="*/ 389262 h 543498"/>
              <a:gd name="connsiteX0" fmla="*/ 0 w 1700270"/>
              <a:gd name="connsiteY0" fmla="*/ 389262 h 558188"/>
              <a:gd name="connsiteX1" fmla="*/ 1700270 w 1700270"/>
              <a:gd name="connsiteY1" fmla="*/ 0 h 558188"/>
              <a:gd name="connsiteX2" fmla="*/ 1696598 w 1700270"/>
              <a:gd name="connsiteY2" fmla="*/ 176269 h 558188"/>
              <a:gd name="connsiteX3" fmla="*/ 7344 w 1700270"/>
              <a:gd name="connsiteY3" fmla="*/ 558188 h 558188"/>
              <a:gd name="connsiteX4" fmla="*/ 0 w 1700270"/>
              <a:gd name="connsiteY4" fmla="*/ 389262 h 55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0270" h="558188">
                <a:moveTo>
                  <a:pt x="0" y="389262"/>
                </a:moveTo>
                <a:lnTo>
                  <a:pt x="1700270" y="0"/>
                </a:lnTo>
                <a:lnTo>
                  <a:pt x="1696598" y="176269"/>
                </a:lnTo>
                <a:lnTo>
                  <a:pt x="7344" y="558188"/>
                </a:lnTo>
                <a:lnTo>
                  <a:pt x="0" y="389262"/>
                </a:lnTo>
                <a:close/>
              </a:path>
            </a:pathLst>
          </a:custGeom>
          <a:solidFill>
            <a:srgbClr val="0000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AutoShape 21">
            <a:extLst>
              <a:ext uri="{FF2B5EF4-FFF2-40B4-BE49-F238E27FC236}">
                <a16:creationId xmlns:a16="http://schemas.microsoft.com/office/drawing/2014/main" id="{B46E8531-A1AB-F94F-83A6-88018FC274AE}"/>
              </a:ext>
            </a:extLst>
          </p:cNvPr>
          <p:cNvSpPr>
            <a:spLocks/>
          </p:cNvSpPr>
          <p:nvPr/>
        </p:nvSpPr>
        <p:spPr bwMode="auto">
          <a:xfrm flipH="1" flipV="1">
            <a:off x="8069711" y="4643267"/>
            <a:ext cx="99857" cy="161739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F7570-9992-2546-969B-3F60B086818E}"/>
              </a:ext>
            </a:extLst>
          </p:cNvPr>
          <p:cNvSpPr txBox="1"/>
          <p:nvPr/>
        </p:nvSpPr>
        <p:spPr>
          <a:xfrm>
            <a:off x="1056514" y="5919854"/>
            <a:ext cx="92572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Non-persistent HTTP response time =  2RTT+ file transmission 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Slide Number Placeholder 2">
            <a:extLst>
              <a:ext uri="{FF2B5EF4-FFF2-40B4-BE49-F238E27FC236}">
                <a16:creationId xmlns:a16="http://schemas.microsoft.com/office/drawing/2014/main" id="{7E482904-1521-274F-AE73-DF7E96ACE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71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Persistent HTTP </a:t>
            </a:r>
            <a:r>
              <a:rPr lang="en-US" altLang="en-US" sz="3200" dirty="0">
                <a:cs typeface="Calibri" panose="020F0502020204030204" pitchFamily="34" charset="0"/>
              </a:rPr>
              <a:t>(HTTP 1.1)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B14C937-79C9-6642-8B0C-15F130B4AF98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401764"/>
            <a:ext cx="5165547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Non-persistent HTTP issues: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requires 2 RTTs per object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OS overhead for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TCP connection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browsers often open multiple parallel TCP connections to fetch referenced objects in parallel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996C596E-CBDC-1641-AE54-06AC7ADF3759}"/>
              </a:ext>
            </a:extLst>
          </p:cNvPr>
          <p:cNvSpPr txBox="1">
            <a:spLocks noChangeArrowheads="1"/>
          </p:cNvSpPr>
          <p:nvPr/>
        </p:nvSpPr>
        <p:spPr>
          <a:xfrm>
            <a:off x="6227762" y="1414463"/>
            <a:ext cx="573505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Persistent  HTTP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(HTTP1.1):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server leaves connection open after sending response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subsequent HTTP messages  between same client/server sent over open connection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 sends requests as soon as it encounters a referenced object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little as one RTT for all the referenced objects (cutting response time in half)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9DB959-15FC-7A47-B54E-965B407AA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59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request </a:t>
            </a:r>
            <a:r>
              <a:rPr lang="en-US" altLang="en-US" dirty="0">
                <a:cs typeface="Calibri" panose="020F0502020204030204" pitchFamily="34" charset="0"/>
              </a:rPr>
              <a:t>m</a:t>
            </a:r>
            <a:r>
              <a:rPr lang="en-US" altLang="en-US" sz="4400" dirty="0">
                <a:cs typeface="Calibri" panose="020F0502020204030204" pitchFamily="34" charset="0"/>
              </a:rPr>
              <a:t>essage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21ECE79-BBE4-B646-A84C-F451AD02B983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444625"/>
            <a:ext cx="11658600" cy="142920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two types of HTTP messages: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request message: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ASCII (human-readable format)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9D189007-4005-564E-B421-909E89E9E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677" y="4189643"/>
            <a:ext cx="1071127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header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lines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BFD47085-0DF5-F849-923F-6D72DB7EB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046" y="3323999"/>
            <a:ext cx="7921878" cy="2342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GET /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index.html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HTTP/1.1\r\n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Host: www-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net.cs.umass.edu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User-Agent: Mozilla/5.0 (Macintosh; Intel Mac OS X 10.15; rv:80.0) Gecko/20100101 Firefox/80.0 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Accept: text/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html,application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xhtml+xml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Accept-Language: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en-us,en;q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=0.5\r\n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Accept-Encoding: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gzip,deflate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Connection: keep-alive\r\n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\r\n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C8212B-5FF3-1B41-8A79-6C4F774EA6B6}"/>
              </a:ext>
            </a:extLst>
          </p:cNvPr>
          <p:cNvGrpSpPr/>
          <p:nvPr/>
        </p:nvGrpSpPr>
        <p:grpSpPr>
          <a:xfrm>
            <a:off x="7524296" y="2623511"/>
            <a:ext cx="2834575" cy="849313"/>
            <a:chOff x="7524296" y="2554061"/>
            <a:chExt cx="2834575" cy="849313"/>
          </a:xfrm>
        </p:grpSpPr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3F48C300-763A-B54F-B0A7-01186DC913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24296" y="2841399"/>
              <a:ext cx="166688" cy="51435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6AE4689D-D5B0-114C-898E-652FE1146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5096" y="2554061"/>
              <a:ext cx="27837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carriage return character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BF17A6F8-488B-914D-8FD5-D0101F59C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7496" y="2850924"/>
              <a:ext cx="21493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line-feed character</a:t>
              </a: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36550CDC-D06A-104F-8EAA-1F14B32B7A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05284" y="3150961"/>
              <a:ext cx="80962" cy="252413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D1DA586-D2C5-594D-BC4F-D63F85BDFA27}"/>
              </a:ext>
            </a:extLst>
          </p:cNvPr>
          <p:cNvGrpSpPr/>
          <p:nvPr/>
        </p:nvGrpSpPr>
        <p:grpSpPr>
          <a:xfrm>
            <a:off x="304572" y="3050979"/>
            <a:ext cx="3691165" cy="830997"/>
            <a:chOff x="304572" y="3050979"/>
            <a:chExt cx="3691165" cy="830997"/>
          </a:xfrm>
        </p:grpSpPr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B6C3DB56-846D-8E43-9453-A014201EC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72" y="3050979"/>
              <a:ext cx="3163155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request line (GET, POST,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HEAD commands)</a:t>
              </a: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EF472D7-7102-3D4F-8FB9-8F68234EDD8D}"/>
                </a:ext>
              </a:extLst>
            </p:cNvPr>
            <p:cNvCxnSpPr>
              <a:cxnSpLocks/>
            </p:cNvCxnSpPr>
            <p:nvPr/>
          </p:nvCxnSpPr>
          <p:spPr>
            <a:xfrm>
              <a:off x="2558822" y="3471412"/>
              <a:ext cx="1436915" cy="0"/>
            </a:xfrm>
            <a:prstGeom prst="straightConnector1">
              <a:avLst/>
            </a:prstGeom>
            <a:ln w="19050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CEE239-9E6A-4845-9F03-74B240F246F8}"/>
              </a:ext>
            </a:extLst>
          </p:cNvPr>
          <p:cNvGrpSpPr/>
          <p:nvPr/>
        </p:nvGrpSpPr>
        <p:grpSpPr>
          <a:xfrm>
            <a:off x="743905" y="5548787"/>
            <a:ext cx="7763054" cy="1145473"/>
            <a:chOff x="743905" y="5548787"/>
            <a:chExt cx="7763054" cy="1145473"/>
          </a:xfrm>
        </p:grpSpPr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6CA9B985-18B2-6347-8689-E6656C025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984" y="5710011"/>
              <a:ext cx="51117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DED6E2F1-61E7-E241-8E2D-ADEC5E8A80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905" y="5548787"/>
              <a:ext cx="2771636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carriage return, line feed at start of line indicates end of header lines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TextBox 1">
              <a:extLst>
                <a:ext uri="{FF2B5EF4-FFF2-40B4-BE49-F238E27FC236}">
                  <a16:creationId xmlns:a16="http://schemas.microsoft.com/office/drawing/2014/main" id="{EF5DEF07-DC95-F343-B9CA-F9BD40638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046" y="6171973"/>
              <a:ext cx="4506913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* Check out the online interactive exercises for more examples: h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ttp://</a:t>
              </a:r>
              <a:r>
                <a:rPr kumimoji="0" lang="en-US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gaia.cs.umass.edu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/</a:t>
              </a:r>
              <a:r>
                <a:rPr kumimoji="0" lang="en-US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kurose_ross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/interactive/</a:t>
              </a:r>
            </a:p>
          </p:txBody>
        </p:sp>
      </p:grpSp>
      <p:sp>
        <p:nvSpPr>
          <p:cNvPr id="5" name="Left Brace 4">
            <a:extLst>
              <a:ext uri="{FF2B5EF4-FFF2-40B4-BE49-F238E27FC236}">
                <a16:creationId xmlns:a16="http://schemas.microsoft.com/office/drawing/2014/main" id="{36B9FB67-1AD8-6146-8926-BFEB803718A3}"/>
              </a:ext>
            </a:extLst>
          </p:cNvPr>
          <p:cNvSpPr/>
          <p:nvPr/>
        </p:nvSpPr>
        <p:spPr>
          <a:xfrm>
            <a:off x="3812583" y="3704095"/>
            <a:ext cx="217442" cy="1797803"/>
          </a:xfrm>
          <a:prstGeom prst="leftBrace">
            <a:avLst/>
          </a:prstGeom>
          <a:ln w="19050">
            <a:solidFill>
              <a:srgbClr val="0000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809E13-4068-2140-8EEF-80CD03B5F69C}"/>
              </a:ext>
            </a:extLst>
          </p:cNvPr>
          <p:cNvSpPr/>
          <p:nvPr/>
        </p:nvSpPr>
        <p:spPr>
          <a:xfrm>
            <a:off x="4019515" y="3331027"/>
            <a:ext cx="6620718" cy="30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Slide Number Placeholder 2">
            <a:extLst>
              <a:ext uri="{FF2B5EF4-FFF2-40B4-BE49-F238E27FC236}">
                <a16:creationId xmlns:a16="http://schemas.microsoft.com/office/drawing/2014/main" id="{C3381709-4DCC-204B-A742-66F4884C7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58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5" grpId="0" animBg="1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HTTP request message: general format</a:t>
            </a:r>
            <a:endParaRPr lang="en-US" sz="4400" dirty="0"/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id="{CAB95007-032C-1849-B460-3E4D66901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4472" y="1752600"/>
            <a:ext cx="1030287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line</a:t>
            </a: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0CB38CB5-45F7-C847-AE71-4F4C5B6FD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709" y="2768600"/>
            <a:ext cx="974725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header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lines</a:t>
            </a: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E645219C-0302-5E46-AE15-64BD65153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5534" y="2338387"/>
            <a:ext cx="346075" cy="181927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CAFB1EEC-4EBF-6E41-B9CB-E4B01F156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2184" y="2287587"/>
            <a:ext cx="290513" cy="2017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009CBE09-CA75-A245-B675-9042959F1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0484" y="4394200"/>
            <a:ext cx="712788" cy="1216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" name="Text Box 16">
            <a:extLst>
              <a:ext uri="{FF2B5EF4-FFF2-40B4-BE49-F238E27FC236}">
                <a16:creationId xmlns:a16="http://schemas.microsoft.com/office/drawing/2014/main" id="{548D8BC5-234B-1340-9AE4-2B7B4CCDF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1297" y="4959350"/>
            <a:ext cx="735012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body</a:t>
            </a:r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id="{8BE22D39-29E3-DB4E-8BB7-B366225B4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934" y="1789112"/>
            <a:ext cx="5638800" cy="44608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" name="Line 22">
            <a:extLst>
              <a:ext uri="{FF2B5EF4-FFF2-40B4-BE49-F238E27FC236}">
                <a16:creationId xmlns:a16="http://schemas.microsoft.com/office/drawing/2014/main" id="{E517253E-A702-9F4B-B692-C2D297AE8C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80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Line 23">
            <a:extLst>
              <a:ext uri="{FF2B5EF4-FFF2-40B4-BE49-F238E27FC236}">
                <a16:creationId xmlns:a16="http://schemas.microsoft.com/office/drawing/2014/main" id="{9A3ED2FB-B252-C14F-B645-419D36E7F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25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Line 24">
            <a:extLst>
              <a:ext uri="{FF2B5EF4-FFF2-40B4-BE49-F238E27FC236}">
                <a16:creationId xmlns:a16="http://schemas.microsoft.com/office/drawing/2014/main" id="{B2B62443-11E1-2B43-9DCA-4AE37C7E4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6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Line 25">
            <a:extLst>
              <a:ext uri="{FF2B5EF4-FFF2-40B4-BE49-F238E27FC236}">
                <a16:creationId xmlns:a16="http://schemas.microsoft.com/office/drawing/2014/main" id="{04CD6AC7-3A8A-D448-ACDB-A1CAAAE458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6084" y="178593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Line 26">
            <a:extLst>
              <a:ext uri="{FF2B5EF4-FFF2-40B4-BE49-F238E27FC236}">
                <a16:creationId xmlns:a16="http://schemas.microsoft.com/office/drawing/2014/main" id="{116D6361-9C6F-384A-940A-DBEE668B1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78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Line 27">
            <a:extLst>
              <a:ext uri="{FF2B5EF4-FFF2-40B4-BE49-F238E27FC236}">
                <a16:creationId xmlns:a16="http://schemas.microsoft.com/office/drawing/2014/main" id="{66F44111-14E6-9047-91A5-35A207202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598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 Box 28">
            <a:extLst>
              <a:ext uri="{FF2B5EF4-FFF2-40B4-BE49-F238E27FC236}">
                <a16:creationId xmlns:a16="http://schemas.microsoft.com/office/drawing/2014/main" id="{101CD148-0CB6-B64C-B622-686BDB7E0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759" y="1816100"/>
            <a:ext cx="1030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method</a:t>
            </a:r>
          </a:p>
        </p:txBody>
      </p:sp>
      <p:sp>
        <p:nvSpPr>
          <p:cNvPr id="36" name="Text Box 29">
            <a:extLst>
              <a:ext uri="{FF2B5EF4-FFF2-40B4-BE49-F238E27FC236}">
                <a16:creationId xmlns:a16="http://schemas.microsoft.com/office/drawing/2014/main" id="{803519B0-4DBB-0446-BBAE-FAAA993CE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809" y="1797050"/>
            <a:ext cx="452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sp</a:t>
            </a:r>
          </a:p>
        </p:txBody>
      </p:sp>
      <p:sp>
        <p:nvSpPr>
          <p:cNvPr id="37" name="Text Box 30">
            <a:extLst>
              <a:ext uri="{FF2B5EF4-FFF2-40B4-BE49-F238E27FC236}">
                <a16:creationId xmlns:a16="http://schemas.microsoft.com/office/drawing/2014/main" id="{2AE14B96-40BF-C44D-B226-47487039E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1109" y="1803400"/>
            <a:ext cx="452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sp</a:t>
            </a:r>
          </a:p>
        </p:txBody>
      </p:sp>
      <p:sp>
        <p:nvSpPr>
          <p:cNvPr id="38" name="Text Box 31">
            <a:extLst>
              <a:ext uri="{FF2B5EF4-FFF2-40B4-BE49-F238E27FC236}">
                <a16:creationId xmlns:a16="http://schemas.microsoft.com/office/drawing/2014/main" id="{499F11E0-2AAF-FC46-939A-844BDA8F3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709" y="1809750"/>
            <a:ext cx="403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cr</a:t>
            </a:r>
          </a:p>
        </p:txBody>
      </p:sp>
      <p:sp>
        <p:nvSpPr>
          <p:cNvPr id="39" name="Text Box 32">
            <a:extLst>
              <a:ext uri="{FF2B5EF4-FFF2-40B4-BE49-F238E27FC236}">
                <a16:creationId xmlns:a16="http://schemas.microsoft.com/office/drawing/2014/main" id="{74D4C75B-57F6-FC40-A95F-1EA89717E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609" y="1820862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lf</a:t>
            </a:r>
          </a:p>
        </p:txBody>
      </p:sp>
      <p:sp>
        <p:nvSpPr>
          <p:cNvPr id="40" name="Text Box 33">
            <a:extLst>
              <a:ext uri="{FF2B5EF4-FFF2-40B4-BE49-F238E27FC236}">
                <a16:creationId xmlns:a16="http://schemas.microsoft.com/office/drawing/2014/main" id="{D3CF33E6-800C-C34A-9A2F-34E6C60D7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1659" y="1803400"/>
            <a:ext cx="1003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version</a:t>
            </a:r>
          </a:p>
        </p:txBody>
      </p:sp>
      <p:sp>
        <p:nvSpPr>
          <p:cNvPr id="41" name="Text Box 34">
            <a:extLst>
              <a:ext uri="{FF2B5EF4-FFF2-40B4-BE49-F238E27FC236}">
                <a16:creationId xmlns:a16="http://schemas.microsoft.com/office/drawing/2014/main" id="{064EF9BF-C55B-3041-B970-830A38934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6059" y="1816100"/>
            <a:ext cx="693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URL</a:t>
            </a:r>
          </a:p>
        </p:txBody>
      </p:sp>
      <p:grpSp>
        <p:nvGrpSpPr>
          <p:cNvPr id="42" name="Group 45">
            <a:extLst>
              <a:ext uri="{FF2B5EF4-FFF2-40B4-BE49-F238E27FC236}">
                <a16:creationId xmlns:a16="http://schemas.microsoft.com/office/drawing/2014/main" id="{BF6F8085-A891-0844-94E6-578F3AFB50F3}"/>
              </a:ext>
            </a:extLst>
          </p:cNvPr>
          <p:cNvGrpSpPr>
            <a:grpSpLocks/>
          </p:cNvGrpSpPr>
          <p:nvPr/>
        </p:nvGrpSpPr>
        <p:grpSpPr bwMode="auto">
          <a:xfrm>
            <a:off x="2879934" y="2233612"/>
            <a:ext cx="4565650" cy="446088"/>
            <a:chOff x="192" y="1894"/>
            <a:chExt cx="2876" cy="281"/>
          </a:xfrm>
        </p:grpSpPr>
        <p:sp>
          <p:nvSpPr>
            <p:cNvPr id="43" name="Rectangle 35">
              <a:extLst>
                <a:ext uri="{FF2B5EF4-FFF2-40B4-BE49-F238E27FC236}">
                  <a16:creationId xmlns:a16="http://schemas.microsoft.com/office/drawing/2014/main" id="{37CAD855-2626-9B4A-87B5-BBFB2178C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Line 36">
              <a:extLst>
                <a:ext uri="{FF2B5EF4-FFF2-40B4-BE49-F238E27FC236}">
                  <a16:creationId xmlns:a16="http://schemas.microsoft.com/office/drawing/2014/main" id="{3882514C-0ADC-584D-AAA4-E4882A2DE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Line 37">
              <a:extLst>
                <a:ext uri="{FF2B5EF4-FFF2-40B4-BE49-F238E27FC236}">
                  <a16:creationId xmlns:a16="http://schemas.microsoft.com/office/drawing/2014/main" id="{688D6AB7-0894-2D4A-9EE3-CF8BFFA30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Line 39">
              <a:extLst>
                <a:ext uri="{FF2B5EF4-FFF2-40B4-BE49-F238E27FC236}">
                  <a16:creationId xmlns:a16="http://schemas.microsoft.com/office/drawing/2014/main" id="{8B2EC183-EB51-C64D-B126-461EEABB1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Line 40">
              <a:extLst>
                <a:ext uri="{FF2B5EF4-FFF2-40B4-BE49-F238E27FC236}">
                  <a16:creationId xmlns:a16="http://schemas.microsoft.com/office/drawing/2014/main" id="{4DE50D57-00F5-134E-8F40-FDF964831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Text Box 41">
              <a:extLst>
                <a:ext uri="{FF2B5EF4-FFF2-40B4-BE49-F238E27FC236}">
                  <a16:creationId xmlns:a16="http://schemas.microsoft.com/office/drawing/2014/main" id="{54D07A27-F429-7046-9310-3A09B05FC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</a:t>
              </a:r>
            </a:p>
          </p:txBody>
        </p:sp>
        <p:sp>
          <p:nvSpPr>
            <p:cNvPr id="49" name="Text Box 42">
              <a:extLst>
                <a:ext uri="{FF2B5EF4-FFF2-40B4-BE49-F238E27FC236}">
                  <a16:creationId xmlns:a16="http://schemas.microsoft.com/office/drawing/2014/main" id="{C2EDB89B-2549-D34E-89E0-D083A1B07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lf</a:t>
              </a:r>
            </a:p>
          </p:txBody>
        </p:sp>
        <p:sp>
          <p:nvSpPr>
            <p:cNvPr id="50" name="Text Box 43">
              <a:extLst>
                <a:ext uri="{FF2B5EF4-FFF2-40B4-BE49-F238E27FC236}">
                  <a16:creationId xmlns:a16="http://schemas.microsoft.com/office/drawing/2014/main" id="{C7C20190-6015-D24C-8172-D12AE7AC2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</a:t>
              </a:r>
            </a:p>
          </p:txBody>
        </p:sp>
        <p:sp>
          <p:nvSpPr>
            <p:cNvPr id="51" name="Text Box 44">
              <a:extLst>
                <a:ext uri="{FF2B5EF4-FFF2-40B4-BE49-F238E27FC236}">
                  <a16:creationId xmlns:a16="http://schemas.microsoft.com/office/drawing/2014/main" id="{9D74CC94-6309-9D4E-AC17-7834303D29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 field name</a:t>
              </a:r>
            </a:p>
          </p:txBody>
        </p:sp>
      </p:grpSp>
      <p:grpSp>
        <p:nvGrpSpPr>
          <p:cNvPr id="52" name="Group 46">
            <a:extLst>
              <a:ext uri="{FF2B5EF4-FFF2-40B4-BE49-F238E27FC236}">
                <a16:creationId xmlns:a16="http://schemas.microsoft.com/office/drawing/2014/main" id="{F763EEE1-8E7B-574B-9B12-C02141AD6CEE}"/>
              </a:ext>
            </a:extLst>
          </p:cNvPr>
          <p:cNvGrpSpPr>
            <a:grpSpLocks/>
          </p:cNvGrpSpPr>
          <p:nvPr/>
        </p:nvGrpSpPr>
        <p:grpSpPr bwMode="auto">
          <a:xfrm>
            <a:off x="2876759" y="3709987"/>
            <a:ext cx="4565650" cy="446088"/>
            <a:chOff x="192" y="1894"/>
            <a:chExt cx="2876" cy="281"/>
          </a:xfrm>
        </p:grpSpPr>
        <p:sp>
          <p:nvSpPr>
            <p:cNvPr id="53" name="Rectangle 47">
              <a:extLst>
                <a:ext uri="{FF2B5EF4-FFF2-40B4-BE49-F238E27FC236}">
                  <a16:creationId xmlns:a16="http://schemas.microsoft.com/office/drawing/2014/main" id="{03037660-A975-AC41-9666-AFCCB3A0B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" name="Line 48">
              <a:extLst>
                <a:ext uri="{FF2B5EF4-FFF2-40B4-BE49-F238E27FC236}">
                  <a16:creationId xmlns:a16="http://schemas.microsoft.com/office/drawing/2014/main" id="{7DAB01D5-4A4C-0848-8E97-EACA6A36C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Line 49">
              <a:extLst>
                <a:ext uri="{FF2B5EF4-FFF2-40B4-BE49-F238E27FC236}">
                  <a16:creationId xmlns:a16="http://schemas.microsoft.com/office/drawing/2014/main" id="{12F13F26-AF12-FB44-9B51-D0B6944C6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Line 50">
              <a:extLst>
                <a:ext uri="{FF2B5EF4-FFF2-40B4-BE49-F238E27FC236}">
                  <a16:creationId xmlns:a16="http://schemas.microsoft.com/office/drawing/2014/main" id="{781CA89B-E86B-F843-A1BF-431E56792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Line 51">
              <a:extLst>
                <a:ext uri="{FF2B5EF4-FFF2-40B4-BE49-F238E27FC236}">
                  <a16:creationId xmlns:a16="http://schemas.microsoft.com/office/drawing/2014/main" id="{74911CA3-EBEB-B142-B4CE-F45E57712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Text Box 52">
              <a:extLst>
                <a:ext uri="{FF2B5EF4-FFF2-40B4-BE49-F238E27FC236}">
                  <a16:creationId xmlns:a16="http://schemas.microsoft.com/office/drawing/2014/main" id="{D0CB791B-5400-C244-A515-F158CF9A2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</a:t>
              </a:r>
            </a:p>
          </p:txBody>
        </p:sp>
        <p:sp>
          <p:nvSpPr>
            <p:cNvPr id="59" name="Text Box 53">
              <a:extLst>
                <a:ext uri="{FF2B5EF4-FFF2-40B4-BE49-F238E27FC236}">
                  <a16:creationId xmlns:a16="http://schemas.microsoft.com/office/drawing/2014/main" id="{E5D6E821-F80C-7046-BF97-7FA229C97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lf</a:t>
              </a:r>
            </a:p>
          </p:txBody>
        </p:sp>
        <p:sp>
          <p:nvSpPr>
            <p:cNvPr id="60" name="Text Box 54">
              <a:extLst>
                <a:ext uri="{FF2B5EF4-FFF2-40B4-BE49-F238E27FC236}">
                  <a16:creationId xmlns:a16="http://schemas.microsoft.com/office/drawing/2014/main" id="{5F6B0327-AD11-4545-B4F6-735084B85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</a:t>
              </a:r>
            </a:p>
          </p:txBody>
        </p:sp>
        <p:sp>
          <p:nvSpPr>
            <p:cNvPr id="61" name="Text Box 55">
              <a:extLst>
                <a:ext uri="{FF2B5EF4-FFF2-40B4-BE49-F238E27FC236}">
                  <a16:creationId xmlns:a16="http://schemas.microsoft.com/office/drawing/2014/main" id="{95580CF6-5A42-2640-82F1-B4775A071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 field name</a:t>
              </a:r>
            </a:p>
          </p:txBody>
        </p:sp>
      </p:grpSp>
      <p:sp>
        <p:nvSpPr>
          <p:cNvPr id="62" name="Line 56">
            <a:extLst>
              <a:ext uri="{FF2B5EF4-FFF2-40B4-BE49-F238E27FC236}">
                <a16:creationId xmlns:a16="http://schemas.microsoft.com/office/drawing/2014/main" id="{923CEA11-D6DF-1C46-A3A4-FD9F81E7CB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9934" y="2681287"/>
            <a:ext cx="0" cy="104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3" name="Group 61">
            <a:extLst>
              <a:ext uri="{FF2B5EF4-FFF2-40B4-BE49-F238E27FC236}">
                <a16:creationId xmlns:a16="http://schemas.microsoft.com/office/drawing/2014/main" id="{331FDA17-3586-0A4D-9D97-B7C360855EC7}"/>
              </a:ext>
            </a:extLst>
          </p:cNvPr>
          <p:cNvGrpSpPr>
            <a:grpSpLocks/>
          </p:cNvGrpSpPr>
          <p:nvPr/>
        </p:nvGrpSpPr>
        <p:grpSpPr bwMode="auto">
          <a:xfrm>
            <a:off x="2711659" y="2905125"/>
            <a:ext cx="331788" cy="461962"/>
            <a:chOff x="462" y="1727"/>
            <a:chExt cx="209" cy="291"/>
          </a:xfrm>
        </p:grpSpPr>
        <p:sp>
          <p:nvSpPr>
            <p:cNvPr id="64" name="Rectangle 59">
              <a:extLst>
                <a:ext uri="{FF2B5EF4-FFF2-40B4-BE49-F238E27FC236}">
                  <a16:creationId xmlns:a16="http://schemas.microsoft.com/office/drawing/2014/main" id="{C1850415-E4E6-744B-A59A-4CBBE0004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5" name="Text Box 57">
              <a:extLst>
                <a:ext uri="{FF2B5EF4-FFF2-40B4-BE49-F238E27FC236}">
                  <a16:creationId xmlns:a16="http://schemas.microsoft.com/office/drawing/2014/main" id="{26A802CD-661F-6548-9B20-03447D673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66" name="Text Box 58">
              <a:extLst>
                <a:ext uri="{FF2B5EF4-FFF2-40B4-BE49-F238E27FC236}">
                  <a16:creationId xmlns:a16="http://schemas.microsoft.com/office/drawing/2014/main" id="{5857CADE-C5FA-4D45-86A4-A527BB099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sp>
        <p:nvSpPr>
          <p:cNvPr id="67" name="Line 62">
            <a:extLst>
              <a:ext uri="{FF2B5EF4-FFF2-40B4-BE49-F238E27FC236}">
                <a16:creationId xmlns:a16="http://schemas.microsoft.com/office/drawing/2014/main" id="{4AD99966-51D9-144F-843E-CA57BB5A97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3997" y="2668587"/>
            <a:ext cx="0" cy="104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8" name="Group 63">
            <a:extLst>
              <a:ext uri="{FF2B5EF4-FFF2-40B4-BE49-F238E27FC236}">
                <a16:creationId xmlns:a16="http://schemas.microsoft.com/office/drawing/2014/main" id="{21BE7B05-C0E3-2847-AA19-1D559561D8E0}"/>
              </a:ext>
            </a:extLst>
          </p:cNvPr>
          <p:cNvGrpSpPr>
            <a:grpSpLocks/>
          </p:cNvGrpSpPr>
          <p:nvPr/>
        </p:nvGrpSpPr>
        <p:grpSpPr bwMode="auto">
          <a:xfrm>
            <a:off x="7275722" y="2892425"/>
            <a:ext cx="331787" cy="461962"/>
            <a:chOff x="462" y="1727"/>
            <a:chExt cx="209" cy="291"/>
          </a:xfrm>
        </p:grpSpPr>
        <p:sp>
          <p:nvSpPr>
            <p:cNvPr id="69" name="Rectangle 64">
              <a:extLst>
                <a:ext uri="{FF2B5EF4-FFF2-40B4-BE49-F238E27FC236}">
                  <a16:creationId xmlns:a16="http://schemas.microsoft.com/office/drawing/2014/main" id="{1068B7F8-AE57-0A4E-92E6-32182A78C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Text Box 65">
              <a:extLst>
                <a:ext uri="{FF2B5EF4-FFF2-40B4-BE49-F238E27FC236}">
                  <a16:creationId xmlns:a16="http://schemas.microsoft.com/office/drawing/2014/main" id="{304BAA75-EDF9-3049-8146-D4E3B77D4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71" name="Text Box 66">
              <a:extLst>
                <a:ext uri="{FF2B5EF4-FFF2-40B4-BE49-F238E27FC236}">
                  <a16:creationId xmlns:a16="http://schemas.microsoft.com/office/drawing/2014/main" id="{7B98EC85-B737-7A4A-B367-0CDBC6B02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grpSp>
        <p:nvGrpSpPr>
          <p:cNvPr id="72" name="Group 77">
            <a:extLst>
              <a:ext uri="{FF2B5EF4-FFF2-40B4-BE49-F238E27FC236}">
                <a16:creationId xmlns:a16="http://schemas.microsoft.com/office/drawing/2014/main" id="{3F072947-4F12-CC4D-A114-F6AA680D477F}"/>
              </a:ext>
            </a:extLst>
          </p:cNvPr>
          <p:cNvGrpSpPr>
            <a:grpSpLocks/>
          </p:cNvGrpSpPr>
          <p:nvPr/>
        </p:nvGrpSpPr>
        <p:grpSpPr bwMode="auto">
          <a:xfrm>
            <a:off x="2875172" y="4156075"/>
            <a:ext cx="963612" cy="446087"/>
            <a:chOff x="3105" y="2650"/>
            <a:chExt cx="607" cy="281"/>
          </a:xfrm>
        </p:grpSpPr>
        <p:sp>
          <p:nvSpPr>
            <p:cNvPr id="73" name="Rectangle 68">
              <a:extLst>
                <a:ext uri="{FF2B5EF4-FFF2-40B4-BE49-F238E27FC236}">
                  <a16:creationId xmlns:a16="http://schemas.microsoft.com/office/drawing/2014/main" id="{B30322FD-E3EE-8748-B949-5646BF3FD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5" y="2650"/>
              <a:ext cx="607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Line 72">
              <a:extLst>
                <a:ext uri="{FF2B5EF4-FFF2-40B4-BE49-F238E27FC236}">
                  <a16:creationId xmlns:a16="http://schemas.microsoft.com/office/drawing/2014/main" id="{48E1F9CF-9FEF-5347-B932-F18E52F7D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6" y="2652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5" name="Text Box 73">
              <a:extLst>
                <a:ext uri="{FF2B5EF4-FFF2-40B4-BE49-F238E27FC236}">
                  <a16:creationId xmlns:a16="http://schemas.microsoft.com/office/drawing/2014/main" id="{3F1DCBAA-5080-0B49-ADD4-12FFFAF8A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0" y="2663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</a:t>
              </a:r>
            </a:p>
          </p:txBody>
        </p:sp>
        <p:sp>
          <p:nvSpPr>
            <p:cNvPr id="76" name="Text Box 74">
              <a:extLst>
                <a:ext uri="{FF2B5EF4-FFF2-40B4-BE49-F238E27FC236}">
                  <a16:creationId xmlns:a16="http://schemas.microsoft.com/office/drawing/2014/main" id="{30F8DE49-8702-8242-B74B-8F1C10B8D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6" y="267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lf</a:t>
              </a:r>
            </a:p>
          </p:txBody>
        </p:sp>
      </p:grpSp>
      <p:sp>
        <p:nvSpPr>
          <p:cNvPr id="77" name="Rectangle 78">
            <a:extLst>
              <a:ext uri="{FF2B5EF4-FFF2-40B4-BE49-F238E27FC236}">
                <a16:creationId xmlns:a16="http://schemas.microsoft.com/office/drawing/2014/main" id="{6229F0FB-98BB-B944-85C4-25A52FBA6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172" y="4603750"/>
            <a:ext cx="5170487" cy="1120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8" name="Text Box 80">
            <a:extLst>
              <a:ext uri="{FF2B5EF4-FFF2-40B4-BE49-F238E27FC236}">
                <a16:creationId xmlns:a16="http://schemas.microsoft.com/office/drawing/2014/main" id="{15C2EA86-0F4F-3247-A569-CE038874C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1922" y="4927600"/>
            <a:ext cx="1411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entity body</a:t>
            </a:r>
          </a:p>
        </p:txBody>
      </p:sp>
      <p:grpSp>
        <p:nvGrpSpPr>
          <p:cNvPr id="79" name="Group 81">
            <a:extLst>
              <a:ext uri="{FF2B5EF4-FFF2-40B4-BE49-F238E27FC236}">
                <a16:creationId xmlns:a16="http://schemas.microsoft.com/office/drawing/2014/main" id="{FBD71B37-ADDE-7A46-9420-5D7F558DE36A}"/>
              </a:ext>
            </a:extLst>
          </p:cNvPr>
          <p:cNvGrpSpPr>
            <a:grpSpLocks/>
          </p:cNvGrpSpPr>
          <p:nvPr/>
        </p:nvGrpSpPr>
        <p:grpSpPr bwMode="auto">
          <a:xfrm>
            <a:off x="2711659" y="4941887"/>
            <a:ext cx="331788" cy="461963"/>
            <a:chOff x="462" y="1727"/>
            <a:chExt cx="209" cy="291"/>
          </a:xfrm>
        </p:grpSpPr>
        <p:sp>
          <p:nvSpPr>
            <p:cNvPr id="80" name="Rectangle 82">
              <a:extLst>
                <a:ext uri="{FF2B5EF4-FFF2-40B4-BE49-F238E27FC236}">
                  <a16:creationId xmlns:a16="http://schemas.microsoft.com/office/drawing/2014/main" id="{EB685F5D-49A7-714D-B0CE-A681FE471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Text Box 83">
              <a:extLst>
                <a:ext uri="{FF2B5EF4-FFF2-40B4-BE49-F238E27FC236}">
                  <a16:creationId xmlns:a16="http://schemas.microsoft.com/office/drawing/2014/main" id="{F39503FA-5AF7-1343-97ED-74063A1F12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82" name="Text Box 84">
              <a:extLst>
                <a:ext uri="{FF2B5EF4-FFF2-40B4-BE49-F238E27FC236}">
                  <a16:creationId xmlns:a16="http://schemas.microsoft.com/office/drawing/2014/main" id="{65445F71-0392-1545-8E73-EFFA475F7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grpSp>
        <p:nvGrpSpPr>
          <p:cNvPr id="83" name="Group 85">
            <a:extLst>
              <a:ext uri="{FF2B5EF4-FFF2-40B4-BE49-F238E27FC236}">
                <a16:creationId xmlns:a16="http://schemas.microsoft.com/office/drawing/2014/main" id="{948FB213-CBD1-754F-9A31-92B73ABB091D}"/>
              </a:ext>
            </a:extLst>
          </p:cNvPr>
          <p:cNvGrpSpPr>
            <a:grpSpLocks/>
          </p:cNvGrpSpPr>
          <p:nvPr/>
        </p:nvGrpSpPr>
        <p:grpSpPr bwMode="auto">
          <a:xfrm>
            <a:off x="7871034" y="4932362"/>
            <a:ext cx="331788" cy="461963"/>
            <a:chOff x="462" y="1727"/>
            <a:chExt cx="209" cy="291"/>
          </a:xfrm>
        </p:grpSpPr>
        <p:sp>
          <p:nvSpPr>
            <p:cNvPr id="84" name="Rectangle 86">
              <a:extLst>
                <a:ext uri="{FF2B5EF4-FFF2-40B4-BE49-F238E27FC236}">
                  <a16:creationId xmlns:a16="http://schemas.microsoft.com/office/drawing/2014/main" id="{2099BE28-2CBD-FA47-A576-86B1CF474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Text Box 87">
              <a:extLst>
                <a:ext uri="{FF2B5EF4-FFF2-40B4-BE49-F238E27FC236}">
                  <a16:creationId xmlns:a16="http://schemas.microsoft.com/office/drawing/2014/main" id="{94AB5515-CA17-A64C-8C42-F07410243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86" name="Text Box 88">
              <a:extLst>
                <a:ext uri="{FF2B5EF4-FFF2-40B4-BE49-F238E27FC236}">
                  <a16:creationId xmlns:a16="http://schemas.microsoft.com/office/drawing/2014/main" id="{157CE15D-905D-5B44-91B2-249371FA4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sp>
        <p:nvSpPr>
          <p:cNvPr id="87" name="Slide Number Placeholder 2">
            <a:extLst>
              <a:ext uri="{FF2B5EF4-FFF2-40B4-BE49-F238E27FC236}">
                <a16:creationId xmlns:a16="http://schemas.microsoft.com/office/drawing/2014/main" id="{09896B4E-767E-074F-8EDA-CDA62F290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3659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Other HTTP request </a:t>
            </a:r>
            <a:r>
              <a:rPr lang="en-US" altLang="en-US" dirty="0">
                <a:ea typeface="ＭＳ Ｐゴシック" panose="020B0600070205080204" pitchFamily="34" charset="-128"/>
              </a:rPr>
              <a:t>m</a:t>
            </a:r>
            <a:r>
              <a:rPr lang="en-US" altLang="en-US" sz="4400" dirty="0">
                <a:ea typeface="ＭＳ Ｐゴシック" panose="020B0600070205080204" pitchFamily="34" charset="-128"/>
              </a:rPr>
              <a:t>essages</a:t>
            </a:r>
            <a:endParaRPr lang="en-US" sz="4400" dirty="0"/>
          </a:p>
        </p:txBody>
      </p:sp>
      <p:sp>
        <p:nvSpPr>
          <p:cNvPr id="87" name="Rectangle 3">
            <a:extLst>
              <a:ext uri="{FF2B5EF4-FFF2-40B4-BE49-F238E27FC236}">
                <a16:creationId xmlns:a16="http://schemas.microsoft.com/office/drawing/2014/main" id="{25316CA5-99B5-7F45-AFB7-B3A2CBFABDDC}"/>
              </a:ext>
            </a:extLst>
          </p:cNvPr>
          <p:cNvSpPr txBox="1">
            <a:spLocks noChangeArrowheads="1"/>
          </p:cNvSpPr>
          <p:nvPr/>
        </p:nvSpPr>
        <p:spPr>
          <a:xfrm>
            <a:off x="685573" y="1727394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POST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web page often includes form input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input sent from client to server in entity body of HTTP POST request message</a:t>
            </a: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EC7D421B-4EDF-C343-AB2D-4624467F5415}"/>
              </a:ext>
            </a:extLst>
          </p:cNvPr>
          <p:cNvSpPr txBox="1">
            <a:spLocks noChangeArrowheads="1"/>
          </p:cNvSpPr>
          <p:nvPr/>
        </p:nvSpPr>
        <p:spPr>
          <a:xfrm>
            <a:off x="685573" y="4466964"/>
            <a:ext cx="5541055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method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(for sending data to server):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include user data in URL field of HTTP GET request message (following a ‘?’):</a:t>
            </a:r>
          </a:p>
        </p:txBody>
      </p:sp>
      <p:sp>
        <p:nvSpPr>
          <p:cNvPr id="89" name="Text Box 5">
            <a:extLst>
              <a:ext uri="{FF2B5EF4-FFF2-40B4-BE49-F238E27FC236}">
                <a16:creationId xmlns:a16="http://schemas.microsoft.com/office/drawing/2014/main" id="{B785588B-2DEA-474F-89CA-2613413F7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2" y="5806133"/>
            <a:ext cx="6280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www.somesite.com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animalsearch?monkeys&amp;banana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0" name="Rectangle 3">
            <a:extLst>
              <a:ext uri="{FF2B5EF4-FFF2-40B4-BE49-F238E27FC236}">
                <a16:creationId xmlns:a16="http://schemas.microsoft.com/office/drawing/2014/main" id="{F9FB5262-4D63-A149-A391-3CDD424427AC}"/>
              </a:ext>
            </a:extLst>
          </p:cNvPr>
          <p:cNvSpPr txBox="1">
            <a:spLocks noChangeArrowheads="1"/>
          </p:cNvSpPr>
          <p:nvPr/>
        </p:nvSpPr>
        <p:spPr>
          <a:xfrm>
            <a:off x="6991758" y="1752600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HEAD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requests headers (only) that would be returned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specified URL were requested  with an HTTP GET method. </a:t>
            </a: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2D3C6453-B336-C04B-8A91-4E7D3B632FEB}"/>
              </a:ext>
            </a:extLst>
          </p:cNvPr>
          <p:cNvSpPr txBox="1">
            <a:spLocks noChangeArrowheads="1"/>
          </p:cNvSpPr>
          <p:nvPr/>
        </p:nvSpPr>
        <p:spPr>
          <a:xfrm>
            <a:off x="6993371" y="3839527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PUT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uploads new file (object) to server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completely replaces file that exists at specified URL with content in entity body of POST HTTP request message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0C538BA-1C71-0F4D-B753-A7D597D98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24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HTTP response </a:t>
            </a:r>
            <a:r>
              <a:rPr lang="en-US" altLang="en-US" dirty="0">
                <a:ea typeface="ＭＳ Ｐゴシック" panose="020B0600070205080204" pitchFamily="34" charset="-128"/>
              </a:rPr>
              <a:t>m</a:t>
            </a:r>
            <a:r>
              <a:rPr lang="en-US" altLang="en-US" sz="4400" dirty="0">
                <a:ea typeface="ＭＳ Ｐゴシック" panose="020B0600070205080204" pitchFamily="34" charset="-128"/>
              </a:rPr>
              <a:t>essage</a:t>
            </a:r>
            <a:endParaRPr lang="en-US" sz="4400" dirty="0"/>
          </a:p>
        </p:txBody>
      </p:sp>
      <p:sp>
        <p:nvSpPr>
          <p:cNvPr id="87" name="Text Box 5">
            <a:extLst>
              <a:ext uri="{FF2B5EF4-FFF2-40B4-BE49-F238E27FC236}">
                <a16:creationId xmlns:a16="http://schemas.microsoft.com/office/drawing/2014/main" id="{A994AECC-DC16-7847-B8EE-F2F612ABB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630" y="1555730"/>
            <a:ext cx="40561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status line (protocol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status code status phrase)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0" name="Text Box 8">
            <a:extLst>
              <a:ext uri="{FF2B5EF4-FFF2-40B4-BE49-F238E27FC236}">
                <a16:creationId xmlns:a16="http://schemas.microsoft.com/office/drawing/2014/main" id="{9695B2A1-768B-CE41-87A1-8D564F953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618" y="2984961"/>
            <a:ext cx="10711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header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lines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10">
            <a:extLst>
              <a:ext uri="{FF2B5EF4-FFF2-40B4-BE49-F238E27FC236}">
                <a16:creationId xmlns:a16="http://schemas.microsoft.com/office/drawing/2014/main" id="{71D3CD43-9088-2144-992C-3A77F783A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397" y="4607159"/>
            <a:ext cx="36028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data, e.g.,  requested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HTML file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3" name="Rectangle 15">
            <a:extLst>
              <a:ext uri="{FF2B5EF4-FFF2-40B4-BE49-F238E27FC236}">
                <a16:creationId xmlns:a16="http://schemas.microsoft.com/office/drawing/2014/main" id="{AE1D96B5-48F4-B842-9424-43BC570F6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1481" y="1710879"/>
            <a:ext cx="6311900" cy="3490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HTTP/1.1 200 OK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Date: Tue, 08 Sep 2020 00:53:20 GMT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Server: Apache/2.4.6 (CentOS) OpenSSL/1.0.2k-fips PHP/7.4.9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mod_perl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/2.0.11 Perl/v5.16.3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Last-Modified: Tue, 01 Mar 2016 18:57:50 GMT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ETag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: "a5b-52d015789ee9e"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Accept-Ranges: bytes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Content-Length: 2651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Content-Type: text/html; charset=UTF-8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data data data data data ... 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1248C33-8978-FA4A-B68D-07F7345C9C4D}"/>
              </a:ext>
            </a:extLst>
          </p:cNvPr>
          <p:cNvCxnSpPr>
            <a:cxnSpLocks/>
          </p:cNvCxnSpPr>
          <p:nvPr/>
        </p:nvCxnSpPr>
        <p:spPr>
          <a:xfrm>
            <a:off x="3593872" y="1845820"/>
            <a:ext cx="1436915" cy="0"/>
          </a:xfrm>
          <a:prstGeom prst="straightConnector1">
            <a:avLst/>
          </a:prstGeom>
          <a:ln w="19050">
            <a:solidFill>
              <a:srgbClr val="0000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1C1D39C-E830-C840-962A-5EF5A5C89548}"/>
              </a:ext>
            </a:extLst>
          </p:cNvPr>
          <p:cNvCxnSpPr>
            <a:cxnSpLocks/>
          </p:cNvCxnSpPr>
          <p:nvPr/>
        </p:nvCxnSpPr>
        <p:spPr>
          <a:xfrm>
            <a:off x="3642857" y="4850277"/>
            <a:ext cx="1436915" cy="0"/>
          </a:xfrm>
          <a:prstGeom prst="straightConnector1">
            <a:avLst/>
          </a:prstGeom>
          <a:ln w="19050">
            <a:solidFill>
              <a:srgbClr val="0000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Left Brace 2">
            <a:extLst>
              <a:ext uri="{FF2B5EF4-FFF2-40B4-BE49-F238E27FC236}">
                <a16:creationId xmlns:a16="http://schemas.microsoft.com/office/drawing/2014/main" id="{7B4A04F6-6325-3B46-B996-B1257F5CC1D8}"/>
              </a:ext>
            </a:extLst>
          </p:cNvPr>
          <p:cNvSpPr/>
          <p:nvPr/>
        </p:nvSpPr>
        <p:spPr>
          <a:xfrm>
            <a:off x="4963885" y="2057400"/>
            <a:ext cx="261258" cy="2694214"/>
          </a:xfrm>
          <a:prstGeom prst="leftBrace">
            <a:avLst/>
          </a:prstGeom>
          <a:ln w="22225">
            <a:solidFill>
              <a:srgbClr val="0000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1A72BEEE-6164-8340-B1FC-05E6C79CF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8900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HTTP response </a:t>
            </a:r>
            <a:r>
              <a:rPr lang="en-US" altLang="en-US" dirty="0">
                <a:ea typeface="ＭＳ Ｐゴシック" panose="020B0600070205080204" pitchFamily="34" charset="-128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</a:rPr>
              <a:t>tatus </a:t>
            </a:r>
            <a:r>
              <a:rPr lang="en-US" altLang="en-US" dirty="0">
                <a:ea typeface="ＭＳ Ｐゴシック" panose="020B0600070205080204" pitchFamily="34" charset="-128"/>
              </a:rPr>
              <a:t>c</a:t>
            </a:r>
            <a:r>
              <a:rPr lang="en-US" altLang="en-US" sz="4400" dirty="0">
                <a:ea typeface="ＭＳ Ｐゴシック" panose="020B0600070205080204" pitchFamily="34" charset="-128"/>
              </a:rPr>
              <a:t>odes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7D9FAF8-ACB6-2648-AF49-4F1CA2DD361E}"/>
              </a:ext>
            </a:extLst>
          </p:cNvPr>
          <p:cNvSpPr txBox="1">
            <a:spLocks noChangeArrowheads="1"/>
          </p:cNvSpPr>
          <p:nvPr/>
        </p:nvSpPr>
        <p:spPr>
          <a:xfrm>
            <a:off x="1179871" y="2274314"/>
            <a:ext cx="10678300" cy="41687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200 OK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succeeded, requested object later in this message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301 Moved Permanently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requested object moved, new location specified later in this message (in Location: field)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400 Bad Request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msg not understood by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404 Not Found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requested document not found on this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505 HTTP Version Not Supported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8C98F9E3-E57A-7844-89F3-A6331B046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91" y="1325562"/>
            <a:ext cx="1085628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0838" indent="-350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0838" marR="0" lvl="0" indent="-350838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status code appears in 1st line in server-to-client response message.</a:t>
            </a:r>
          </a:p>
          <a:p>
            <a:pPr marL="350838" marR="0" lvl="0" indent="-350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some sample codes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: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F3EBF3D-1991-B942-BC94-7A161F525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515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Trying out HTTP (client side) for yourself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4162CB5-536A-4D40-94FC-6A99B52D37CF}"/>
              </a:ext>
            </a:extLst>
          </p:cNvPr>
          <p:cNvSpPr txBox="1">
            <a:spLocks noChangeArrowheads="1"/>
          </p:cNvSpPr>
          <p:nvPr/>
        </p:nvSpPr>
        <p:spPr>
          <a:xfrm>
            <a:off x="579438" y="1474924"/>
            <a:ext cx="8096250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1.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netcat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to your favorite Web server: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5AD8FC5E-7EF6-5D4A-947A-76F9FAC50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8629" y="1884363"/>
            <a:ext cx="6244187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opens TCP connection to port 80 (default HTTP server port)  at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gaia.cs.umass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edu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anything typed in will be sent  to port 80 at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A05D1437-BBD8-714B-ADDF-C3F7DEF74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297" y="1998799"/>
            <a:ext cx="388439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%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-c -v gaia.cs.umass.edu 80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AAC288-3206-534D-929C-FFD2305EC27E}"/>
              </a:ext>
            </a:extLst>
          </p:cNvPr>
          <p:cNvGrpSpPr/>
          <p:nvPr/>
        </p:nvGrpSpPr>
        <p:grpSpPr>
          <a:xfrm>
            <a:off x="711200" y="5286696"/>
            <a:ext cx="8289126" cy="996484"/>
            <a:chOff x="711200" y="5286696"/>
            <a:chExt cx="8289126" cy="99648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06E2A86-603C-764E-9AF8-0B2F20CD2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200" y="5286696"/>
              <a:ext cx="8096250" cy="466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3. look at response message sent by HTTP server!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A3659547-E754-6B44-903F-76BD7A3006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295" y="5821515"/>
              <a:ext cx="79340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(or use Wireshark to look at captured HTTP request/response)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6E12EFF-E52A-B84D-934A-7405FA201329}"/>
              </a:ext>
            </a:extLst>
          </p:cNvPr>
          <p:cNvGrpSpPr/>
          <p:nvPr/>
        </p:nvGrpSpPr>
        <p:grpSpPr>
          <a:xfrm>
            <a:off x="727530" y="3145663"/>
            <a:ext cx="11243449" cy="2045073"/>
            <a:chOff x="727530" y="3145663"/>
            <a:chExt cx="11243449" cy="2045073"/>
          </a:xfrm>
        </p:grpSpPr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CF530C45-E591-C948-8561-E3D1A663C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530" y="3145663"/>
              <a:ext cx="8096250" cy="466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2. type in a GET HTTP request:</a:t>
              </a:r>
            </a:p>
            <a:p>
              <a:pPr marL="1143000" marR="0" lvl="2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44F32261-DA96-6645-A103-A806625BC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8273" y="3748006"/>
              <a:ext cx="741741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GET /</a:t>
              </a:r>
              <a:r>
                <a:rPr kumimoji="0" lang="en-US" alt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kurose_ross</a:t>
              </a: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/interactive/</a:t>
              </a:r>
              <a:r>
                <a:rPr kumimoji="0" lang="en-US" alt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index.php</a:t>
              </a: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 HTTP/1.1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Host: </a:t>
              </a:r>
              <a:r>
                <a:rPr kumimoji="0" lang="en-US" alt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gaia.cs.umass.edu</a:t>
              </a:r>
              <a:endPara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Text Box 5">
              <a:extLst>
                <a:ext uri="{FF2B5EF4-FFF2-40B4-BE49-F238E27FC236}">
                  <a16:creationId xmlns:a16="http://schemas.microsoft.com/office/drawing/2014/main" id="{A5628D90-F44C-0944-B370-D91518878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6792" y="4175073"/>
              <a:ext cx="6244187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by typing this in (hit carriage return twice), you send this minimal (but complete)  GET request to HTTP server</a:t>
              </a:r>
            </a:p>
          </p:txBody>
        </p:sp>
      </p:grp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C4905279-7B20-4F4C-AC34-18EB5C18F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42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635EFC9-A521-0240-B257-CD458B330808}"/>
              </a:ext>
            </a:extLst>
          </p:cNvPr>
          <p:cNvSpPr txBox="1">
            <a:spLocks noChangeArrowheads="1"/>
          </p:cNvSpPr>
          <p:nvPr/>
        </p:nvSpPr>
        <p:spPr>
          <a:xfrm>
            <a:off x="751523" y="1368109"/>
            <a:ext cx="5877880" cy="483674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Recall:  HTTP GET/response interaction is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stateless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notion of multi-step exchanges of HTTP messages to complete a Web “transaction”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need for client/server to track “state” of multi-step exchange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all HTTP requests are independent of each other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need for client/server to “recover” from a partially-completed-but-never-completely-completed transaction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1F961A-6387-0345-9591-6D8E9EDB9801}"/>
              </a:ext>
            </a:extLst>
          </p:cNvPr>
          <p:cNvSpPr txBox="1"/>
          <p:nvPr/>
        </p:nvSpPr>
        <p:spPr>
          <a:xfrm>
            <a:off x="7777183" y="1266045"/>
            <a:ext cx="3347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stateful protocol: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 makes two changes to X, or none at all</a:t>
            </a: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E1896121-77D8-FD42-BC74-F51FD18D8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1743" y="2818375"/>
            <a:ext cx="0" cy="28321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7668C468-5627-F641-A1D5-CCCD71D47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2430" y="2812025"/>
            <a:ext cx="0" cy="2881312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 Box 37">
            <a:extLst>
              <a:ext uri="{FF2B5EF4-FFF2-40B4-BE49-F238E27FC236}">
                <a16:creationId xmlns:a16="http://schemas.microsoft.com/office/drawing/2014/main" id="{4D29A06D-1A18-BA46-8999-A8C319B06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318" y="5664762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35" name="Text Box 38">
            <a:extLst>
              <a:ext uri="{FF2B5EF4-FFF2-40B4-BE49-F238E27FC236}">
                <a16:creationId xmlns:a16="http://schemas.microsoft.com/office/drawing/2014/main" id="{27466D26-729A-A04F-8FFC-34F73F8EF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4305" y="5647300"/>
            <a:ext cx="5196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grpSp>
        <p:nvGrpSpPr>
          <p:cNvPr id="36" name="Group 43">
            <a:extLst>
              <a:ext uri="{FF2B5EF4-FFF2-40B4-BE49-F238E27FC236}">
                <a16:creationId xmlns:a16="http://schemas.microsoft.com/office/drawing/2014/main" id="{FAE9785A-4169-E940-B94F-671A4AB9F406}"/>
              </a:ext>
            </a:extLst>
          </p:cNvPr>
          <p:cNvGrpSpPr>
            <a:grpSpLocks/>
          </p:cNvGrpSpPr>
          <p:nvPr/>
        </p:nvGrpSpPr>
        <p:grpSpPr bwMode="auto">
          <a:xfrm>
            <a:off x="9702405" y="2045262"/>
            <a:ext cx="423863" cy="684213"/>
            <a:chOff x="4140" y="429"/>
            <a:chExt cx="1425" cy="2396"/>
          </a:xfrm>
        </p:grpSpPr>
        <p:sp>
          <p:nvSpPr>
            <p:cNvPr id="37" name="Freeform 44">
              <a:extLst>
                <a:ext uri="{FF2B5EF4-FFF2-40B4-BE49-F238E27FC236}">
                  <a16:creationId xmlns:a16="http://schemas.microsoft.com/office/drawing/2014/main" id="{6CED6B20-429D-A742-A5A8-C560D2273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Rectangle 45">
              <a:extLst>
                <a:ext uri="{FF2B5EF4-FFF2-40B4-BE49-F238E27FC236}">
                  <a16:creationId xmlns:a16="http://schemas.microsoft.com/office/drawing/2014/main" id="{3217673F-28F2-7F49-B23F-A3ED64A05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" name="Freeform 46">
              <a:extLst>
                <a:ext uri="{FF2B5EF4-FFF2-40B4-BE49-F238E27FC236}">
                  <a16:creationId xmlns:a16="http://schemas.microsoft.com/office/drawing/2014/main" id="{2C8F4947-7476-8140-9308-A091DA125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reeform 47">
              <a:extLst>
                <a:ext uri="{FF2B5EF4-FFF2-40B4-BE49-F238E27FC236}">
                  <a16:creationId xmlns:a16="http://schemas.microsoft.com/office/drawing/2014/main" id="{C324215D-D2F8-D640-866A-AD06AEA38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8">
              <a:extLst>
                <a:ext uri="{FF2B5EF4-FFF2-40B4-BE49-F238E27FC236}">
                  <a16:creationId xmlns:a16="http://schemas.microsoft.com/office/drawing/2014/main" id="{AF16B93D-625D-BF47-B9C3-3122406F6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2" name="Group 49">
              <a:extLst>
                <a:ext uri="{FF2B5EF4-FFF2-40B4-BE49-F238E27FC236}">
                  <a16:creationId xmlns:a16="http://schemas.microsoft.com/office/drawing/2014/main" id="{E5823F1D-E46B-E542-BA9A-BE7B2ADB2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7" name="AutoShape 50">
                <a:extLst>
                  <a:ext uri="{FF2B5EF4-FFF2-40B4-BE49-F238E27FC236}">
                    <a16:creationId xmlns:a16="http://schemas.microsoft.com/office/drawing/2014/main" id="{5EDFB4BA-9ECC-1D4B-9DE1-6892D81BD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8" name="AutoShape 51">
                <a:extLst>
                  <a:ext uri="{FF2B5EF4-FFF2-40B4-BE49-F238E27FC236}">
                    <a16:creationId xmlns:a16="http://schemas.microsoft.com/office/drawing/2014/main" id="{322B0365-5AB5-FB41-8CFB-D0A89CDC6C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" name="Rectangle 52">
              <a:extLst>
                <a:ext uri="{FF2B5EF4-FFF2-40B4-BE49-F238E27FC236}">
                  <a16:creationId xmlns:a16="http://schemas.microsoft.com/office/drawing/2014/main" id="{29C26A51-8119-1C45-B765-0A6FDC420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" name="Group 53">
              <a:extLst>
                <a:ext uri="{FF2B5EF4-FFF2-40B4-BE49-F238E27FC236}">
                  <a16:creationId xmlns:a16="http://schemas.microsoft.com/office/drawing/2014/main" id="{A0E07450-02B5-944A-993E-ED4E720D6C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5" name="AutoShape 54">
                <a:extLst>
                  <a:ext uri="{FF2B5EF4-FFF2-40B4-BE49-F238E27FC236}">
                    <a16:creationId xmlns:a16="http://schemas.microsoft.com/office/drawing/2014/main" id="{B895EECE-8814-364B-ABEF-BDFDB5B69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6" name="AutoShape 55">
                <a:extLst>
                  <a:ext uri="{FF2B5EF4-FFF2-40B4-BE49-F238E27FC236}">
                    <a16:creationId xmlns:a16="http://schemas.microsoft.com/office/drawing/2014/main" id="{19862CEA-43CD-F949-9939-14C77DA0F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5" name="Rectangle 56">
              <a:extLst>
                <a:ext uri="{FF2B5EF4-FFF2-40B4-BE49-F238E27FC236}">
                  <a16:creationId xmlns:a16="http://schemas.microsoft.com/office/drawing/2014/main" id="{AF3B098B-3C77-8047-942A-938B768EC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Rectangle 57">
              <a:extLst>
                <a:ext uri="{FF2B5EF4-FFF2-40B4-BE49-F238E27FC236}">
                  <a16:creationId xmlns:a16="http://schemas.microsoft.com/office/drawing/2014/main" id="{B55EF1A5-9C91-874D-A21C-9283813B9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7" name="Group 58">
              <a:extLst>
                <a:ext uri="{FF2B5EF4-FFF2-40B4-BE49-F238E27FC236}">
                  <a16:creationId xmlns:a16="http://schemas.microsoft.com/office/drawing/2014/main" id="{4BE447F1-4065-604D-9C52-935316AF90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3" name="AutoShape 59">
                <a:extLst>
                  <a:ext uri="{FF2B5EF4-FFF2-40B4-BE49-F238E27FC236}">
                    <a16:creationId xmlns:a16="http://schemas.microsoft.com/office/drawing/2014/main" id="{B6AF28E0-3DFD-B648-BA8B-C954368CED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4" name="AutoShape 60">
                <a:extLst>
                  <a:ext uri="{FF2B5EF4-FFF2-40B4-BE49-F238E27FC236}">
                    <a16:creationId xmlns:a16="http://schemas.microsoft.com/office/drawing/2014/main" id="{CD352178-7C9F-9247-ADEE-3A9C5EEDD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8" name="Freeform 61">
              <a:extLst>
                <a:ext uri="{FF2B5EF4-FFF2-40B4-BE49-F238E27FC236}">
                  <a16:creationId xmlns:a16="http://schemas.microsoft.com/office/drawing/2014/main" id="{167E2C73-34F7-5443-B80D-3E31BC266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49" name="Group 62">
              <a:extLst>
                <a:ext uri="{FF2B5EF4-FFF2-40B4-BE49-F238E27FC236}">
                  <a16:creationId xmlns:a16="http://schemas.microsoft.com/office/drawing/2014/main" id="{FD3C1C1A-4BE2-8A4D-B7D1-6FE82CCD5E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1" name="AutoShape 63">
                <a:extLst>
                  <a:ext uri="{FF2B5EF4-FFF2-40B4-BE49-F238E27FC236}">
                    <a16:creationId xmlns:a16="http://schemas.microsoft.com/office/drawing/2014/main" id="{37F891D2-79F1-BA40-9E94-2CB7F92C3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2" name="AutoShape 64">
                <a:extLst>
                  <a:ext uri="{FF2B5EF4-FFF2-40B4-BE49-F238E27FC236}">
                    <a16:creationId xmlns:a16="http://schemas.microsoft.com/office/drawing/2014/main" id="{A6F14F93-50F0-1D44-A328-C58C4810E5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0" name="Rectangle 65">
              <a:extLst>
                <a:ext uri="{FF2B5EF4-FFF2-40B4-BE49-F238E27FC236}">
                  <a16:creationId xmlns:a16="http://schemas.microsoft.com/office/drawing/2014/main" id="{002C4B61-E0A4-9947-A2B8-C5E4A183D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Freeform 66">
              <a:extLst>
                <a:ext uri="{FF2B5EF4-FFF2-40B4-BE49-F238E27FC236}">
                  <a16:creationId xmlns:a16="http://schemas.microsoft.com/office/drawing/2014/main" id="{03750C04-4651-264E-A820-846CC991E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Freeform 67">
              <a:extLst>
                <a:ext uri="{FF2B5EF4-FFF2-40B4-BE49-F238E27FC236}">
                  <a16:creationId xmlns:a16="http://schemas.microsoft.com/office/drawing/2014/main" id="{8FAC3F30-F8EF-E042-AB16-84DEBD8CD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Oval 68">
              <a:extLst>
                <a:ext uri="{FF2B5EF4-FFF2-40B4-BE49-F238E27FC236}">
                  <a16:creationId xmlns:a16="http://schemas.microsoft.com/office/drawing/2014/main" id="{0AC7D83A-6568-AE4B-9387-52663F18F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" name="Freeform 69">
              <a:extLst>
                <a:ext uri="{FF2B5EF4-FFF2-40B4-BE49-F238E27FC236}">
                  <a16:creationId xmlns:a16="http://schemas.microsoft.com/office/drawing/2014/main" id="{1F36BF90-AD45-4E43-863B-F7093519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AutoShape 70">
              <a:extLst>
                <a:ext uri="{FF2B5EF4-FFF2-40B4-BE49-F238E27FC236}">
                  <a16:creationId xmlns:a16="http://schemas.microsoft.com/office/drawing/2014/main" id="{F5B54DD4-D0E2-AF41-9405-9DCDB2D7E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6" name="AutoShape 71">
              <a:extLst>
                <a:ext uri="{FF2B5EF4-FFF2-40B4-BE49-F238E27FC236}">
                  <a16:creationId xmlns:a16="http://schemas.microsoft.com/office/drawing/2014/main" id="{23D73537-49F7-C342-B924-696A08B3B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" name="Oval 72">
              <a:extLst>
                <a:ext uri="{FF2B5EF4-FFF2-40B4-BE49-F238E27FC236}">
                  <a16:creationId xmlns:a16="http://schemas.microsoft.com/office/drawing/2014/main" id="{BC45042D-B8F2-A44D-9D8F-FC3BBA5D9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Oval 73">
              <a:extLst>
                <a:ext uri="{FF2B5EF4-FFF2-40B4-BE49-F238E27FC236}">
                  <a16:creationId xmlns:a16="http://schemas.microsoft.com/office/drawing/2014/main" id="{B9F22805-FC3E-6544-AABA-20E89AF95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9" name="Oval 74">
              <a:extLst>
                <a:ext uri="{FF2B5EF4-FFF2-40B4-BE49-F238E27FC236}">
                  <a16:creationId xmlns:a16="http://schemas.microsoft.com/office/drawing/2014/main" id="{EB68854B-BAC2-D941-B3A2-A5819DC3E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" name="Rectangle 75">
              <a:extLst>
                <a:ext uri="{FF2B5EF4-FFF2-40B4-BE49-F238E27FC236}">
                  <a16:creationId xmlns:a16="http://schemas.microsoft.com/office/drawing/2014/main" id="{D02DEB6D-1661-D243-AA4D-D82ACE64A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9" name="Group 76">
            <a:extLst>
              <a:ext uri="{FF2B5EF4-FFF2-40B4-BE49-F238E27FC236}">
                <a16:creationId xmlns:a16="http://schemas.microsoft.com/office/drawing/2014/main" id="{DCF55C78-47F8-BB4D-B7DC-932793317724}"/>
              </a:ext>
            </a:extLst>
          </p:cNvPr>
          <p:cNvGrpSpPr>
            <a:grpSpLocks/>
          </p:cNvGrpSpPr>
          <p:nvPr/>
        </p:nvGrpSpPr>
        <p:grpSpPr bwMode="auto">
          <a:xfrm>
            <a:off x="7700568" y="2067487"/>
            <a:ext cx="698500" cy="709613"/>
            <a:chOff x="-44" y="1473"/>
            <a:chExt cx="981" cy="1105"/>
          </a:xfrm>
        </p:grpSpPr>
        <p:pic>
          <p:nvPicPr>
            <p:cNvPr id="70" name="Picture 77" descr="desktop_computer_stylized_medium">
              <a:extLst>
                <a:ext uri="{FF2B5EF4-FFF2-40B4-BE49-F238E27FC236}">
                  <a16:creationId xmlns:a16="http://schemas.microsoft.com/office/drawing/2014/main" id="{DA88C7F5-3379-274A-B44E-AF12E56C27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78">
              <a:extLst>
                <a:ext uri="{FF2B5EF4-FFF2-40B4-BE49-F238E27FC236}">
                  <a16:creationId xmlns:a16="http://schemas.microsoft.com/office/drawing/2014/main" id="{FAA003F1-DCEB-8040-A71C-4C8DD7155D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2F7DE24-824D-8B4E-BB5F-5FEDF024EC8E}"/>
              </a:ext>
            </a:extLst>
          </p:cNvPr>
          <p:cNvGrpSpPr/>
          <p:nvPr/>
        </p:nvGrpSpPr>
        <p:grpSpPr>
          <a:xfrm>
            <a:off x="8211743" y="3942941"/>
            <a:ext cx="1673225" cy="337184"/>
            <a:chOff x="8211743" y="3942941"/>
            <a:chExt cx="1673225" cy="337184"/>
          </a:xfrm>
        </p:grpSpPr>
        <p:sp>
          <p:nvSpPr>
            <p:cNvPr id="77" name="Line 18">
              <a:extLst>
                <a:ext uri="{FF2B5EF4-FFF2-40B4-BE49-F238E27FC236}">
                  <a16:creationId xmlns:a16="http://schemas.microsoft.com/office/drawing/2014/main" id="{3D07B504-4294-484D-A15A-873F55BFA7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1743" y="3942941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C44DF33-D418-CB41-BFC5-96705F979CCC}"/>
                </a:ext>
              </a:extLst>
            </p:cNvPr>
            <p:cNvSpPr txBox="1"/>
            <p:nvPr/>
          </p:nvSpPr>
          <p:spPr>
            <a:xfrm rot="21106037">
              <a:off x="9382305" y="3972348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C6582D8-E5C3-E94C-91FA-DD082657187F}"/>
              </a:ext>
            </a:extLst>
          </p:cNvPr>
          <p:cNvGrpSpPr/>
          <p:nvPr/>
        </p:nvGrpSpPr>
        <p:grpSpPr>
          <a:xfrm>
            <a:off x="8220565" y="4654247"/>
            <a:ext cx="1673225" cy="307777"/>
            <a:chOff x="8220565" y="4654247"/>
            <a:chExt cx="1673225" cy="307777"/>
          </a:xfrm>
        </p:grpSpPr>
        <p:sp>
          <p:nvSpPr>
            <p:cNvPr id="82" name="Line 18">
              <a:extLst>
                <a:ext uri="{FF2B5EF4-FFF2-40B4-BE49-F238E27FC236}">
                  <a16:creationId xmlns:a16="http://schemas.microsoft.com/office/drawing/2014/main" id="{4C9BF12C-724F-3C4B-9FC7-C0EB274091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20565" y="4655320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F7DB85B-1569-344D-AC0D-B969F2CD0B87}"/>
                </a:ext>
              </a:extLst>
            </p:cNvPr>
            <p:cNvSpPr txBox="1"/>
            <p:nvPr/>
          </p:nvSpPr>
          <p:spPr>
            <a:xfrm rot="21106037">
              <a:off x="9360647" y="4654247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AAF2513-9DD5-1A4B-B41D-1AFE8BDB247D}"/>
              </a:ext>
            </a:extLst>
          </p:cNvPr>
          <p:cNvGrpSpPr/>
          <p:nvPr/>
        </p:nvGrpSpPr>
        <p:grpSpPr>
          <a:xfrm>
            <a:off x="8226030" y="4881121"/>
            <a:ext cx="1684338" cy="344172"/>
            <a:chOff x="8226030" y="4881121"/>
            <a:chExt cx="1684338" cy="344172"/>
          </a:xfrm>
        </p:grpSpPr>
        <p:sp>
          <p:nvSpPr>
            <p:cNvPr id="86" name="Line 17">
              <a:extLst>
                <a:ext uri="{FF2B5EF4-FFF2-40B4-BE49-F238E27FC236}">
                  <a16:creationId xmlns:a16="http://schemas.microsoft.com/office/drawing/2014/main" id="{33143F67-A599-EE4C-988D-1E52584BC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6030" y="4990711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F421034-4844-1843-9EDF-80D2D2191FFC}"/>
                </a:ext>
              </a:extLst>
            </p:cNvPr>
            <p:cNvSpPr txBox="1"/>
            <p:nvPr/>
          </p:nvSpPr>
          <p:spPr>
            <a:xfrm rot="460210">
              <a:off x="8601378" y="4881121"/>
              <a:ext cx="11269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unlock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2E6B42D-EC51-CD42-8E76-639F17FF9C82}"/>
              </a:ext>
            </a:extLst>
          </p:cNvPr>
          <p:cNvGrpSpPr/>
          <p:nvPr/>
        </p:nvGrpSpPr>
        <p:grpSpPr>
          <a:xfrm>
            <a:off x="8211743" y="5253900"/>
            <a:ext cx="1673225" cy="336684"/>
            <a:chOff x="8211743" y="5253900"/>
            <a:chExt cx="1673225" cy="336684"/>
          </a:xfrm>
        </p:grpSpPr>
        <p:sp>
          <p:nvSpPr>
            <p:cNvPr id="87" name="Line 18">
              <a:extLst>
                <a:ext uri="{FF2B5EF4-FFF2-40B4-BE49-F238E27FC236}">
                  <a16:creationId xmlns:a16="http://schemas.microsoft.com/office/drawing/2014/main" id="{981C6A97-493C-1541-8F46-FB6401EE6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1743" y="5253900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E6BC057-143C-EA4C-9758-617A540239BE}"/>
                </a:ext>
              </a:extLst>
            </p:cNvPr>
            <p:cNvSpPr txBox="1"/>
            <p:nvPr/>
          </p:nvSpPr>
          <p:spPr>
            <a:xfrm rot="21106037">
              <a:off x="9373746" y="5282807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12585BB-270F-6343-8338-140BA89C7E52}"/>
              </a:ext>
            </a:extLst>
          </p:cNvPr>
          <p:cNvGrpSpPr/>
          <p:nvPr/>
        </p:nvGrpSpPr>
        <p:grpSpPr>
          <a:xfrm>
            <a:off x="8226030" y="3575737"/>
            <a:ext cx="1696234" cy="338597"/>
            <a:chOff x="8226030" y="3575737"/>
            <a:chExt cx="1696234" cy="338597"/>
          </a:xfrm>
        </p:grpSpPr>
        <p:sp>
          <p:nvSpPr>
            <p:cNvPr id="76" name="Line 17">
              <a:extLst>
                <a:ext uri="{FF2B5EF4-FFF2-40B4-BE49-F238E27FC236}">
                  <a16:creationId xmlns:a16="http://schemas.microsoft.com/office/drawing/2014/main" id="{06976B72-BDF3-7C48-82E3-924EF74F5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6030" y="3679752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7D38CDC-448B-6D46-8D67-92FCAC24452A}"/>
                </a:ext>
              </a:extLst>
            </p:cNvPr>
            <p:cNvSpPr txBox="1"/>
            <p:nvPr/>
          </p:nvSpPr>
          <p:spPr>
            <a:xfrm rot="460210">
              <a:off x="8589335" y="3575737"/>
              <a:ext cx="13329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update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      X’</a:t>
              </a: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196C1467-1B22-FD48-8EA3-AAA9DBA798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31367" y="3750644"/>
              <a:ext cx="221806" cy="28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BE549BD-AAEC-8444-851F-3374194952CD}"/>
              </a:ext>
            </a:extLst>
          </p:cNvPr>
          <p:cNvGrpSpPr/>
          <p:nvPr/>
        </p:nvGrpSpPr>
        <p:grpSpPr>
          <a:xfrm>
            <a:off x="8234852" y="4259764"/>
            <a:ext cx="1684338" cy="366949"/>
            <a:chOff x="8234852" y="4259764"/>
            <a:chExt cx="1684338" cy="366949"/>
          </a:xfrm>
        </p:grpSpPr>
        <p:sp>
          <p:nvSpPr>
            <p:cNvPr id="81" name="Line 17">
              <a:extLst>
                <a:ext uri="{FF2B5EF4-FFF2-40B4-BE49-F238E27FC236}">
                  <a16:creationId xmlns:a16="http://schemas.microsoft.com/office/drawing/2014/main" id="{BD9CD2B5-5BAD-F64E-ABCA-CBF632B90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4852" y="4392131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C94E783-4022-4840-9168-04845DD3C6E1}"/>
                </a:ext>
              </a:extLst>
            </p:cNvPr>
            <p:cNvSpPr txBox="1"/>
            <p:nvPr/>
          </p:nvSpPr>
          <p:spPr>
            <a:xfrm rot="460210">
              <a:off x="8600615" y="4259764"/>
              <a:ext cx="12570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update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      X’’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E91273DD-2DB7-7D46-A38E-BB2C165693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39955" y="4436145"/>
              <a:ext cx="221806" cy="28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7AF7376-17A3-D741-91E5-0D8534607D08}"/>
              </a:ext>
            </a:extLst>
          </p:cNvPr>
          <p:cNvGrpSpPr/>
          <p:nvPr/>
        </p:nvGrpSpPr>
        <p:grpSpPr>
          <a:xfrm>
            <a:off x="8226030" y="2820539"/>
            <a:ext cx="1684338" cy="362594"/>
            <a:chOff x="8226030" y="2820539"/>
            <a:chExt cx="1684338" cy="36259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770E437-30BF-E34D-A36A-B1465B8979C1}"/>
                </a:ext>
              </a:extLst>
            </p:cNvPr>
            <p:cNvSpPr txBox="1"/>
            <p:nvPr/>
          </p:nvSpPr>
          <p:spPr>
            <a:xfrm rot="460210">
              <a:off x="8283881" y="2820539"/>
              <a:ext cx="15606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lock data record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226EF0C1-2237-8E46-AB56-8D689EE5C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6030" y="2948551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D140EC4-5DA8-F040-BC23-C3A90A90AE49}"/>
              </a:ext>
            </a:extLst>
          </p:cNvPr>
          <p:cNvGrpSpPr/>
          <p:nvPr/>
        </p:nvGrpSpPr>
        <p:grpSpPr>
          <a:xfrm>
            <a:off x="8211743" y="3211740"/>
            <a:ext cx="1673225" cy="326272"/>
            <a:chOff x="8211743" y="3211740"/>
            <a:chExt cx="1673225" cy="326272"/>
          </a:xfrm>
        </p:grpSpPr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C78912E7-84E1-824B-B855-60DAC36E52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1743" y="3211740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39CDE70-7C81-BB40-B7E7-D376841A3505}"/>
                </a:ext>
              </a:extLst>
            </p:cNvPr>
            <p:cNvSpPr txBox="1"/>
            <p:nvPr/>
          </p:nvSpPr>
          <p:spPr>
            <a:xfrm rot="21106037">
              <a:off x="9368027" y="3230235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FE3FF41-4F60-4C4F-85AB-4CC4494FF63A}"/>
              </a:ext>
            </a:extLst>
          </p:cNvPr>
          <p:cNvGrpSpPr/>
          <p:nvPr/>
        </p:nvGrpSpPr>
        <p:grpSpPr>
          <a:xfrm>
            <a:off x="10136156" y="2957082"/>
            <a:ext cx="522425" cy="400110"/>
            <a:chOff x="10136156" y="2957082"/>
            <a:chExt cx="522425" cy="400110"/>
          </a:xfrm>
        </p:grpSpPr>
        <p:sp>
          <p:nvSpPr>
            <p:cNvPr id="91" name="AutoShape 327">
              <a:extLst>
                <a:ext uri="{FF2B5EF4-FFF2-40B4-BE49-F238E27FC236}">
                  <a16:creationId xmlns:a16="http://schemas.microsoft.com/office/drawing/2014/main" id="{819E3430-D00B-DE4A-BF76-DA4F707FA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A7AE3A8-B4B7-5D45-9040-2EECD223536E}"/>
                </a:ext>
              </a:extLst>
            </p:cNvPr>
            <p:cNvSpPr txBox="1"/>
            <p:nvPr/>
          </p:nvSpPr>
          <p:spPr>
            <a:xfrm>
              <a:off x="10364121" y="3049415"/>
              <a:ext cx="294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</a:t>
              </a:r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E64171ED-8243-0748-A18D-E9E66AB8C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</p:spPr>
        </p:pic>
      </p:grpSp>
      <p:sp>
        <p:nvSpPr>
          <p:cNvPr id="102" name="AutoShape 327">
            <a:extLst>
              <a:ext uri="{FF2B5EF4-FFF2-40B4-BE49-F238E27FC236}">
                <a16:creationId xmlns:a16="http://schemas.microsoft.com/office/drawing/2014/main" id="{94D2C5FA-36D2-234A-8CDE-D9DE43DC6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7378" y="2195369"/>
            <a:ext cx="510086" cy="400110"/>
          </a:xfrm>
          <a:prstGeom prst="can">
            <a:avLst>
              <a:gd name="adj" fmla="val 31004"/>
            </a:avLst>
          </a:prstGeom>
          <a:gradFill rotWithShape="1">
            <a:gsLst>
              <a:gs pos="0">
                <a:schemeClr val="accent5">
                  <a:lumMod val="75000"/>
                </a:schemeClr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E67923B-2554-D94F-98BF-5970F66E0A80}"/>
              </a:ext>
            </a:extLst>
          </p:cNvPr>
          <p:cNvSpPr txBox="1"/>
          <p:nvPr/>
        </p:nvSpPr>
        <p:spPr>
          <a:xfrm>
            <a:off x="10383166" y="2287702"/>
            <a:ext cx="294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B5B74FE-39C8-5B43-9432-6DE5518154FD}"/>
              </a:ext>
            </a:extLst>
          </p:cNvPr>
          <p:cNvGrpSpPr/>
          <p:nvPr/>
        </p:nvGrpSpPr>
        <p:grpSpPr>
          <a:xfrm>
            <a:off x="10132163" y="3702128"/>
            <a:ext cx="592569" cy="400110"/>
            <a:chOff x="10136156" y="2957082"/>
            <a:chExt cx="592569" cy="400110"/>
          </a:xfrm>
        </p:grpSpPr>
        <p:sp>
          <p:nvSpPr>
            <p:cNvPr id="107" name="AutoShape 327">
              <a:extLst>
                <a:ext uri="{FF2B5EF4-FFF2-40B4-BE49-F238E27FC236}">
                  <a16:creationId xmlns:a16="http://schemas.microsoft.com/office/drawing/2014/main" id="{8B16F450-5DEA-8B45-B210-945CA6750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2167ECA-B9B2-4E40-82B0-9F43976F24FE}"/>
                </a:ext>
              </a:extLst>
            </p:cNvPr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X’</a:t>
              </a:r>
            </a:p>
          </p:txBody>
        </p: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06DE726C-08C5-5346-B762-9B140BCB8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</p:spPr>
        </p:pic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E55A0D6-71A5-1D45-8A52-331867F92A1A}"/>
              </a:ext>
            </a:extLst>
          </p:cNvPr>
          <p:cNvGrpSpPr/>
          <p:nvPr/>
        </p:nvGrpSpPr>
        <p:grpSpPr>
          <a:xfrm>
            <a:off x="10128170" y="4447174"/>
            <a:ext cx="592569" cy="400110"/>
            <a:chOff x="10136156" y="2957082"/>
            <a:chExt cx="592569" cy="400110"/>
          </a:xfrm>
        </p:grpSpPr>
        <p:sp>
          <p:nvSpPr>
            <p:cNvPr id="111" name="AutoShape 327">
              <a:extLst>
                <a:ext uri="{FF2B5EF4-FFF2-40B4-BE49-F238E27FC236}">
                  <a16:creationId xmlns:a16="http://schemas.microsoft.com/office/drawing/2014/main" id="{AD90F81E-B5AA-6341-8460-5E051080A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02956FF-BB8D-6149-9012-24692DD7049D}"/>
                </a:ext>
              </a:extLst>
            </p:cNvPr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X’’</a:t>
              </a:r>
            </a:p>
          </p:txBody>
        </p:sp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7E37BA2D-D932-D14B-9FD2-5FE1BA0B7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</p:spPr>
        </p:pic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EB7CAB0-F376-054D-A184-1987E69E5578}"/>
              </a:ext>
            </a:extLst>
          </p:cNvPr>
          <p:cNvGrpSpPr/>
          <p:nvPr/>
        </p:nvGrpSpPr>
        <p:grpSpPr>
          <a:xfrm>
            <a:off x="10126354" y="5192220"/>
            <a:ext cx="726072" cy="400110"/>
            <a:chOff x="10138333" y="2957082"/>
            <a:chExt cx="726072" cy="400110"/>
          </a:xfrm>
        </p:grpSpPr>
        <p:sp>
          <p:nvSpPr>
            <p:cNvPr id="115" name="AutoShape 327">
              <a:extLst>
                <a:ext uri="{FF2B5EF4-FFF2-40B4-BE49-F238E27FC236}">
                  <a16:creationId xmlns:a16="http://schemas.microsoft.com/office/drawing/2014/main" id="{0D7E10F2-D009-F14B-82D2-F08AB2218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7935EAA-1BE1-5D4A-BB6F-A7C69F071ADD}"/>
                </a:ext>
              </a:extLst>
            </p:cNvPr>
            <p:cNvSpPr txBox="1"/>
            <p:nvPr/>
          </p:nvSpPr>
          <p:spPr>
            <a:xfrm>
              <a:off x="10364121" y="3049415"/>
              <a:ext cx="5002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X’’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6F306746-EF4C-B446-9F1D-1D85D8A99FAC}"/>
              </a:ext>
            </a:extLst>
          </p:cNvPr>
          <p:cNvSpPr txBox="1"/>
          <p:nvPr/>
        </p:nvSpPr>
        <p:spPr>
          <a:xfrm>
            <a:off x="7895870" y="4140346"/>
            <a:ext cx="414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t’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0C0AC55-7635-2346-85C0-10B75BF4C445}"/>
              </a:ext>
            </a:extLst>
          </p:cNvPr>
          <p:cNvSpPr txBox="1"/>
          <p:nvPr/>
        </p:nvSpPr>
        <p:spPr>
          <a:xfrm>
            <a:off x="7384517" y="5969340"/>
            <a:ext cx="411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happens if network connection or client crashes at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t’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90" name="Slide Number Placeholder 2">
            <a:extLst>
              <a:ext uri="{FF2B5EF4-FFF2-40B4-BE49-F238E27FC236}">
                <a16:creationId xmlns:a16="http://schemas.microsoft.com/office/drawing/2014/main" id="{FF729FF4-43F7-A040-B78F-BE4EC8E98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91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93" name="Rectangle 3">
            <a:extLst>
              <a:ext uri="{FF2B5EF4-FFF2-40B4-BE49-F238E27FC236}">
                <a16:creationId xmlns:a16="http://schemas.microsoft.com/office/drawing/2014/main" id="{044314F4-5E29-A342-9469-ED1D194C2BEE}"/>
              </a:ext>
            </a:extLst>
          </p:cNvPr>
          <p:cNvSpPr txBox="1">
            <a:spLocks noChangeArrowheads="1"/>
          </p:cNvSpPr>
          <p:nvPr/>
        </p:nvSpPr>
        <p:spPr>
          <a:xfrm>
            <a:off x="622608" y="1452389"/>
            <a:ext cx="6335547" cy="488791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sites and client browser  use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to maintain some state between transactions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four components: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1) cookie header line of HTTP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message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2) cookie header line in next HTTP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message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3) cookie file kept on user</a:t>
            </a: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 host, managed by user</a:t>
            </a: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 browser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4) back-end database at Web site</a:t>
            </a:r>
          </a:p>
        </p:txBody>
      </p:sp>
      <p:sp>
        <p:nvSpPr>
          <p:cNvPr id="94" name="Rectangle 4">
            <a:extLst>
              <a:ext uri="{FF2B5EF4-FFF2-40B4-BE49-F238E27FC236}">
                <a16:creationId xmlns:a16="http://schemas.microsoft.com/office/drawing/2014/main" id="{26408C84-4366-9C43-B55D-97AC8C9FA33A}"/>
              </a:ext>
            </a:extLst>
          </p:cNvPr>
          <p:cNvSpPr txBox="1">
            <a:spLocks noChangeArrowheads="1"/>
          </p:cNvSpPr>
          <p:nvPr/>
        </p:nvSpPr>
        <p:spPr>
          <a:xfrm>
            <a:off x="7599363" y="1452389"/>
            <a:ext cx="4363453" cy="502573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marR="0" lvl="0" indent="111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Susan uses browser on laptop, visits specific e-commerce site for first time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initial HTTP requests arrives at site, site creates: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unique ID (aka “cookie”)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entry in backend database for ID</a:t>
            </a:r>
          </a:p>
          <a:p>
            <a:pPr marL="34290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subsequent HTTP requests from Susan to this site will contain cookie ID value, allowing site to “identify” Susan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52BCA24-99F8-C342-B95E-EB6833D8CA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8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96" name="Text Box 5">
            <a:extLst>
              <a:ext uri="{FF2B5EF4-FFF2-40B4-BE49-F238E27FC236}">
                <a16:creationId xmlns:a16="http://schemas.microsoft.com/office/drawing/2014/main" id="{BDD58876-57D5-6242-A5A0-1F4F57BBD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674" y="1266659"/>
            <a:ext cx="8739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sp>
        <p:nvSpPr>
          <p:cNvPr id="97" name="Text Box 6">
            <a:extLst>
              <a:ext uri="{FF2B5EF4-FFF2-40B4-BE49-F238E27FC236}">
                <a16:creationId xmlns:a16="http://schemas.microsoft.com/office/drawing/2014/main" id="{2C7DB634-32FD-8242-867E-9B9E0867E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999" y="1555531"/>
            <a:ext cx="9669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</a:t>
            </a:r>
          </a:p>
        </p:txBody>
      </p:sp>
      <p:grpSp>
        <p:nvGrpSpPr>
          <p:cNvPr id="98" name="Group 90">
            <a:extLst>
              <a:ext uri="{FF2B5EF4-FFF2-40B4-BE49-F238E27FC236}">
                <a16:creationId xmlns:a16="http://schemas.microsoft.com/office/drawing/2014/main" id="{94011BFB-FD4F-E449-8218-8F0FBC795682}"/>
              </a:ext>
            </a:extLst>
          </p:cNvPr>
          <p:cNvGrpSpPr>
            <a:grpSpLocks/>
          </p:cNvGrpSpPr>
          <p:nvPr/>
        </p:nvGrpSpPr>
        <p:grpSpPr bwMode="auto">
          <a:xfrm>
            <a:off x="2996806" y="4057653"/>
            <a:ext cx="3873500" cy="458788"/>
            <a:chOff x="1414" y="2657"/>
            <a:chExt cx="2440" cy="289"/>
          </a:xfrm>
        </p:grpSpPr>
        <p:sp>
          <p:nvSpPr>
            <p:cNvPr id="99" name="Line 16">
              <a:extLst>
                <a:ext uri="{FF2B5EF4-FFF2-40B4-BE49-F238E27FC236}">
                  <a16:creationId xmlns:a16="http://schemas.microsoft.com/office/drawing/2014/main" id="{88BDB1BC-CF22-D740-8FD0-3286D32A2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4" y="2657"/>
              <a:ext cx="2440" cy="2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0" name="Group 17">
              <a:extLst>
                <a:ext uri="{FF2B5EF4-FFF2-40B4-BE49-F238E27FC236}">
                  <a16:creationId xmlns:a16="http://schemas.microsoft.com/office/drawing/2014/main" id="{1663D802-36E9-1C4C-BFE3-BD3D003350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3" y="2694"/>
              <a:ext cx="1897" cy="252"/>
              <a:chOff x="3268" y="2846"/>
              <a:chExt cx="1897" cy="252"/>
            </a:xfrm>
          </p:grpSpPr>
          <p:sp>
            <p:nvSpPr>
              <p:cNvPr id="101" name="Rectangle 18">
                <a:extLst>
                  <a:ext uri="{FF2B5EF4-FFF2-40B4-BE49-F238E27FC236}">
                    <a16:creationId xmlns:a16="http://schemas.microsoft.com/office/drawing/2014/main" id="{F3795387-184E-6040-B5E5-4A94444CF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2" y="2856"/>
                <a:ext cx="1692" cy="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2" name="Text Box 19">
                <a:extLst>
                  <a:ext uri="{FF2B5EF4-FFF2-40B4-BE49-F238E27FC236}">
                    <a16:creationId xmlns:a16="http://schemas.microsoft.com/office/drawing/2014/main" id="{1E8E6531-8FF1-1C40-8C70-630F4E1475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8" y="2846"/>
                <a:ext cx="1897" cy="25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usual HTTP response msg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03" name="Group 94">
            <a:extLst>
              <a:ext uri="{FF2B5EF4-FFF2-40B4-BE49-F238E27FC236}">
                <a16:creationId xmlns:a16="http://schemas.microsoft.com/office/drawing/2014/main" id="{A02DFDF0-ACF5-0944-BB01-BEA857B2408F}"/>
              </a:ext>
            </a:extLst>
          </p:cNvPr>
          <p:cNvGrpSpPr>
            <a:grpSpLocks/>
          </p:cNvGrpSpPr>
          <p:nvPr/>
        </p:nvGrpSpPr>
        <p:grpSpPr bwMode="auto">
          <a:xfrm>
            <a:off x="3002432" y="5867498"/>
            <a:ext cx="3859213" cy="463549"/>
            <a:chOff x="1392" y="3579"/>
            <a:chExt cx="2431" cy="292"/>
          </a:xfrm>
        </p:grpSpPr>
        <p:sp>
          <p:nvSpPr>
            <p:cNvPr id="104" name="Line 24">
              <a:extLst>
                <a:ext uri="{FF2B5EF4-FFF2-40B4-BE49-F238E27FC236}">
                  <a16:creationId xmlns:a16="http://schemas.microsoft.com/office/drawing/2014/main" id="{EEB16C5E-89E3-9248-A0E9-068D3F51C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3579"/>
              <a:ext cx="2431" cy="2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Text Box 27">
              <a:extLst>
                <a:ext uri="{FF2B5EF4-FFF2-40B4-BE49-F238E27FC236}">
                  <a16:creationId xmlns:a16="http://schemas.microsoft.com/office/drawing/2014/main" id="{474B7C25-022E-B449-BFB7-79520686A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8" y="3619"/>
              <a:ext cx="1852" cy="2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response msg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8" name="Text Box 59">
            <a:extLst>
              <a:ext uri="{FF2B5EF4-FFF2-40B4-BE49-F238E27FC236}">
                <a16:creationId xmlns:a16="http://schemas.microsoft.com/office/drawing/2014/main" id="{8FCE1392-BEBB-7649-A72C-5DBA31761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156" y="2293935"/>
            <a:ext cx="17875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 file</a:t>
            </a:r>
          </a:p>
        </p:txBody>
      </p:sp>
      <p:sp>
        <p:nvSpPr>
          <p:cNvPr id="109" name="Text Box 66">
            <a:extLst>
              <a:ext uri="{FF2B5EF4-FFF2-40B4-BE49-F238E27FC236}">
                <a16:creationId xmlns:a16="http://schemas.microsoft.com/office/drawing/2014/main" id="{0A6A1E02-F6BE-5D46-AD20-D1F7027FB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772" y="4672055"/>
            <a:ext cx="18101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 week later:</a:t>
            </a:r>
          </a:p>
        </p:txBody>
      </p:sp>
      <p:grpSp>
        <p:nvGrpSpPr>
          <p:cNvPr id="110" name="Group 89">
            <a:extLst>
              <a:ext uri="{FF2B5EF4-FFF2-40B4-BE49-F238E27FC236}">
                <a16:creationId xmlns:a16="http://schemas.microsoft.com/office/drawing/2014/main" id="{40D8E44C-8C6C-D542-9BE7-10406B51CDF5}"/>
              </a:ext>
            </a:extLst>
          </p:cNvPr>
          <p:cNvGrpSpPr>
            <a:grpSpLocks/>
          </p:cNvGrpSpPr>
          <p:nvPr/>
        </p:nvGrpSpPr>
        <p:grpSpPr bwMode="auto">
          <a:xfrm>
            <a:off x="2998327" y="3429000"/>
            <a:ext cx="6777024" cy="1128713"/>
            <a:chOff x="1411" y="2261"/>
            <a:chExt cx="3533" cy="711"/>
          </a:xfrm>
        </p:grpSpPr>
        <p:sp>
          <p:nvSpPr>
            <p:cNvPr id="111" name="Line 12">
              <a:extLst>
                <a:ext uri="{FF2B5EF4-FFF2-40B4-BE49-F238E27FC236}">
                  <a16:creationId xmlns:a16="http://schemas.microsoft.com/office/drawing/2014/main" id="{153DBCD9-AEFE-0D4C-84B4-A29E1AAAC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1" y="2361"/>
              <a:ext cx="2016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2" name="Text Box 15">
              <a:extLst>
                <a:ext uri="{FF2B5EF4-FFF2-40B4-BE49-F238E27FC236}">
                  <a16:creationId xmlns:a16="http://schemas.microsoft.com/office/drawing/2014/main" id="{B4EE3ACA-27BC-0046-99A0-E10CEAF86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" y="2261"/>
              <a:ext cx="1689" cy="4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request msg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cookie: 1678</a:t>
              </a:r>
            </a:p>
          </p:txBody>
        </p:sp>
        <p:sp>
          <p:nvSpPr>
            <p:cNvPr id="113" name="Text Box 28">
              <a:extLst>
                <a:ext uri="{FF2B5EF4-FFF2-40B4-BE49-F238E27FC236}">
                  <a16:creationId xmlns:a16="http://schemas.microsoft.com/office/drawing/2014/main" id="{E0C8E058-016B-9643-8EC4-38404A2A2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9" y="2332"/>
              <a:ext cx="60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cookie-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specific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action</a:t>
              </a:r>
            </a:p>
          </p:txBody>
        </p:sp>
        <p:sp>
          <p:nvSpPr>
            <p:cNvPr id="114" name="Line 42">
              <a:extLst>
                <a:ext uri="{FF2B5EF4-FFF2-40B4-BE49-F238E27FC236}">
                  <a16:creationId xmlns:a16="http://schemas.microsoft.com/office/drawing/2014/main" id="{AEE1E959-6738-514B-BC11-A0C6268B0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2" y="2367"/>
              <a:ext cx="692" cy="2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5" name="Group 83">
              <a:extLst>
                <a:ext uri="{FF2B5EF4-FFF2-40B4-BE49-F238E27FC236}">
                  <a16:creationId xmlns:a16="http://schemas.microsoft.com/office/drawing/2014/main" id="{B7857F88-08E3-E240-A20C-5162D29690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6" y="2363"/>
              <a:ext cx="539" cy="252"/>
              <a:chOff x="4306" y="2273"/>
              <a:chExt cx="539" cy="252"/>
            </a:xfrm>
          </p:grpSpPr>
          <p:sp>
            <p:nvSpPr>
              <p:cNvPr id="116" name="Rectangle 72">
                <a:extLst>
                  <a:ext uri="{FF2B5EF4-FFF2-40B4-BE49-F238E27FC236}">
                    <a16:creationId xmlns:a16="http://schemas.microsoft.com/office/drawing/2014/main" id="{597ACCEC-4FF2-6B40-8454-C2F1F6A7C1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9" y="2365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7" name="Text Box 43">
                <a:extLst>
                  <a:ext uri="{FF2B5EF4-FFF2-40B4-BE49-F238E27FC236}">
                    <a16:creationId xmlns:a16="http://schemas.microsoft.com/office/drawing/2014/main" id="{361D7D30-A4D4-5C44-878A-9FE3CEA44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6" y="2273"/>
                <a:ext cx="53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</p:txBody>
          </p:sp>
        </p:grpSp>
      </p:grpSp>
      <p:grpSp>
        <p:nvGrpSpPr>
          <p:cNvPr id="118" name="Group 81">
            <a:extLst>
              <a:ext uri="{FF2B5EF4-FFF2-40B4-BE49-F238E27FC236}">
                <a16:creationId xmlns:a16="http://schemas.microsoft.com/office/drawing/2014/main" id="{CCEC4E82-EFC9-4646-BCEE-C0B8C7E94B5A}"/>
              </a:ext>
            </a:extLst>
          </p:cNvPr>
          <p:cNvGrpSpPr>
            <a:grpSpLocks/>
          </p:cNvGrpSpPr>
          <p:nvPr/>
        </p:nvGrpSpPr>
        <p:grpSpPr bwMode="auto">
          <a:xfrm>
            <a:off x="1704581" y="1762123"/>
            <a:ext cx="1066800" cy="565150"/>
            <a:chOff x="527" y="1047"/>
            <a:chExt cx="855" cy="486"/>
          </a:xfrm>
        </p:grpSpPr>
        <p:sp>
          <p:nvSpPr>
            <p:cNvPr id="119" name="AutoShape 67">
              <a:extLst>
                <a:ext uri="{FF2B5EF4-FFF2-40B4-BE49-F238E27FC236}">
                  <a16:creationId xmlns:a16="http://schemas.microsoft.com/office/drawing/2014/main" id="{3FF0F743-E4ED-2B41-96D3-06A33C244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" y="1047"/>
              <a:ext cx="855" cy="486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0" name="Text Box 60">
              <a:extLst>
                <a:ext uri="{FF2B5EF4-FFF2-40B4-BE49-F238E27FC236}">
                  <a16:creationId xmlns:a16="http://schemas.microsoft.com/office/drawing/2014/main" id="{6117DA15-C6DD-B847-B11A-0D6EFDBC1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" y="1193"/>
              <a:ext cx="805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ebay</a:t>
              </a: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 8734</a:t>
              </a:r>
            </a:p>
          </p:txBody>
        </p:sp>
      </p:grpSp>
      <p:grpSp>
        <p:nvGrpSpPr>
          <p:cNvPr id="121" name="Group 95">
            <a:extLst>
              <a:ext uri="{FF2B5EF4-FFF2-40B4-BE49-F238E27FC236}">
                <a16:creationId xmlns:a16="http://schemas.microsoft.com/office/drawing/2014/main" id="{6419469C-19C4-3947-B461-0398BDE5A56E}"/>
              </a:ext>
            </a:extLst>
          </p:cNvPr>
          <p:cNvGrpSpPr>
            <a:grpSpLocks/>
          </p:cNvGrpSpPr>
          <p:nvPr/>
        </p:nvGrpSpPr>
        <p:grpSpPr bwMode="auto">
          <a:xfrm>
            <a:off x="2952356" y="1946272"/>
            <a:ext cx="6972540" cy="1301749"/>
            <a:chOff x="1386" y="1327"/>
            <a:chExt cx="3730" cy="820"/>
          </a:xfrm>
        </p:grpSpPr>
        <p:sp>
          <p:nvSpPr>
            <p:cNvPr id="122" name="Line 4">
              <a:extLst>
                <a:ext uri="{FF2B5EF4-FFF2-40B4-BE49-F238E27FC236}">
                  <a16:creationId xmlns:a16="http://schemas.microsoft.com/office/drawing/2014/main" id="{53358BBA-04B8-9D40-89A7-C1749138D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6" y="1355"/>
              <a:ext cx="2082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Text Box 8">
              <a:extLst>
                <a:ext uri="{FF2B5EF4-FFF2-40B4-BE49-F238E27FC236}">
                  <a16:creationId xmlns:a16="http://schemas.microsoft.com/office/drawing/2014/main" id="{437463ED-2B74-A04D-85BF-36A6CD1AD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1327"/>
              <a:ext cx="1689" cy="2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request msg</a:t>
              </a:r>
            </a:p>
          </p:txBody>
        </p:sp>
        <p:sp>
          <p:nvSpPr>
            <p:cNvPr id="124" name="Text Box 31">
              <a:extLst>
                <a:ext uri="{FF2B5EF4-FFF2-40B4-BE49-F238E27FC236}">
                  <a16:creationId xmlns:a16="http://schemas.microsoft.com/office/drawing/2014/main" id="{8689192D-F56C-1640-861C-3C443D419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0" y="1390"/>
              <a:ext cx="848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Amazon server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creates ID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1678 for user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5" name="Group 82">
              <a:extLst>
                <a:ext uri="{FF2B5EF4-FFF2-40B4-BE49-F238E27FC236}">
                  <a16:creationId xmlns:a16="http://schemas.microsoft.com/office/drawing/2014/main" id="{03DF1B1A-A9A9-854D-8891-346BB0DBAA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7" y="1730"/>
              <a:ext cx="739" cy="417"/>
              <a:chOff x="4377" y="1640"/>
              <a:chExt cx="739" cy="417"/>
            </a:xfrm>
          </p:grpSpPr>
          <p:sp>
            <p:nvSpPr>
              <p:cNvPr id="126" name="Line 40">
                <a:extLst>
                  <a:ext uri="{FF2B5EF4-FFF2-40B4-BE49-F238E27FC236}">
                    <a16:creationId xmlns:a16="http://schemas.microsoft.com/office/drawing/2014/main" id="{52C051AD-65C2-504B-9A70-F8E72303C4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7" y="1640"/>
                <a:ext cx="659" cy="4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7" name="Rectangle 73">
                <a:extLst>
                  <a:ext uri="{FF2B5EF4-FFF2-40B4-BE49-F238E27FC236}">
                    <a16:creationId xmlns:a16="http://schemas.microsoft.com/office/drawing/2014/main" id="{7F34673E-5298-3241-9317-86EC3DD70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0" y="1729"/>
                <a:ext cx="602" cy="2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8" name="Text Box 41">
                <a:extLst>
                  <a:ext uri="{FF2B5EF4-FFF2-40B4-BE49-F238E27FC236}">
                    <a16:creationId xmlns:a16="http://schemas.microsoft.com/office/drawing/2014/main" id="{F17F9C36-958E-4C47-BE78-4A1A5F072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1702"/>
                <a:ext cx="735" cy="3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create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    entry</a:t>
                </a:r>
              </a:p>
            </p:txBody>
          </p:sp>
        </p:grpSp>
      </p:grpSp>
      <p:grpSp>
        <p:nvGrpSpPr>
          <p:cNvPr id="129" name="Group 88">
            <a:extLst>
              <a:ext uri="{FF2B5EF4-FFF2-40B4-BE49-F238E27FC236}">
                <a16:creationId xmlns:a16="http://schemas.microsoft.com/office/drawing/2014/main" id="{7A1CD3F5-FA12-5E48-9AC5-0FFB79FB2A15}"/>
              </a:ext>
            </a:extLst>
          </p:cNvPr>
          <p:cNvGrpSpPr>
            <a:grpSpLocks/>
          </p:cNvGrpSpPr>
          <p:nvPr/>
        </p:nvGrpSpPr>
        <p:grpSpPr bwMode="auto">
          <a:xfrm>
            <a:off x="1675603" y="2474086"/>
            <a:ext cx="5151555" cy="890270"/>
            <a:chOff x="462" y="1603"/>
            <a:chExt cx="3550" cy="719"/>
          </a:xfrm>
        </p:grpSpPr>
        <p:sp>
          <p:nvSpPr>
            <p:cNvPr id="130" name="Line 9">
              <a:extLst>
                <a:ext uri="{FF2B5EF4-FFF2-40B4-BE49-F238E27FC236}">
                  <a16:creationId xmlns:a16="http://schemas.microsoft.com/office/drawing/2014/main" id="{34D0E0B7-0FCE-BB41-80D4-74036A275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4" y="1603"/>
              <a:ext cx="2608" cy="2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" name="Text Box 11">
              <a:extLst>
                <a:ext uri="{FF2B5EF4-FFF2-40B4-BE49-F238E27FC236}">
                  <a16:creationId xmlns:a16="http://schemas.microsoft.com/office/drawing/2014/main" id="{C2A582BF-35AD-EC42-8C5E-BCF7C4420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2" y="1650"/>
              <a:ext cx="1665" cy="5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response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set-cookie: 1678 </a:t>
              </a:r>
            </a:p>
          </p:txBody>
        </p:sp>
        <p:grpSp>
          <p:nvGrpSpPr>
            <p:cNvPr id="132" name="Group 76">
              <a:extLst>
                <a:ext uri="{FF2B5EF4-FFF2-40B4-BE49-F238E27FC236}">
                  <a16:creationId xmlns:a16="http://schemas.microsoft.com/office/drawing/2014/main" id="{9B50E41F-6BE8-5B41-B57A-83E988A059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" y="1836"/>
              <a:ext cx="1004" cy="486"/>
              <a:chOff x="687" y="1746"/>
              <a:chExt cx="1004" cy="486"/>
            </a:xfrm>
          </p:grpSpPr>
          <p:sp>
            <p:nvSpPr>
              <p:cNvPr id="133" name="AutoShape 74">
                <a:extLst>
                  <a:ext uri="{FF2B5EF4-FFF2-40B4-BE49-F238E27FC236}">
                    <a16:creationId xmlns:a16="http://schemas.microsoft.com/office/drawing/2014/main" id="{0B53BA64-2104-564F-AC68-42F70CD18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" y="1746"/>
                <a:ext cx="735" cy="486"/>
              </a:xfrm>
              <a:prstGeom prst="can">
                <a:avLst>
                  <a:gd name="adj" fmla="val 25000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4" name="Text Box 75">
                <a:extLst>
                  <a:ext uri="{FF2B5EF4-FFF2-40B4-BE49-F238E27FC236}">
                    <a16:creationId xmlns:a16="http://schemas.microsoft.com/office/drawing/2014/main" id="{40EF6721-60A7-E646-8306-ACE2C580AA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" y="1836"/>
                <a:ext cx="1004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ebay</a:t>
                </a:r>
                <a:r>
                  <a:rPr kumimoji="0" lang="en-US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 8734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amazon 1678</a:t>
                </a:r>
              </a:p>
            </p:txBody>
          </p:sp>
        </p:grpSp>
      </p:grpSp>
      <p:grpSp>
        <p:nvGrpSpPr>
          <p:cNvPr id="135" name="Group 93">
            <a:extLst>
              <a:ext uri="{FF2B5EF4-FFF2-40B4-BE49-F238E27FC236}">
                <a16:creationId xmlns:a16="http://schemas.microsoft.com/office/drawing/2014/main" id="{3301D1A0-4332-D44D-9339-6985DCD61D45}"/>
              </a:ext>
            </a:extLst>
          </p:cNvPr>
          <p:cNvGrpSpPr>
            <a:grpSpLocks/>
          </p:cNvGrpSpPr>
          <p:nvPr/>
        </p:nvGrpSpPr>
        <p:grpSpPr bwMode="auto">
          <a:xfrm>
            <a:off x="2994226" y="4365354"/>
            <a:ext cx="6781125" cy="2001838"/>
            <a:chOff x="1406" y="2641"/>
            <a:chExt cx="3562" cy="1261"/>
          </a:xfrm>
        </p:grpSpPr>
        <p:sp>
          <p:nvSpPr>
            <p:cNvPr id="136" name="Line 20">
              <a:extLst>
                <a:ext uri="{FF2B5EF4-FFF2-40B4-BE49-F238E27FC236}">
                  <a16:creationId xmlns:a16="http://schemas.microsoft.com/office/drawing/2014/main" id="{27A08B61-84D4-974B-B631-032C83422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3293"/>
              <a:ext cx="2032" cy="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7" name="Text Box 23">
              <a:extLst>
                <a:ext uri="{FF2B5EF4-FFF2-40B4-BE49-F238E27FC236}">
                  <a16:creationId xmlns:a16="http://schemas.microsoft.com/office/drawing/2014/main" id="{C0FE6E20-0831-D147-9963-B3CABC0FF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1" y="3171"/>
              <a:ext cx="1689" cy="4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request msg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cookie: 1678</a:t>
              </a:r>
            </a:p>
          </p:txBody>
        </p:sp>
        <p:sp>
          <p:nvSpPr>
            <p:cNvPr id="138" name="Text Box 29">
              <a:extLst>
                <a:ext uri="{FF2B5EF4-FFF2-40B4-BE49-F238E27FC236}">
                  <a16:creationId xmlns:a16="http://schemas.microsoft.com/office/drawing/2014/main" id="{8241B379-77A9-114B-8D91-05EAB5E6D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9" y="3262"/>
              <a:ext cx="60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cookie-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specific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action</a:t>
              </a:r>
            </a:p>
          </p:txBody>
        </p:sp>
        <p:sp>
          <p:nvSpPr>
            <p:cNvPr id="139" name="Line 44">
              <a:extLst>
                <a:ext uri="{FF2B5EF4-FFF2-40B4-BE49-F238E27FC236}">
                  <a16:creationId xmlns:a16="http://schemas.microsoft.com/office/drawing/2014/main" id="{E200A986-F657-7343-BB4C-41C023FA53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1" y="2641"/>
              <a:ext cx="787" cy="8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0" name="Text Box 71">
              <a:extLst>
                <a:ext uri="{FF2B5EF4-FFF2-40B4-BE49-F238E27FC236}">
                  <a16:creationId xmlns:a16="http://schemas.microsoft.com/office/drawing/2014/main" id="{CCBDD99D-1C5A-2749-9C7B-9D0A6E0A3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7" y="2939"/>
              <a:ext cx="539" cy="2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access</a:t>
              </a:r>
            </a:p>
          </p:txBody>
        </p:sp>
      </p:grpSp>
      <p:grpSp>
        <p:nvGrpSpPr>
          <p:cNvPr id="141" name="Group 77">
            <a:extLst>
              <a:ext uri="{FF2B5EF4-FFF2-40B4-BE49-F238E27FC236}">
                <a16:creationId xmlns:a16="http://schemas.microsoft.com/office/drawing/2014/main" id="{147D74CA-2DA8-1241-A8E8-3EF2E932E88E}"/>
              </a:ext>
            </a:extLst>
          </p:cNvPr>
          <p:cNvGrpSpPr>
            <a:grpSpLocks/>
          </p:cNvGrpSpPr>
          <p:nvPr/>
        </p:nvGrpSpPr>
        <p:grpSpPr bwMode="auto">
          <a:xfrm>
            <a:off x="1655687" y="5113066"/>
            <a:ext cx="1389062" cy="633978"/>
            <a:chOff x="702" y="1746"/>
            <a:chExt cx="1004" cy="486"/>
          </a:xfrm>
        </p:grpSpPr>
        <p:sp>
          <p:nvSpPr>
            <p:cNvPr id="142" name="AutoShape 78">
              <a:extLst>
                <a:ext uri="{FF2B5EF4-FFF2-40B4-BE49-F238E27FC236}">
                  <a16:creationId xmlns:a16="http://schemas.microsoft.com/office/drawing/2014/main" id="{19C72BA2-8506-044E-A290-911BA7AE5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" y="1746"/>
              <a:ext cx="773" cy="486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3" name="Text Box 79">
              <a:extLst>
                <a:ext uri="{FF2B5EF4-FFF2-40B4-BE49-F238E27FC236}">
                  <a16:creationId xmlns:a16="http://schemas.microsoft.com/office/drawing/2014/main" id="{DF0A1B9A-EFCF-7042-A14D-D22FE4D35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" y="1851"/>
              <a:ext cx="100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ebay</a:t>
              </a: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 8734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amazon 1678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44" name="Text Box 80">
            <a:extLst>
              <a:ext uri="{FF2B5EF4-FFF2-40B4-BE49-F238E27FC236}">
                <a16:creationId xmlns:a16="http://schemas.microsoft.com/office/drawing/2014/main" id="{EC583638-A99A-9144-B11A-E459DCDD4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963" y="2582111"/>
            <a:ext cx="114005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backend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database</a:t>
            </a:r>
          </a:p>
        </p:txBody>
      </p:sp>
      <p:sp>
        <p:nvSpPr>
          <p:cNvPr id="145" name="AutoShape 327">
            <a:extLst>
              <a:ext uri="{FF2B5EF4-FFF2-40B4-BE49-F238E27FC236}">
                <a16:creationId xmlns:a16="http://schemas.microsoft.com/office/drawing/2014/main" id="{774E3BE6-BFC9-C849-B588-B56E574DA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4838" y="3202824"/>
            <a:ext cx="592138" cy="908050"/>
          </a:xfrm>
          <a:prstGeom prst="can">
            <a:avLst>
              <a:gd name="adj" fmla="val 31004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46" name="Group 63">
            <a:extLst>
              <a:ext uri="{FF2B5EF4-FFF2-40B4-BE49-F238E27FC236}">
                <a16:creationId xmlns:a16="http://schemas.microsoft.com/office/drawing/2014/main" id="{1D650FE6-EFAF-DA42-B6C3-89E2D30D6710}"/>
              </a:ext>
            </a:extLst>
          </p:cNvPr>
          <p:cNvGrpSpPr>
            <a:grpSpLocks/>
          </p:cNvGrpSpPr>
          <p:nvPr/>
        </p:nvGrpSpPr>
        <p:grpSpPr bwMode="auto">
          <a:xfrm>
            <a:off x="6709231" y="1274501"/>
            <a:ext cx="351110" cy="610396"/>
            <a:chOff x="4140" y="429"/>
            <a:chExt cx="1425" cy="2396"/>
          </a:xfrm>
        </p:grpSpPr>
        <p:sp>
          <p:nvSpPr>
            <p:cNvPr id="147" name="Freeform 64">
              <a:extLst>
                <a:ext uri="{FF2B5EF4-FFF2-40B4-BE49-F238E27FC236}">
                  <a16:creationId xmlns:a16="http://schemas.microsoft.com/office/drawing/2014/main" id="{23F46B7A-88B4-C64E-A298-064AE8ED2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Rectangle 65">
              <a:extLst>
                <a:ext uri="{FF2B5EF4-FFF2-40B4-BE49-F238E27FC236}">
                  <a16:creationId xmlns:a16="http://schemas.microsoft.com/office/drawing/2014/main" id="{932E7E2F-358A-204B-ACA1-ECA34C748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5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9" name="Freeform 66">
              <a:extLst>
                <a:ext uri="{FF2B5EF4-FFF2-40B4-BE49-F238E27FC236}">
                  <a16:creationId xmlns:a16="http://schemas.microsoft.com/office/drawing/2014/main" id="{5AD2CC4E-2BC1-3742-B273-CCF955749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0" name="Freeform 67">
              <a:extLst>
                <a:ext uri="{FF2B5EF4-FFF2-40B4-BE49-F238E27FC236}">
                  <a16:creationId xmlns:a16="http://schemas.microsoft.com/office/drawing/2014/main" id="{1DBFB074-4990-854E-B454-9FF52C6C4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Rectangle 68">
              <a:extLst>
                <a:ext uri="{FF2B5EF4-FFF2-40B4-BE49-F238E27FC236}">
                  <a16:creationId xmlns:a16="http://schemas.microsoft.com/office/drawing/2014/main" id="{BE0EBEA8-CD1D-5047-B6F1-2FAA1FF32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5"/>
              <a:ext cx="594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2" name="Group 69">
              <a:extLst>
                <a:ext uri="{FF2B5EF4-FFF2-40B4-BE49-F238E27FC236}">
                  <a16:creationId xmlns:a16="http://schemas.microsoft.com/office/drawing/2014/main" id="{FB3D83DD-33C0-D64F-AEA3-0EDE47897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77" name="AutoShape 70">
                <a:extLst>
                  <a:ext uri="{FF2B5EF4-FFF2-40B4-BE49-F238E27FC236}">
                    <a16:creationId xmlns:a16="http://schemas.microsoft.com/office/drawing/2014/main" id="{9F58D14A-E308-6E43-8765-29117CEB2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8" name="AutoShape 71">
                <a:extLst>
                  <a:ext uri="{FF2B5EF4-FFF2-40B4-BE49-F238E27FC236}">
                    <a16:creationId xmlns:a16="http://schemas.microsoft.com/office/drawing/2014/main" id="{990E0E9A-D7D4-F540-994A-F5A32D42A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0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53" name="Rectangle 72">
              <a:extLst>
                <a:ext uri="{FF2B5EF4-FFF2-40B4-BE49-F238E27FC236}">
                  <a16:creationId xmlns:a16="http://schemas.microsoft.com/office/drawing/2014/main" id="{914BF847-475C-7C47-96A4-CAFCCACEC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1"/>
              <a:ext cx="600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4" name="Group 73">
              <a:extLst>
                <a:ext uri="{FF2B5EF4-FFF2-40B4-BE49-F238E27FC236}">
                  <a16:creationId xmlns:a16="http://schemas.microsoft.com/office/drawing/2014/main" id="{A276F146-AB6A-8C4E-BD8B-856A510CB0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75" name="AutoShape 74">
                <a:extLst>
                  <a:ext uri="{FF2B5EF4-FFF2-40B4-BE49-F238E27FC236}">
                    <a16:creationId xmlns:a16="http://schemas.microsoft.com/office/drawing/2014/main" id="{FB783255-C8AF-CD4E-84DF-1573DF917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6" name="AutoShape 75">
                <a:extLst>
                  <a:ext uri="{FF2B5EF4-FFF2-40B4-BE49-F238E27FC236}">
                    <a16:creationId xmlns:a16="http://schemas.microsoft.com/office/drawing/2014/main" id="{46E81119-BF44-D945-96D2-7A6A2F19E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5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55" name="Rectangle 76">
              <a:extLst>
                <a:ext uri="{FF2B5EF4-FFF2-40B4-BE49-F238E27FC236}">
                  <a16:creationId xmlns:a16="http://schemas.microsoft.com/office/drawing/2014/main" id="{823BB60D-416A-0746-BBEF-9DC4528B9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4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Rectangle 77">
              <a:extLst>
                <a:ext uri="{FF2B5EF4-FFF2-40B4-BE49-F238E27FC236}">
                  <a16:creationId xmlns:a16="http://schemas.microsoft.com/office/drawing/2014/main" id="{500EA440-64F5-FE43-A9CD-EC38855A5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7"/>
              <a:ext cx="594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7" name="Group 78">
              <a:extLst>
                <a:ext uri="{FF2B5EF4-FFF2-40B4-BE49-F238E27FC236}">
                  <a16:creationId xmlns:a16="http://schemas.microsoft.com/office/drawing/2014/main" id="{014CE493-B3CF-454F-97A3-BF80992E34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3" name="AutoShape 79">
                <a:extLst>
                  <a:ext uri="{FF2B5EF4-FFF2-40B4-BE49-F238E27FC236}">
                    <a16:creationId xmlns:a16="http://schemas.microsoft.com/office/drawing/2014/main" id="{40259673-2628-3C41-9A32-A9512F4B2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7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4" name="AutoShape 80">
                <a:extLst>
                  <a:ext uri="{FF2B5EF4-FFF2-40B4-BE49-F238E27FC236}">
                    <a16:creationId xmlns:a16="http://schemas.microsoft.com/office/drawing/2014/main" id="{F5B75204-14D3-4949-85E6-E03DC0637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58" name="Freeform 81">
              <a:extLst>
                <a:ext uri="{FF2B5EF4-FFF2-40B4-BE49-F238E27FC236}">
                  <a16:creationId xmlns:a16="http://schemas.microsoft.com/office/drawing/2014/main" id="{C088528D-4021-6642-8A80-03351DCF2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9" name="Group 82">
              <a:extLst>
                <a:ext uri="{FF2B5EF4-FFF2-40B4-BE49-F238E27FC236}">
                  <a16:creationId xmlns:a16="http://schemas.microsoft.com/office/drawing/2014/main" id="{1859255F-C0C6-124B-9F92-5E236F8BD3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1" name="AutoShape 83">
                <a:extLst>
                  <a:ext uri="{FF2B5EF4-FFF2-40B4-BE49-F238E27FC236}">
                    <a16:creationId xmlns:a16="http://schemas.microsoft.com/office/drawing/2014/main" id="{C035ED52-DDB2-C843-9FFF-5BC45A6C0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2" name="AutoShape 84">
                <a:extLst>
                  <a:ext uri="{FF2B5EF4-FFF2-40B4-BE49-F238E27FC236}">
                    <a16:creationId xmlns:a16="http://schemas.microsoft.com/office/drawing/2014/main" id="{E3C20259-037C-3641-A789-24D0DCCDC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0" name="Rectangle 85">
              <a:extLst>
                <a:ext uri="{FF2B5EF4-FFF2-40B4-BE49-F238E27FC236}">
                  <a16:creationId xmlns:a16="http://schemas.microsoft.com/office/drawing/2014/main" id="{AAA45EA2-DB28-264A-8894-70368F48D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1" name="Freeform 86">
              <a:extLst>
                <a:ext uri="{FF2B5EF4-FFF2-40B4-BE49-F238E27FC236}">
                  <a16:creationId xmlns:a16="http://schemas.microsoft.com/office/drawing/2014/main" id="{056A9634-8A28-174F-BB52-3C9B4E969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2" name="Freeform 87">
              <a:extLst>
                <a:ext uri="{FF2B5EF4-FFF2-40B4-BE49-F238E27FC236}">
                  <a16:creationId xmlns:a16="http://schemas.microsoft.com/office/drawing/2014/main" id="{28B4EE70-3F36-D84A-BBF7-26FCDCAB2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3" name="Oval 88">
              <a:extLst>
                <a:ext uri="{FF2B5EF4-FFF2-40B4-BE49-F238E27FC236}">
                  <a16:creationId xmlns:a16="http://schemas.microsoft.com/office/drawing/2014/main" id="{AFA23CDD-2C19-364F-8CB6-E34A3A50A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4" name="Freeform 89">
              <a:extLst>
                <a:ext uri="{FF2B5EF4-FFF2-40B4-BE49-F238E27FC236}">
                  <a16:creationId xmlns:a16="http://schemas.microsoft.com/office/drawing/2014/main" id="{C80FF08C-B05A-5742-B82B-9D6BFBFA2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5" name="AutoShape 90">
              <a:extLst>
                <a:ext uri="{FF2B5EF4-FFF2-40B4-BE49-F238E27FC236}">
                  <a16:creationId xmlns:a16="http://schemas.microsoft.com/office/drawing/2014/main" id="{D46EF758-7531-924C-8A33-5AC571E08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6" name="AutoShape 91">
              <a:extLst>
                <a:ext uri="{FF2B5EF4-FFF2-40B4-BE49-F238E27FC236}">
                  <a16:creationId xmlns:a16="http://schemas.microsoft.com/office/drawing/2014/main" id="{E252E208-3522-884B-9DE7-7EB157685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2"/>
              <a:ext cx="1067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7" name="Oval 92">
              <a:extLst>
                <a:ext uri="{FF2B5EF4-FFF2-40B4-BE49-F238E27FC236}">
                  <a16:creationId xmlns:a16="http://schemas.microsoft.com/office/drawing/2014/main" id="{957DD520-6280-3E4E-BAD7-651F51413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8" name="Oval 93">
              <a:extLst>
                <a:ext uri="{FF2B5EF4-FFF2-40B4-BE49-F238E27FC236}">
                  <a16:creationId xmlns:a16="http://schemas.microsoft.com/office/drawing/2014/main" id="{ECF80637-5F56-1F4E-A6A8-ED0FA8AC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69" name="Oval 94">
              <a:extLst>
                <a:ext uri="{FF2B5EF4-FFF2-40B4-BE49-F238E27FC236}">
                  <a16:creationId xmlns:a16="http://schemas.microsoft.com/office/drawing/2014/main" id="{FFEB5237-B81D-9B45-A444-21BB49902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Rectangle 95">
              <a:extLst>
                <a:ext uri="{FF2B5EF4-FFF2-40B4-BE49-F238E27FC236}">
                  <a16:creationId xmlns:a16="http://schemas.microsoft.com/office/drawing/2014/main" id="{8C2A523A-6ED6-094A-8260-B51956D79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9" name="Group 96">
            <a:extLst>
              <a:ext uri="{FF2B5EF4-FFF2-40B4-BE49-F238E27FC236}">
                <a16:creationId xmlns:a16="http://schemas.microsoft.com/office/drawing/2014/main" id="{079DFC6E-4E8A-7B4D-8113-190A0989D0FB}"/>
              </a:ext>
            </a:extLst>
          </p:cNvPr>
          <p:cNvGrpSpPr>
            <a:grpSpLocks/>
          </p:cNvGrpSpPr>
          <p:nvPr/>
        </p:nvGrpSpPr>
        <p:grpSpPr bwMode="auto">
          <a:xfrm>
            <a:off x="2734523" y="1369488"/>
            <a:ext cx="667783" cy="586047"/>
            <a:chOff x="-44" y="1473"/>
            <a:chExt cx="981" cy="1105"/>
          </a:xfrm>
        </p:grpSpPr>
        <p:pic>
          <p:nvPicPr>
            <p:cNvPr id="180" name="Picture 97" descr="desktop_computer_stylized_medium">
              <a:extLst>
                <a:ext uri="{FF2B5EF4-FFF2-40B4-BE49-F238E27FC236}">
                  <a16:creationId xmlns:a16="http://schemas.microsoft.com/office/drawing/2014/main" id="{FB14A9C2-A921-3747-8B81-81EE51820A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" name="Freeform 98">
              <a:extLst>
                <a:ext uri="{FF2B5EF4-FFF2-40B4-BE49-F238E27FC236}">
                  <a16:creationId xmlns:a16="http://schemas.microsoft.com/office/drawing/2014/main" id="{9C2960BD-B3C9-AE44-9E68-217EF326B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8" name="Line 15">
            <a:extLst>
              <a:ext uri="{FF2B5EF4-FFF2-40B4-BE49-F238E27FC236}">
                <a16:creationId xmlns:a16="http://schemas.microsoft.com/office/drawing/2014/main" id="{9030FA43-2615-A74C-949D-871EDD5258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99897" y="1993139"/>
            <a:ext cx="510" cy="4465805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Text Box 37">
            <a:extLst>
              <a:ext uri="{FF2B5EF4-FFF2-40B4-BE49-F238E27FC236}">
                <a16:creationId xmlns:a16="http://schemas.microsoft.com/office/drawing/2014/main" id="{7717F97B-37DE-2442-8F9E-81FB9F33A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707" y="6459827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6E5A588C-0539-7140-B8E3-80735DCD2D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67352" y="2001551"/>
            <a:ext cx="510" cy="4465805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 Box 37">
            <a:extLst>
              <a:ext uri="{FF2B5EF4-FFF2-40B4-BE49-F238E27FC236}">
                <a16:creationId xmlns:a16="http://schemas.microsoft.com/office/drawing/2014/main" id="{716E4165-7532-204E-993F-D649CD871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4162" y="6468239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92" name="Slide Number Placeholder 2">
            <a:extLst>
              <a:ext uri="{FF2B5EF4-FFF2-40B4-BE49-F238E27FC236}">
                <a16:creationId xmlns:a16="http://schemas.microsoft.com/office/drawing/2014/main" id="{5F971824-E93B-A24D-9AB3-D5859F34E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33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3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 cookies: comments</a:t>
            </a:r>
            <a:endParaRPr lang="en-US" sz="4400" dirty="0"/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7CD5F1C3-47BC-1645-A288-078B99127C22}"/>
              </a:ext>
            </a:extLst>
          </p:cNvPr>
          <p:cNvSpPr txBox="1">
            <a:spLocks noChangeArrowheads="1"/>
          </p:cNvSpPr>
          <p:nvPr/>
        </p:nvSpPr>
        <p:spPr>
          <a:xfrm>
            <a:off x="648049" y="1556443"/>
            <a:ext cx="6034668" cy="26416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What cookies can be used for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authorization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shopping carts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recommendations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session state (Web e-mail)</a:t>
            </a:r>
          </a:p>
        </p:txBody>
      </p:sp>
      <p:sp>
        <p:nvSpPr>
          <p:cNvPr id="89" name="Rectangle 13">
            <a:extLst>
              <a:ext uri="{FF2B5EF4-FFF2-40B4-BE49-F238E27FC236}">
                <a16:creationId xmlns:a16="http://schemas.microsoft.com/office/drawing/2014/main" id="{BC2253F6-EA38-7C47-9CAD-4C2EC6BB2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291" y="1568189"/>
            <a:ext cx="3810000" cy="3553646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 and privacy: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 permit sites to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learn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a lot about you on their site.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third party persistent cookies (tracking cookies) allow common identity (cookie value) to be tracked across multiple web sites</a:t>
            </a:r>
          </a:p>
        </p:txBody>
      </p:sp>
      <p:sp>
        <p:nvSpPr>
          <p:cNvPr id="90" name="Text Box 14">
            <a:extLst>
              <a:ext uri="{FF2B5EF4-FFF2-40B4-BE49-F238E27FC236}">
                <a16:creationId xmlns:a16="http://schemas.microsoft.com/office/drawing/2014/main" id="{D023EC46-D7D8-D04C-9048-D7EFE18FF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9568" y="1325611"/>
            <a:ext cx="838691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aside</a:t>
            </a:r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2C2FE22D-B17F-7C44-AE2F-824976586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62" y="3980757"/>
            <a:ext cx="6267067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Challenge: How to keep 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state?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at protocol endpoints: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maintain state at sender/receiver over multiple transactions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 messages: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inHTTP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messages carry state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CE1477A-D004-E440-8562-59DA6EAD8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49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Web caches</a:t>
            </a:r>
            <a:endParaRPr lang="en-US" sz="4400" dirty="0"/>
          </a:p>
        </p:txBody>
      </p:sp>
      <p:grpSp>
        <p:nvGrpSpPr>
          <p:cNvPr id="8" name="Group 171">
            <a:extLst>
              <a:ext uri="{FF2B5EF4-FFF2-40B4-BE49-F238E27FC236}">
                <a16:creationId xmlns:a16="http://schemas.microsoft.com/office/drawing/2014/main" id="{E76E25C6-83D0-304F-B3E3-A37D3DAE7B5C}"/>
              </a:ext>
            </a:extLst>
          </p:cNvPr>
          <p:cNvGrpSpPr>
            <a:grpSpLocks/>
          </p:cNvGrpSpPr>
          <p:nvPr/>
        </p:nvGrpSpPr>
        <p:grpSpPr bwMode="auto">
          <a:xfrm>
            <a:off x="6272213" y="2445088"/>
            <a:ext cx="687387" cy="763588"/>
            <a:chOff x="-44" y="1473"/>
            <a:chExt cx="981" cy="1105"/>
          </a:xfrm>
        </p:grpSpPr>
        <p:pic>
          <p:nvPicPr>
            <p:cNvPr id="10" name="Picture 172" descr="desktop_computer_stylized_medium">
              <a:extLst>
                <a:ext uri="{FF2B5EF4-FFF2-40B4-BE49-F238E27FC236}">
                  <a16:creationId xmlns:a16="http://schemas.microsoft.com/office/drawing/2014/main" id="{CB2AE99F-D134-A74A-947C-5E7B017C1D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Freeform 173">
              <a:extLst>
                <a:ext uri="{FF2B5EF4-FFF2-40B4-BE49-F238E27FC236}">
                  <a16:creationId xmlns:a16="http://schemas.microsoft.com/office/drawing/2014/main" id="{CC3CBC7E-C664-ED4A-8BFE-4C6C0A390F2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02">
            <a:extLst>
              <a:ext uri="{FF2B5EF4-FFF2-40B4-BE49-F238E27FC236}">
                <a16:creationId xmlns:a16="http://schemas.microsoft.com/office/drawing/2014/main" id="{341AE079-CB6E-AE4A-A6CF-6667D0BCC3A6}"/>
              </a:ext>
            </a:extLst>
          </p:cNvPr>
          <p:cNvGrpSpPr>
            <a:grpSpLocks/>
          </p:cNvGrpSpPr>
          <p:nvPr/>
        </p:nvGrpSpPr>
        <p:grpSpPr bwMode="auto">
          <a:xfrm>
            <a:off x="6337300" y="4318338"/>
            <a:ext cx="687388" cy="763588"/>
            <a:chOff x="-44" y="1473"/>
            <a:chExt cx="981" cy="1105"/>
          </a:xfrm>
        </p:grpSpPr>
        <p:pic>
          <p:nvPicPr>
            <p:cNvPr id="13" name="Picture 103" descr="desktop_computer_stylized_medium">
              <a:extLst>
                <a:ext uri="{FF2B5EF4-FFF2-40B4-BE49-F238E27FC236}">
                  <a16:creationId xmlns:a16="http://schemas.microsoft.com/office/drawing/2014/main" id="{0F7D667F-14F5-8947-8466-5A2508D1FF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Freeform 104">
              <a:extLst>
                <a:ext uri="{FF2B5EF4-FFF2-40B4-BE49-F238E27FC236}">
                  <a16:creationId xmlns:a16="http://schemas.microsoft.com/office/drawing/2014/main" id="{1CCE495C-FE29-374C-9BCD-5BFBA55DE77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8" name="Group 105">
            <a:extLst>
              <a:ext uri="{FF2B5EF4-FFF2-40B4-BE49-F238E27FC236}">
                <a16:creationId xmlns:a16="http://schemas.microsoft.com/office/drawing/2014/main" id="{713D2680-FE84-BF45-82AB-42E37E22BD97}"/>
              </a:ext>
            </a:extLst>
          </p:cNvPr>
          <p:cNvGrpSpPr>
            <a:grpSpLocks/>
          </p:cNvGrpSpPr>
          <p:nvPr/>
        </p:nvGrpSpPr>
        <p:grpSpPr bwMode="auto">
          <a:xfrm>
            <a:off x="10423525" y="2586376"/>
            <a:ext cx="433388" cy="715962"/>
            <a:chOff x="4140" y="429"/>
            <a:chExt cx="1425" cy="2396"/>
          </a:xfrm>
        </p:grpSpPr>
        <p:sp>
          <p:nvSpPr>
            <p:cNvPr id="49" name="Freeform 106">
              <a:extLst>
                <a:ext uri="{FF2B5EF4-FFF2-40B4-BE49-F238E27FC236}">
                  <a16:creationId xmlns:a16="http://schemas.microsoft.com/office/drawing/2014/main" id="{F351644B-40EC-1643-B55C-BD6490B4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Rectangle 107">
              <a:extLst>
                <a:ext uri="{FF2B5EF4-FFF2-40B4-BE49-F238E27FC236}">
                  <a16:creationId xmlns:a16="http://schemas.microsoft.com/office/drawing/2014/main" id="{C431E1A6-A308-714C-9DB4-CD66A6C1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Freeform 108">
              <a:extLst>
                <a:ext uri="{FF2B5EF4-FFF2-40B4-BE49-F238E27FC236}">
                  <a16:creationId xmlns:a16="http://schemas.microsoft.com/office/drawing/2014/main" id="{31CFCE65-E538-0841-8EF3-0F63DB89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Freeform 109">
              <a:extLst>
                <a:ext uri="{FF2B5EF4-FFF2-40B4-BE49-F238E27FC236}">
                  <a16:creationId xmlns:a16="http://schemas.microsoft.com/office/drawing/2014/main" id="{ECC9C409-7630-F84A-B584-5C94715A6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Rectangle 110">
              <a:extLst>
                <a:ext uri="{FF2B5EF4-FFF2-40B4-BE49-F238E27FC236}">
                  <a16:creationId xmlns:a16="http://schemas.microsoft.com/office/drawing/2014/main" id="{F46717B0-272A-7C4F-B732-92EEC8E77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4" name="Group 111">
              <a:extLst>
                <a:ext uri="{FF2B5EF4-FFF2-40B4-BE49-F238E27FC236}">
                  <a16:creationId xmlns:a16="http://schemas.microsoft.com/office/drawing/2014/main" id="{F4ACB840-83DF-404B-A66F-DEBB071861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" name="AutoShape 112">
                <a:extLst>
                  <a:ext uri="{FF2B5EF4-FFF2-40B4-BE49-F238E27FC236}">
                    <a16:creationId xmlns:a16="http://schemas.microsoft.com/office/drawing/2014/main" id="{A911B0DC-A8C2-124C-9C82-2A735A79B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0" name="AutoShape 113">
                <a:extLst>
                  <a:ext uri="{FF2B5EF4-FFF2-40B4-BE49-F238E27FC236}">
                    <a16:creationId xmlns:a16="http://schemas.microsoft.com/office/drawing/2014/main" id="{9F0B8CE7-288A-EE43-A6E4-C3D97C626F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5" name="Rectangle 114">
              <a:extLst>
                <a:ext uri="{FF2B5EF4-FFF2-40B4-BE49-F238E27FC236}">
                  <a16:creationId xmlns:a16="http://schemas.microsoft.com/office/drawing/2014/main" id="{766D4B94-8E57-804B-B018-819DFD6CD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6" name="Group 115">
              <a:extLst>
                <a:ext uri="{FF2B5EF4-FFF2-40B4-BE49-F238E27FC236}">
                  <a16:creationId xmlns:a16="http://schemas.microsoft.com/office/drawing/2014/main" id="{D994FF4C-7626-D748-A12D-5D1C5FEE1A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7" name="AutoShape 116">
                <a:extLst>
                  <a:ext uri="{FF2B5EF4-FFF2-40B4-BE49-F238E27FC236}">
                    <a16:creationId xmlns:a16="http://schemas.microsoft.com/office/drawing/2014/main" id="{198A1BC7-4B65-BC4C-8A29-B983D8E1F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8" name="AutoShape 117">
                <a:extLst>
                  <a:ext uri="{FF2B5EF4-FFF2-40B4-BE49-F238E27FC236}">
                    <a16:creationId xmlns:a16="http://schemas.microsoft.com/office/drawing/2014/main" id="{40DD27E4-9779-CF42-BFDD-6696DFFFA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7" name="Rectangle 118">
              <a:extLst>
                <a:ext uri="{FF2B5EF4-FFF2-40B4-BE49-F238E27FC236}">
                  <a16:creationId xmlns:a16="http://schemas.microsoft.com/office/drawing/2014/main" id="{ACA44148-7C10-3C49-BB35-5101746C9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Rectangle 119">
              <a:extLst>
                <a:ext uri="{FF2B5EF4-FFF2-40B4-BE49-F238E27FC236}">
                  <a16:creationId xmlns:a16="http://schemas.microsoft.com/office/drawing/2014/main" id="{4E7711E0-C3F4-3F44-939E-C5EB99D29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9" name="Group 120">
              <a:extLst>
                <a:ext uri="{FF2B5EF4-FFF2-40B4-BE49-F238E27FC236}">
                  <a16:creationId xmlns:a16="http://schemas.microsoft.com/office/drawing/2014/main" id="{67EE5E5B-A672-4948-A190-6619EF0F40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5" name="AutoShape 121">
                <a:extLst>
                  <a:ext uri="{FF2B5EF4-FFF2-40B4-BE49-F238E27FC236}">
                    <a16:creationId xmlns:a16="http://schemas.microsoft.com/office/drawing/2014/main" id="{05F4D1D6-814A-6E46-A67F-0AB27A8D1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6" name="AutoShape 122">
                <a:extLst>
                  <a:ext uri="{FF2B5EF4-FFF2-40B4-BE49-F238E27FC236}">
                    <a16:creationId xmlns:a16="http://schemas.microsoft.com/office/drawing/2014/main" id="{B26FB4DB-5CE0-0547-A9EF-8F3F889E2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0" name="Freeform 123">
              <a:extLst>
                <a:ext uri="{FF2B5EF4-FFF2-40B4-BE49-F238E27FC236}">
                  <a16:creationId xmlns:a16="http://schemas.microsoft.com/office/drawing/2014/main" id="{06773D0F-8045-BA4B-A438-853ED5C1E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1" name="Group 124">
              <a:extLst>
                <a:ext uri="{FF2B5EF4-FFF2-40B4-BE49-F238E27FC236}">
                  <a16:creationId xmlns:a16="http://schemas.microsoft.com/office/drawing/2014/main" id="{2289418B-58E5-6F41-8BA5-C30F733D8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3" name="AutoShape 125">
                <a:extLst>
                  <a:ext uri="{FF2B5EF4-FFF2-40B4-BE49-F238E27FC236}">
                    <a16:creationId xmlns:a16="http://schemas.microsoft.com/office/drawing/2014/main" id="{38E6EBDC-7542-364B-BAB0-D30286482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4" name="AutoShape 126">
                <a:extLst>
                  <a:ext uri="{FF2B5EF4-FFF2-40B4-BE49-F238E27FC236}">
                    <a16:creationId xmlns:a16="http://schemas.microsoft.com/office/drawing/2014/main" id="{54B2EB69-B7C9-EC42-B99F-19CC17D5EA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2" name="Rectangle 127">
              <a:extLst>
                <a:ext uri="{FF2B5EF4-FFF2-40B4-BE49-F238E27FC236}">
                  <a16:creationId xmlns:a16="http://schemas.microsoft.com/office/drawing/2014/main" id="{08BCE1F3-76AF-E441-89A0-DA57E700E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Freeform 128">
              <a:extLst>
                <a:ext uri="{FF2B5EF4-FFF2-40B4-BE49-F238E27FC236}">
                  <a16:creationId xmlns:a16="http://schemas.microsoft.com/office/drawing/2014/main" id="{4B174135-D9EA-854A-9853-AC5CCDD44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Freeform 129">
              <a:extLst>
                <a:ext uri="{FF2B5EF4-FFF2-40B4-BE49-F238E27FC236}">
                  <a16:creationId xmlns:a16="http://schemas.microsoft.com/office/drawing/2014/main" id="{927D55DC-6C82-634A-B79C-B427EAAD4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val 130">
              <a:extLst>
                <a:ext uri="{FF2B5EF4-FFF2-40B4-BE49-F238E27FC236}">
                  <a16:creationId xmlns:a16="http://schemas.microsoft.com/office/drawing/2014/main" id="{3BB31101-2EB7-F44D-8AA6-0366039E9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Freeform 131">
              <a:extLst>
                <a:ext uri="{FF2B5EF4-FFF2-40B4-BE49-F238E27FC236}">
                  <a16:creationId xmlns:a16="http://schemas.microsoft.com/office/drawing/2014/main" id="{79253978-26CE-7249-A74C-F9743D4FB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AutoShape 132">
              <a:extLst>
                <a:ext uri="{FF2B5EF4-FFF2-40B4-BE49-F238E27FC236}">
                  <a16:creationId xmlns:a16="http://schemas.microsoft.com/office/drawing/2014/main" id="{D2E63390-A569-3942-9FC4-1FAF9A9C7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AutoShape 133">
              <a:extLst>
                <a:ext uri="{FF2B5EF4-FFF2-40B4-BE49-F238E27FC236}">
                  <a16:creationId xmlns:a16="http://schemas.microsoft.com/office/drawing/2014/main" id="{76E84029-5A5D-0B43-A027-68F72A0B1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Oval 134">
              <a:extLst>
                <a:ext uri="{FF2B5EF4-FFF2-40B4-BE49-F238E27FC236}">
                  <a16:creationId xmlns:a16="http://schemas.microsoft.com/office/drawing/2014/main" id="{3E213C1D-2C02-AD4C-9E3D-D83B7E9B8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Oval 135">
              <a:extLst>
                <a:ext uri="{FF2B5EF4-FFF2-40B4-BE49-F238E27FC236}">
                  <a16:creationId xmlns:a16="http://schemas.microsoft.com/office/drawing/2014/main" id="{8AAFA532-A081-384C-AB75-218BDC209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71" name="Oval 136">
              <a:extLst>
                <a:ext uri="{FF2B5EF4-FFF2-40B4-BE49-F238E27FC236}">
                  <a16:creationId xmlns:a16="http://schemas.microsoft.com/office/drawing/2014/main" id="{56B5635A-EB88-0440-8FBB-410A578DE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2" name="Rectangle 137">
              <a:extLst>
                <a:ext uri="{FF2B5EF4-FFF2-40B4-BE49-F238E27FC236}">
                  <a16:creationId xmlns:a16="http://schemas.microsoft.com/office/drawing/2014/main" id="{DB35C1A6-F8F8-A34C-83A8-1C5F2BC02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1" name="Rectangle 3">
            <a:extLst>
              <a:ext uri="{FF2B5EF4-FFF2-40B4-BE49-F238E27FC236}">
                <a16:creationId xmlns:a16="http://schemas.microsoft.com/office/drawing/2014/main" id="{0E93D937-D6CD-8B48-B770-F30B1D0D993E}"/>
              </a:ext>
            </a:extLst>
          </p:cNvPr>
          <p:cNvSpPr txBox="1">
            <a:spLocks noChangeArrowheads="1"/>
          </p:cNvSpPr>
          <p:nvPr/>
        </p:nvSpPr>
        <p:spPr>
          <a:xfrm>
            <a:off x="794606" y="2233994"/>
            <a:ext cx="4908362" cy="37623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configures browser to point to a (local)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cache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browser sends all HTTP requests to cache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object in cache: cache returns object to client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else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cache requests object from origin server, caches received object, then returns object to client</a:t>
            </a:r>
          </a:p>
        </p:txBody>
      </p:sp>
      <p:sp>
        <p:nvSpPr>
          <p:cNvPr id="82" name="Rectangle 4">
            <a:extLst>
              <a:ext uri="{FF2B5EF4-FFF2-40B4-BE49-F238E27FC236}">
                <a16:creationId xmlns:a16="http://schemas.microsoft.com/office/drawing/2014/main" id="{333F1EEA-A155-1C41-80CD-10E94B830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380" y="1333500"/>
            <a:ext cx="10292615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satisfy client requests without involving origin server</a:t>
            </a:r>
          </a:p>
        </p:txBody>
      </p:sp>
      <p:sp>
        <p:nvSpPr>
          <p:cNvPr id="83" name="Text Box 6">
            <a:extLst>
              <a:ext uri="{FF2B5EF4-FFF2-40B4-BE49-F238E27FC236}">
                <a16:creationId xmlns:a16="http://schemas.microsoft.com/office/drawing/2014/main" id="{70E92C74-86C4-E048-AD53-D4201EAFC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675" y="3118188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568D9C3-D40D-D946-AB3E-DA830336DA5D}"/>
              </a:ext>
            </a:extLst>
          </p:cNvPr>
          <p:cNvGrpSpPr/>
          <p:nvPr/>
        </p:nvGrpSpPr>
        <p:grpSpPr>
          <a:xfrm>
            <a:off x="8270000" y="2687749"/>
            <a:ext cx="786882" cy="1235302"/>
            <a:chOff x="8270000" y="2687749"/>
            <a:chExt cx="786882" cy="1235302"/>
          </a:xfrm>
        </p:grpSpPr>
        <p:grpSp>
          <p:nvGrpSpPr>
            <p:cNvPr id="15" name="Group 138">
              <a:extLst>
                <a:ext uri="{FF2B5EF4-FFF2-40B4-BE49-F238E27FC236}">
                  <a16:creationId xmlns:a16="http://schemas.microsoft.com/office/drawing/2014/main" id="{BCAE7764-70F3-6C4D-BAB2-DE0B7C89D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75663" y="3207088"/>
              <a:ext cx="400050" cy="715963"/>
              <a:chOff x="4140" y="429"/>
              <a:chExt cx="1425" cy="2396"/>
            </a:xfrm>
          </p:grpSpPr>
          <p:sp>
            <p:nvSpPr>
              <p:cNvPr id="16" name="Freeform 139">
                <a:extLst>
                  <a:ext uri="{FF2B5EF4-FFF2-40B4-BE49-F238E27FC236}">
                    <a16:creationId xmlns:a16="http://schemas.microsoft.com/office/drawing/2014/main" id="{F1B2DFA0-F79D-7B41-AEB4-30CE9076E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Rectangle 140">
                <a:extLst>
                  <a:ext uri="{FF2B5EF4-FFF2-40B4-BE49-F238E27FC236}">
                    <a16:creationId xmlns:a16="http://schemas.microsoft.com/office/drawing/2014/main" id="{C5E2EFBB-BBC5-9A42-BB0E-E6D6D2C22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" name="Freeform 141">
                <a:extLst>
                  <a:ext uri="{FF2B5EF4-FFF2-40B4-BE49-F238E27FC236}">
                    <a16:creationId xmlns:a16="http://schemas.microsoft.com/office/drawing/2014/main" id="{55529617-AF40-4A4A-B8BE-0A1D9AFF9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Freeform 142">
                <a:extLst>
                  <a:ext uri="{FF2B5EF4-FFF2-40B4-BE49-F238E27FC236}">
                    <a16:creationId xmlns:a16="http://schemas.microsoft.com/office/drawing/2014/main" id="{CD96A818-3AB4-9749-B364-C94B61E39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Rectangle 143">
                <a:extLst>
                  <a:ext uri="{FF2B5EF4-FFF2-40B4-BE49-F238E27FC236}">
                    <a16:creationId xmlns:a16="http://schemas.microsoft.com/office/drawing/2014/main" id="{6CB7A8CB-28B7-454A-B6FA-0B497C6EA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" name="Group 144">
                <a:extLst>
                  <a:ext uri="{FF2B5EF4-FFF2-40B4-BE49-F238E27FC236}">
                    <a16:creationId xmlns:a16="http://schemas.microsoft.com/office/drawing/2014/main" id="{B151228D-C4D6-FC47-B4C4-E4FEAAC8EB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6" name="AutoShape 145">
                  <a:extLst>
                    <a:ext uri="{FF2B5EF4-FFF2-40B4-BE49-F238E27FC236}">
                      <a16:creationId xmlns:a16="http://schemas.microsoft.com/office/drawing/2014/main" id="{581E8E47-6DB1-F54B-9476-01B6F2E300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" name="AutoShape 146">
                  <a:extLst>
                    <a:ext uri="{FF2B5EF4-FFF2-40B4-BE49-F238E27FC236}">
                      <a16:creationId xmlns:a16="http://schemas.microsoft.com/office/drawing/2014/main" id="{7F2D9B2C-626D-344A-83E2-C990F84150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70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2" name="Rectangle 147">
                <a:extLst>
                  <a:ext uri="{FF2B5EF4-FFF2-40B4-BE49-F238E27FC236}">
                    <a16:creationId xmlns:a16="http://schemas.microsoft.com/office/drawing/2014/main" id="{06A6E158-AA9B-7643-9927-3F063660D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3" name="Group 148">
                <a:extLst>
                  <a:ext uri="{FF2B5EF4-FFF2-40B4-BE49-F238E27FC236}">
                    <a16:creationId xmlns:a16="http://schemas.microsoft.com/office/drawing/2014/main" id="{24564C8A-097F-5447-B760-9CD6285FD6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4" name="AutoShape 149">
                  <a:extLst>
                    <a:ext uri="{FF2B5EF4-FFF2-40B4-BE49-F238E27FC236}">
                      <a16:creationId xmlns:a16="http://schemas.microsoft.com/office/drawing/2014/main" id="{04C4FA5A-4748-2D42-BA0D-06AFE4DAEE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5" name="AutoShape 150">
                  <a:extLst>
                    <a:ext uri="{FF2B5EF4-FFF2-40B4-BE49-F238E27FC236}">
                      <a16:creationId xmlns:a16="http://schemas.microsoft.com/office/drawing/2014/main" id="{84E1D8C6-7DEE-484B-99EE-B608D1AEB0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3"/>
                  <a:ext cx="692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4" name="Rectangle 151">
                <a:extLst>
                  <a:ext uri="{FF2B5EF4-FFF2-40B4-BE49-F238E27FC236}">
                    <a16:creationId xmlns:a16="http://schemas.microsoft.com/office/drawing/2014/main" id="{454AD9D8-054B-E244-8A65-C00DC300D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9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" name="Rectangle 152">
                <a:extLst>
                  <a:ext uri="{FF2B5EF4-FFF2-40B4-BE49-F238E27FC236}">
                    <a16:creationId xmlns:a16="http://schemas.microsoft.com/office/drawing/2014/main" id="{40C54BAB-9592-ED4B-80E1-874156D7B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6" name="Group 153">
                <a:extLst>
                  <a:ext uri="{FF2B5EF4-FFF2-40B4-BE49-F238E27FC236}">
                    <a16:creationId xmlns:a16="http://schemas.microsoft.com/office/drawing/2014/main" id="{64CB2613-6494-6C4A-AC96-EDE0548984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2" name="AutoShape 154">
                  <a:extLst>
                    <a:ext uri="{FF2B5EF4-FFF2-40B4-BE49-F238E27FC236}">
                      <a16:creationId xmlns:a16="http://schemas.microsoft.com/office/drawing/2014/main" id="{A27D1399-0ADF-5D43-8B09-BCD5BD0CD0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6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" name="AutoShape 155">
                  <a:extLst>
                    <a:ext uri="{FF2B5EF4-FFF2-40B4-BE49-F238E27FC236}">
                      <a16:creationId xmlns:a16="http://schemas.microsoft.com/office/drawing/2014/main" id="{20A4C850-89B5-6B44-820C-B66073B752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7" name="Freeform 156">
                <a:extLst>
                  <a:ext uri="{FF2B5EF4-FFF2-40B4-BE49-F238E27FC236}">
                    <a16:creationId xmlns:a16="http://schemas.microsoft.com/office/drawing/2014/main" id="{69CA70FC-8D55-3C40-9230-BB1B319F0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8" name="Group 157">
                <a:extLst>
                  <a:ext uri="{FF2B5EF4-FFF2-40B4-BE49-F238E27FC236}">
                    <a16:creationId xmlns:a16="http://schemas.microsoft.com/office/drawing/2014/main" id="{592B4F87-8FD7-004F-9CBD-2E07936D76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0" name="AutoShape 158">
                  <a:extLst>
                    <a:ext uri="{FF2B5EF4-FFF2-40B4-BE49-F238E27FC236}">
                      <a16:creationId xmlns:a16="http://schemas.microsoft.com/office/drawing/2014/main" id="{52452D42-BA3E-B548-9F26-4F10DEBFFC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6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1" name="AutoShape 159">
                  <a:extLst>
                    <a:ext uri="{FF2B5EF4-FFF2-40B4-BE49-F238E27FC236}">
                      <a16:creationId xmlns:a16="http://schemas.microsoft.com/office/drawing/2014/main" id="{2E496C07-9C8C-B34F-8201-DBF2AB09E8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4"/>
                  <a:ext cx="69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9" name="Rectangle 160">
                <a:extLst>
                  <a:ext uri="{FF2B5EF4-FFF2-40B4-BE49-F238E27FC236}">
                    <a16:creationId xmlns:a16="http://schemas.microsoft.com/office/drawing/2014/main" id="{507783BC-460D-F943-9047-6C6F897FE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68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" name="Freeform 161">
                <a:extLst>
                  <a:ext uri="{FF2B5EF4-FFF2-40B4-BE49-F238E27FC236}">
                    <a16:creationId xmlns:a16="http://schemas.microsoft.com/office/drawing/2014/main" id="{88257E4A-4830-E644-BAF7-847C2053B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1" name="Freeform 162">
                <a:extLst>
                  <a:ext uri="{FF2B5EF4-FFF2-40B4-BE49-F238E27FC236}">
                    <a16:creationId xmlns:a16="http://schemas.microsoft.com/office/drawing/2014/main" id="{24A3F621-17CD-4645-A51D-7042FE22E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2" name="Oval 163">
                <a:extLst>
                  <a:ext uri="{FF2B5EF4-FFF2-40B4-BE49-F238E27FC236}">
                    <a16:creationId xmlns:a16="http://schemas.microsoft.com/office/drawing/2014/main" id="{EA7A271B-C672-7748-BB6C-4320F9AE9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" name="Freeform 164">
                <a:extLst>
                  <a:ext uri="{FF2B5EF4-FFF2-40B4-BE49-F238E27FC236}">
                    <a16:creationId xmlns:a16="http://schemas.microsoft.com/office/drawing/2014/main" id="{BF246A84-BFE7-3049-922B-DD8B6EA2E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4" name="AutoShape 165">
                <a:extLst>
                  <a:ext uri="{FF2B5EF4-FFF2-40B4-BE49-F238E27FC236}">
                    <a16:creationId xmlns:a16="http://schemas.microsoft.com/office/drawing/2014/main" id="{A85BFA7C-936F-3A41-9B80-F269D0D81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9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" name="AutoShape 166">
                <a:extLst>
                  <a:ext uri="{FF2B5EF4-FFF2-40B4-BE49-F238E27FC236}">
                    <a16:creationId xmlns:a16="http://schemas.microsoft.com/office/drawing/2014/main" id="{143F5A2C-3FCC-214E-B1DD-37354850C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9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" name="Oval 167">
                <a:extLst>
                  <a:ext uri="{FF2B5EF4-FFF2-40B4-BE49-F238E27FC236}">
                    <a16:creationId xmlns:a16="http://schemas.microsoft.com/office/drawing/2014/main" id="{9F154E92-095E-194F-B02E-9A00467A0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" name="Oval 168">
                <a:extLst>
                  <a:ext uri="{FF2B5EF4-FFF2-40B4-BE49-F238E27FC236}">
                    <a16:creationId xmlns:a16="http://schemas.microsoft.com/office/drawing/2014/main" id="{9D1FEADC-3D9C-A84B-8B87-2D971178E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4"/>
                <a:ext cx="158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8" name="Oval 169">
                <a:extLst>
                  <a:ext uri="{FF2B5EF4-FFF2-40B4-BE49-F238E27FC236}">
                    <a16:creationId xmlns:a16="http://schemas.microsoft.com/office/drawing/2014/main" id="{4E9E3512-C0DF-9C4B-84D2-8F5465E6D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79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" name="Rectangle 170">
                <a:extLst>
                  <a:ext uri="{FF2B5EF4-FFF2-40B4-BE49-F238E27FC236}">
                    <a16:creationId xmlns:a16="http://schemas.microsoft.com/office/drawing/2014/main" id="{4D132F38-B955-6A4E-A501-5DB6D9BF92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84" name="Text Box 8">
              <a:extLst>
                <a:ext uri="{FF2B5EF4-FFF2-40B4-BE49-F238E27FC236}">
                  <a16:creationId xmlns:a16="http://schemas.microsoft.com/office/drawing/2014/main" id="{5DE1E660-E2FD-8848-B0BB-84A037DCC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0000" y="2687749"/>
              <a:ext cx="786882" cy="590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Web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cache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5" name="Text Box 21">
            <a:extLst>
              <a:ext uri="{FF2B5EF4-FFF2-40B4-BE49-F238E27FC236}">
                <a16:creationId xmlns:a16="http://schemas.microsoft.com/office/drawing/2014/main" id="{E15405A8-0743-624D-A374-AA89B476D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5089863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86" name="Group 53">
            <a:extLst>
              <a:ext uri="{FF2B5EF4-FFF2-40B4-BE49-F238E27FC236}">
                <a16:creationId xmlns:a16="http://schemas.microsoft.com/office/drawing/2014/main" id="{006A4F95-0B3D-AC43-A627-71A7FD2195DC}"/>
              </a:ext>
            </a:extLst>
          </p:cNvPr>
          <p:cNvGrpSpPr>
            <a:grpSpLocks/>
          </p:cNvGrpSpPr>
          <p:nvPr/>
        </p:nvGrpSpPr>
        <p:grpSpPr bwMode="auto">
          <a:xfrm>
            <a:off x="6915150" y="3845263"/>
            <a:ext cx="1490663" cy="760413"/>
            <a:chOff x="2942" y="2580"/>
            <a:chExt cx="939" cy="479"/>
          </a:xfrm>
        </p:grpSpPr>
        <p:sp>
          <p:nvSpPr>
            <p:cNvPr id="87" name="Line 19">
              <a:extLst>
                <a:ext uri="{FF2B5EF4-FFF2-40B4-BE49-F238E27FC236}">
                  <a16:creationId xmlns:a16="http://schemas.microsoft.com/office/drawing/2014/main" id="{C4FCDE12-2844-E249-88D6-1248CC2CE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8" y="2580"/>
              <a:ext cx="883" cy="47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2" name="Text Box 23">
              <a:extLst>
                <a:ext uri="{FF2B5EF4-FFF2-40B4-BE49-F238E27FC236}">
                  <a16:creationId xmlns:a16="http://schemas.microsoft.com/office/drawing/2014/main" id="{BDF0B946-2F1F-B54D-8334-894004430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907361">
              <a:off x="2942" y="264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3" name="Group 54">
            <a:extLst>
              <a:ext uri="{FF2B5EF4-FFF2-40B4-BE49-F238E27FC236}">
                <a16:creationId xmlns:a16="http://schemas.microsoft.com/office/drawing/2014/main" id="{0430DB37-F13E-FB4C-8461-73427AD15541}"/>
              </a:ext>
            </a:extLst>
          </p:cNvPr>
          <p:cNvGrpSpPr>
            <a:grpSpLocks/>
          </p:cNvGrpSpPr>
          <p:nvPr/>
        </p:nvGrpSpPr>
        <p:grpSpPr bwMode="auto">
          <a:xfrm>
            <a:off x="7054850" y="3932576"/>
            <a:ext cx="1487488" cy="785812"/>
            <a:chOff x="3030" y="2635"/>
            <a:chExt cx="937" cy="495"/>
          </a:xfrm>
        </p:grpSpPr>
        <p:sp>
          <p:nvSpPr>
            <p:cNvPr id="94" name="Line 20">
              <a:extLst>
                <a:ext uri="{FF2B5EF4-FFF2-40B4-BE49-F238E27FC236}">
                  <a16:creationId xmlns:a16="http://schemas.microsoft.com/office/drawing/2014/main" id="{68522646-1C6E-6141-85AF-6F21328BDB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0" y="2635"/>
              <a:ext cx="884" cy="49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Text Box 25">
              <a:extLst>
                <a:ext uri="{FF2B5EF4-FFF2-40B4-BE49-F238E27FC236}">
                  <a16:creationId xmlns:a16="http://schemas.microsoft.com/office/drawing/2014/main" id="{497C49B3-B78E-EF40-9F30-9D168B831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862217">
              <a:off x="3069" y="2846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6" name="Group 49">
            <a:extLst>
              <a:ext uri="{FF2B5EF4-FFF2-40B4-BE49-F238E27FC236}">
                <a16:creationId xmlns:a16="http://schemas.microsoft.com/office/drawing/2014/main" id="{8EC23EE2-3572-4749-B83B-56A3E22AF760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873713"/>
            <a:ext cx="3251200" cy="730250"/>
            <a:chOff x="3002" y="1979"/>
            <a:chExt cx="2048" cy="460"/>
          </a:xfrm>
        </p:grpSpPr>
        <p:sp>
          <p:nvSpPr>
            <p:cNvPr id="97" name="Freeform 18">
              <a:extLst>
                <a:ext uri="{FF2B5EF4-FFF2-40B4-BE49-F238E27FC236}">
                  <a16:creationId xmlns:a16="http://schemas.microsoft.com/office/drawing/2014/main" id="{B3BFA12B-AF52-444A-9C8D-FD235EBCD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979"/>
              <a:ext cx="2048" cy="460"/>
            </a:xfrm>
            <a:custGeom>
              <a:avLst/>
              <a:gdLst>
                <a:gd name="T0" fmla="*/ 0 w 2048"/>
                <a:gd name="T1" fmla="*/ 2 h 460"/>
                <a:gd name="T2" fmla="*/ 1011 w 2048"/>
                <a:gd name="T3" fmla="*/ 460 h 460"/>
                <a:gd name="T4" fmla="*/ 2048 w 2048"/>
                <a:gd name="T5" fmla="*/ 0 h 460"/>
                <a:gd name="T6" fmla="*/ 0 60000 65536"/>
                <a:gd name="T7" fmla="*/ 0 60000 65536"/>
                <a:gd name="T8" fmla="*/ 0 60000 65536"/>
                <a:gd name="T9" fmla="*/ 0 w 2048"/>
                <a:gd name="T10" fmla="*/ 0 h 460"/>
                <a:gd name="T11" fmla="*/ 2048 w 2048"/>
                <a:gd name="T12" fmla="*/ 460 h 4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8" h="460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8" name="Text Box 22">
              <a:extLst>
                <a:ext uri="{FF2B5EF4-FFF2-40B4-BE49-F238E27FC236}">
                  <a16:creationId xmlns:a16="http://schemas.microsoft.com/office/drawing/2014/main" id="{5DC9736F-EB13-904A-A584-847C86859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129" y="200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Text Box 45">
              <a:extLst>
                <a:ext uri="{FF2B5EF4-FFF2-40B4-BE49-F238E27FC236}">
                  <a16:creationId xmlns:a16="http://schemas.microsoft.com/office/drawing/2014/main" id="{5F201396-3496-B54A-87C0-83E69A7B8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0032">
              <a:off x="4160" y="201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1" name="Text Box 48">
            <a:extLst>
              <a:ext uri="{FF2B5EF4-FFF2-40B4-BE49-F238E27FC236}">
                <a16:creationId xmlns:a16="http://schemas.microsoft.com/office/drawing/2014/main" id="{53C0E2C7-E328-094F-86C2-7FF28BDF9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1826" y="3292132"/>
            <a:ext cx="70884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origin 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03" name="Picture 56">
            <a:extLst>
              <a:ext uri="{FF2B5EF4-FFF2-40B4-BE49-F238E27FC236}">
                <a16:creationId xmlns:a16="http://schemas.microsoft.com/office/drawing/2014/main" id="{D1860A46-FB8D-2145-A291-FDFCD300B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2588" y="2381588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4" name="Group 60">
            <a:extLst>
              <a:ext uri="{FF2B5EF4-FFF2-40B4-BE49-F238E27FC236}">
                <a16:creationId xmlns:a16="http://schemas.microsoft.com/office/drawing/2014/main" id="{1E55489F-3411-D147-A30E-37C79E67D16D}"/>
              </a:ext>
            </a:extLst>
          </p:cNvPr>
          <p:cNvGrpSpPr>
            <a:grpSpLocks/>
          </p:cNvGrpSpPr>
          <p:nvPr/>
        </p:nvGrpSpPr>
        <p:grpSpPr bwMode="auto">
          <a:xfrm>
            <a:off x="6237288" y="2421276"/>
            <a:ext cx="4110038" cy="1814512"/>
            <a:chOff x="2515" y="1687"/>
            <a:chExt cx="2589" cy="1143"/>
          </a:xfrm>
        </p:grpSpPr>
        <p:sp>
          <p:nvSpPr>
            <p:cNvPr id="105" name="Freeform 44">
              <a:extLst>
                <a:ext uri="{FF2B5EF4-FFF2-40B4-BE49-F238E27FC236}">
                  <a16:creationId xmlns:a16="http://schemas.microsoft.com/office/drawing/2014/main" id="{AD023CD7-2DF4-0047-A0A8-EE7C8FDF2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2026"/>
              <a:ext cx="2119" cy="476"/>
            </a:xfrm>
            <a:custGeom>
              <a:avLst/>
              <a:gdLst>
                <a:gd name="T0" fmla="*/ 2119 w 2119"/>
                <a:gd name="T1" fmla="*/ 0 h 476"/>
                <a:gd name="T2" fmla="*/ 1020 w 2119"/>
                <a:gd name="T3" fmla="*/ 476 h 476"/>
                <a:gd name="T4" fmla="*/ 0 w 2119"/>
                <a:gd name="T5" fmla="*/ 8 h 476"/>
                <a:gd name="T6" fmla="*/ 0 60000 65536"/>
                <a:gd name="T7" fmla="*/ 0 60000 65536"/>
                <a:gd name="T8" fmla="*/ 0 60000 65536"/>
                <a:gd name="T9" fmla="*/ 0 w 2119"/>
                <a:gd name="T10" fmla="*/ 0 h 476"/>
                <a:gd name="T11" fmla="*/ 2119 w 2119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9" h="476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" name="Text Box 24">
              <a:extLst>
                <a:ext uri="{FF2B5EF4-FFF2-40B4-BE49-F238E27FC236}">
                  <a16:creationId xmlns:a16="http://schemas.microsoft.com/office/drawing/2014/main" id="{3A73F75B-5403-E34F-8197-7456A76E7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2963" y="2243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Text Box 46">
              <a:extLst>
                <a:ext uri="{FF2B5EF4-FFF2-40B4-BE49-F238E27FC236}">
                  <a16:creationId xmlns:a16="http://schemas.microsoft.com/office/drawing/2014/main" id="{84D34D31-F002-7644-A66C-387CC45D7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4211">
              <a:off x="4193" y="2231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108" name="Picture 57">
              <a:extLst>
                <a:ext uri="{FF2B5EF4-FFF2-40B4-BE49-F238E27FC236}">
                  <a16:creationId xmlns:a16="http://schemas.microsoft.com/office/drawing/2014/main" id="{AAE983CF-984C-9D4D-815F-5073893D27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" name="Picture 59">
              <a:extLst>
                <a:ext uri="{FF2B5EF4-FFF2-40B4-BE49-F238E27FC236}">
                  <a16:creationId xmlns:a16="http://schemas.microsoft.com/office/drawing/2014/main" id="{24961BA7-6903-124E-955A-AEDC5B6FB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0" name="Picture 61">
            <a:extLst>
              <a:ext uri="{FF2B5EF4-FFF2-40B4-BE49-F238E27FC236}">
                <a16:creationId xmlns:a16="http://schemas.microsoft.com/office/drawing/2014/main" id="{DB808EFC-F790-0C46-B5F2-BCC2B49C4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913" y="4362788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Slide Number Placeholder 2">
            <a:extLst>
              <a:ext uri="{FF2B5EF4-FFF2-40B4-BE49-F238E27FC236}">
                <a16:creationId xmlns:a16="http://schemas.microsoft.com/office/drawing/2014/main" id="{AAEEF6BD-F1CB-4A4C-82D3-5C6EE9E6D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42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Web caches (aka proxy servers)</a:t>
            </a:r>
            <a:endParaRPr lang="en-US" sz="4400" dirty="0"/>
          </a:p>
        </p:txBody>
      </p:sp>
      <p:sp>
        <p:nvSpPr>
          <p:cNvPr id="144" name="Rectangle 3">
            <a:extLst>
              <a:ext uri="{FF2B5EF4-FFF2-40B4-BE49-F238E27FC236}">
                <a16:creationId xmlns:a16="http://schemas.microsoft.com/office/drawing/2014/main" id="{7B8521C1-7DCD-9344-8BCE-E617E0E93A48}"/>
              </a:ext>
            </a:extLst>
          </p:cNvPr>
          <p:cNvSpPr txBox="1">
            <a:spLocks noChangeArrowheads="1"/>
          </p:cNvSpPr>
          <p:nvPr/>
        </p:nvSpPr>
        <p:spPr>
          <a:xfrm>
            <a:off x="600308" y="1534695"/>
            <a:ext cx="4752277" cy="213493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988" marR="0" lvl="0" indent="-2778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cache acts as both client and server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 for original requesting client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 to origin server</a:t>
            </a:r>
          </a:p>
        </p:txBody>
      </p:sp>
      <p:sp>
        <p:nvSpPr>
          <p:cNvPr id="145" name="Rectangle 4">
            <a:extLst>
              <a:ext uri="{FF2B5EF4-FFF2-40B4-BE49-F238E27FC236}">
                <a16:creationId xmlns:a16="http://schemas.microsoft.com/office/drawing/2014/main" id="{F6AE5A0B-A69D-B948-BD0F-B69E446252C4}"/>
              </a:ext>
            </a:extLst>
          </p:cNvPr>
          <p:cNvSpPr txBox="1">
            <a:spLocks noChangeArrowheads="1"/>
          </p:cNvSpPr>
          <p:nvPr/>
        </p:nvSpPr>
        <p:spPr>
          <a:xfrm>
            <a:off x="5544015" y="1534695"/>
            <a:ext cx="6047678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Why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caching?</a:t>
            </a:r>
          </a:p>
          <a:p>
            <a:pPr marL="40798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reduce response time for client request </a:t>
            </a:r>
          </a:p>
          <a:p>
            <a:pPr marL="750888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cache is closer to client</a:t>
            </a:r>
          </a:p>
          <a:p>
            <a:pPr marL="40798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reduce traffic on an institution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’s access link</a:t>
            </a:r>
          </a:p>
          <a:p>
            <a:pPr marL="40798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Internet is dense with caches </a:t>
            </a:r>
          </a:p>
          <a:p>
            <a:pPr marL="750888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enables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poor” content providers to more effectively deliver content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078A0BA-EA92-E84B-9D25-74AB5B584F39}"/>
              </a:ext>
            </a:extLst>
          </p:cNvPr>
          <p:cNvGrpSpPr/>
          <p:nvPr/>
        </p:nvGrpSpPr>
        <p:grpSpPr>
          <a:xfrm>
            <a:off x="632391" y="3810000"/>
            <a:ext cx="4798594" cy="2217821"/>
            <a:chOff x="632391" y="3810000"/>
            <a:chExt cx="4798594" cy="221782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367C1AB-A47E-5446-99C0-0905B5F05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5462" y="5015497"/>
              <a:ext cx="4324685" cy="45212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CCF5707-C36A-2B44-B3DE-6F31EEC70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6130" y="5587331"/>
              <a:ext cx="4364855" cy="440490"/>
            </a:xfrm>
            <a:prstGeom prst="rect">
              <a:avLst/>
            </a:prstGeom>
          </p:spPr>
        </p:pic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9E701FCD-5285-BE4B-BD4D-92A5F9D53E0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32391" y="3810000"/>
              <a:ext cx="4757756" cy="1327484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7988" marR="0" lvl="0" indent="-277813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 tells cache about object’s allowable caching in response header:</a:t>
              </a:r>
            </a:p>
          </p:txBody>
        </p:sp>
      </p:grp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293899FF-7A74-EF40-AE83-53C006278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41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E83591-8817-3D4E-B1D7-7CB768593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3598333"/>
            <a:ext cx="1255183" cy="1030679"/>
          </a:xfrm>
          <a:prstGeom prst="rect">
            <a:avLst/>
          </a:prstGeom>
        </p:spPr>
      </p:pic>
      <p:pic>
        <p:nvPicPr>
          <p:cNvPr id="1026" name="Picture 2" descr="Image result for hot icon">
            <a:extLst>
              <a:ext uri="{FF2B5EF4-FFF2-40B4-BE49-F238E27FC236}">
                <a16:creationId xmlns:a16="http://schemas.microsoft.com/office/drawing/2014/main" id="{A7EAAD91-B13A-FE4B-8E84-68108CE64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660" y="3598333"/>
            <a:ext cx="721782" cy="72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>
                <a:ea typeface="ＭＳ Ｐゴシック" panose="020B0600070205080204" pitchFamily="34" charset="-128"/>
              </a:rPr>
              <a:t>Caching example</a:t>
            </a:r>
            <a:endParaRPr lang="en-US" sz="4800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62780" y="4516708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0" name="Oval 137">
            <a:extLst>
              <a:ext uri="{FF2B5EF4-FFF2-40B4-BE49-F238E27FC236}">
                <a16:creationId xmlns:a16="http://schemas.microsoft.com/office/drawing/2014/main" id="{A9F8C12A-15DE-3145-8755-75410365A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717" y="4370340"/>
            <a:ext cx="940980" cy="509975"/>
          </a:xfrm>
          <a:prstGeom prst="ellips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9" name="Rectangle 4">
            <a:extLst>
              <a:ext uri="{FF2B5EF4-FFF2-40B4-BE49-F238E27FC236}">
                <a16:creationId xmlns:a16="http://schemas.microsoft.com/office/drawing/2014/main" id="{3F40E6FA-56EE-4440-AD4E-B2DDBBC6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.97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LAN utilization: .0015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end-end delay  =  Internet delay +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    access link delay + LAN delay 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=  2 sec + minutes +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usecs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530" name="Rectangle 4">
            <a:extLst>
              <a:ext uri="{FF2B5EF4-FFF2-40B4-BE49-F238E27FC236}">
                <a16:creationId xmlns:a16="http://schemas.microsoft.com/office/drawing/2014/main" id="{0F198874-EC24-3849-8C53-D2436859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RTT from institutional router to server: 2 sec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web object size: 100K bits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request rate from browsers to origin servers: 15/sec</a:t>
            </a:r>
          </a:p>
          <a:p>
            <a:pPr marL="800100" marR="0" lvl="1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avg data rate to browsers: 1.50 Mbps</a:t>
            </a:r>
          </a:p>
        </p:txBody>
      </p:sp>
      <p:sp>
        <p:nvSpPr>
          <p:cNvPr id="214" name="Oval 137">
            <a:extLst>
              <a:ext uri="{FF2B5EF4-FFF2-40B4-BE49-F238E27FC236}">
                <a16:creationId xmlns:a16="http://schemas.microsoft.com/office/drawing/2014/main" id="{23716FFF-6EE9-1D40-8627-3412B2DC1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250" y="5809673"/>
            <a:ext cx="1119350" cy="591127"/>
          </a:xfrm>
          <a:prstGeom prst="ellips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1" name="Text Box 138">
            <a:extLst>
              <a:ext uri="{FF2B5EF4-FFF2-40B4-BE49-F238E27FC236}">
                <a16:creationId xmlns:a16="http://schemas.microsoft.com/office/drawing/2014/main" id="{99974D39-E173-B849-B8ED-599FAF902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4698" y="4320866"/>
            <a:ext cx="21257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9525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problem: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large queueing delays at high utilization!</a:t>
            </a:r>
          </a:p>
        </p:txBody>
      </p:sp>
      <p:sp>
        <p:nvSpPr>
          <p:cNvPr id="216" name="Slide Number Placeholder 2">
            <a:extLst>
              <a:ext uri="{FF2B5EF4-FFF2-40B4-BE49-F238E27FC236}">
                <a16:creationId xmlns:a16="http://schemas.microsoft.com/office/drawing/2014/main" id="{FE5CDB2C-98A2-A94B-BF70-466F1E231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53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" grpId="0" animBg="1"/>
      <p:bldP spid="214" grpId="0" animBg="1"/>
      <p:bldP spid="29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4">
            <a:extLst>
              <a:ext uri="{FF2B5EF4-FFF2-40B4-BE49-F238E27FC236}">
                <a16:creationId xmlns:a16="http://schemas.microsoft.com/office/drawing/2014/main" id="{98A75405-209A-CD48-8E25-225D64187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.97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LAN utilization: .0015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end-end delay  =  Internet delay +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    access link delay + LAN delay 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=  2 sec + minutes +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usecs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Option 1: buy a faster access link</a:t>
            </a:r>
            <a:endParaRPr lang="en-US" sz="4400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62780" y="4516708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0" name="Rectangle 4">
            <a:extLst>
              <a:ext uri="{FF2B5EF4-FFF2-40B4-BE49-F238E27FC236}">
                <a16:creationId xmlns:a16="http://schemas.microsoft.com/office/drawing/2014/main" id="{0F198874-EC24-3849-8C53-D2436859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RTT from institutional router to server: 2 sec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web object size: 100K bits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request rate from browsers to origin servers: 15/sec</a:t>
            </a:r>
          </a:p>
          <a:p>
            <a:pPr marL="800100" marR="0" lvl="1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avg data rate to browsers: 1.50 Mbps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FF3AF6D-4CBE-BE4A-AF26-B6F34DC9EF33}"/>
              </a:ext>
            </a:extLst>
          </p:cNvPr>
          <p:cNvGrpSpPr/>
          <p:nvPr/>
        </p:nvGrpSpPr>
        <p:grpSpPr>
          <a:xfrm>
            <a:off x="3269205" y="1370475"/>
            <a:ext cx="7974440" cy="2642996"/>
            <a:chOff x="3269205" y="1370475"/>
            <a:chExt cx="7974440" cy="2642996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9AFA7B76-427C-134D-90BC-D4693AEF2136}"/>
                </a:ext>
              </a:extLst>
            </p:cNvPr>
            <p:cNvGrpSpPr/>
            <p:nvPr/>
          </p:nvGrpSpPr>
          <p:grpSpPr>
            <a:xfrm>
              <a:off x="3269205" y="1370475"/>
              <a:ext cx="2248984" cy="736408"/>
              <a:chOff x="4785771" y="3827302"/>
              <a:chExt cx="2248984" cy="736408"/>
            </a:xfrm>
          </p:grpSpPr>
          <p:sp>
            <p:nvSpPr>
              <p:cNvPr id="215" name="Text Box 52">
                <a:extLst>
                  <a:ext uri="{FF2B5EF4-FFF2-40B4-BE49-F238E27FC236}">
                    <a16:creationId xmlns:a16="http://schemas.microsoft.com/office/drawing/2014/main" id="{D9BA6C4C-0CF0-8742-ACB2-5841143818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49268" y="3827302"/>
                <a:ext cx="158548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154 Mbps</a:t>
                </a: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1FA396C6-E0DB-E54B-9564-C46EF025F0E3}"/>
                  </a:ext>
                </a:extLst>
              </p:cNvPr>
              <p:cNvSpPr/>
              <p:nvPr/>
            </p:nvSpPr>
            <p:spPr>
              <a:xfrm>
                <a:off x="4785771" y="4223523"/>
                <a:ext cx="611420" cy="340187"/>
              </a:xfrm>
              <a:prstGeom prst="rect">
                <a:avLst/>
              </a:prstGeom>
              <a:solidFill>
                <a:schemeClr val="bg1">
                  <a:alpha val="6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7" name="Line 51">
                <a:extLst>
                  <a:ext uri="{FF2B5EF4-FFF2-40B4-BE49-F238E27FC236}">
                    <a16:creationId xmlns:a16="http://schemas.microsoft.com/office/drawing/2014/main" id="{5DC119B0-D3C1-9741-8399-6E949D961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28478" y="4140660"/>
                <a:ext cx="680225" cy="423048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43EB18F1-EB9B-AB4E-9315-D47FB051A2D9}"/>
                </a:ext>
              </a:extLst>
            </p:cNvPr>
            <p:cNvGrpSpPr/>
            <p:nvPr/>
          </p:nvGrpSpPr>
          <p:grpSpPr>
            <a:xfrm>
              <a:off x="9113107" y="3496571"/>
              <a:ext cx="2130538" cy="516900"/>
              <a:chOff x="4352719" y="3567941"/>
              <a:chExt cx="2130538" cy="516900"/>
            </a:xfrm>
          </p:grpSpPr>
          <p:sp>
            <p:nvSpPr>
              <p:cNvPr id="219" name="Text Box 52">
                <a:extLst>
                  <a:ext uri="{FF2B5EF4-FFF2-40B4-BE49-F238E27FC236}">
                    <a16:creationId xmlns:a16="http://schemas.microsoft.com/office/drawing/2014/main" id="{414BD24A-A827-744B-8CF6-F9EAA2D920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7770" y="3567941"/>
                <a:ext cx="158548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154 Mbps</a:t>
                </a: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C3E3E743-58A9-D543-ABF2-E8D950F0D5C4}"/>
                  </a:ext>
                </a:extLst>
              </p:cNvPr>
              <p:cNvSpPr/>
              <p:nvPr/>
            </p:nvSpPr>
            <p:spPr>
              <a:xfrm>
                <a:off x="4352719" y="3822059"/>
                <a:ext cx="527164" cy="262782"/>
              </a:xfrm>
              <a:prstGeom prst="rect">
                <a:avLst/>
              </a:prstGeom>
              <a:solidFill>
                <a:schemeClr val="bg1">
                  <a:alpha val="6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1" name="Line 51">
                <a:extLst>
                  <a:ext uri="{FF2B5EF4-FFF2-40B4-BE49-F238E27FC236}">
                    <a16:creationId xmlns:a16="http://schemas.microsoft.com/office/drawing/2014/main" id="{C012F3C8-BFC0-0C46-8D2D-992B1C38C6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59229" y="3805441"/>
                <a:ext cx="554004" cy="237118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173CBB2E-654A-474B-8238-296B81F89068}"/>
              </a:ext>
            </a:extLst>
          </p:cNvPr>
          <p:cNvGrpSpPr/>
          <p:nvPr/>
        </p:nvGrpSpPr>
        <p:grpSpPr>
          <a:xfrm>
            <a:off x="4067394" y="4387359"/>
            <a:ext cx="2583033" cy="461665"/>
            <a:chOff x="4114801" y="3880785"/>
            <a:chExt cx="2583033" cy="461665"/>
          </a:xfrm>
        </p:grpSpPr>
        <p:sp>
          <p:nvSpPr>
            <p:cNvPr id="223" name="Text Box 52">
              <a:extLst>
                <a:ext uri="{FF2B5EF4-FFF2-40B4-BE49-F238E27FC236}">
                  <a16:creationId xmlns:a16="http://schemas.microsoft.com/office/drawing/2014/main" id="{FA193B58-E942-8A47-9F5D-3A2B58608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2347" y="3880785"/>
              <a:ext cx="15854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.0097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84682AEF-F684-9F45-A3DA-FEDE9ED18429}"/>
                </a:ext>
              </a:extLst>
            </p:cNvPr>
            <p:cNvSpPr/>
            <p:nvPr/>
          </p:nvSpPr>
          <p:spPr>
            <a:xfrm>
              <a:off x="4114801" y="3955100"/>
              <a:ext cx="498412" cy="340187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5" name="Line 51">
              <a:extLst>
                <a:ext uri="{FF2B5EF4-FFF2-40B4-BE49-F238E27FC236}">
                  <a16:creationId xmlns:a16="http://schemas.microsoft.com/office/drawing/2014/main" id="{8F3A165F-08A0-9D4B-B82D-B603502A1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070" y="4117024"/>
              <a:ext cx="936703" cy="1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598125F6-3C0E-B64C-9CC2-9EFB4DA6980E}"/>
              </a:ext>
            </a:extLst>
          </p:cNvPr>
          <p:cNvGrpSpPr/>
          <p:nvPr/>
        </p:nvGrpSpPr>
        <p:grpSpPr>
          <a:xfrm>
            <a:off x="4351868" y="5927346"/>
            <a:ext cx="3101886" cy="698305"/>
            <a:chOff x="3557204" y="3415545"/>
            <a:chExt cx="3101886" cy="698305"/>
          </a:xfrm>
        </p:grpSpPr>
        <p:sp>
          <p:nvSpPr>
            <p:cNvPr id="227" name="Text Box 52">
              <a:extLst>
                <a:ext uri="{FF2B5EF4-FFF2-40B4-BE49-F238E27FC236}">
                  <a16:creationId xmlns:a16="http://schemas.microsoft.com/office/drawing/2014/main" id="{5B815C0E-E9AF-964A-AB0C-F8220D77B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5973" y="3652185"/>
              <a:ext cx="11031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msecs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4EE7EB05-EB77-DA46-8D82-2C1B89B59FCD}"/>
                </a:ext>
              </a:extLst>
            </p:cNvPr>
            <p:cNvSpPr/>
            <p:nvPr/>
          </p:nvSpPr>
          <p:spPr>
            <a:xfrm>
              <a:off x="3557204" y="3415545"/>
              <a:ext cx="1041334" cy="337988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9" name="Line 51">
              <a:extLst>
                <a:ext uri="{FF2B5EF4-FFF2-40B4-BE49-F238E27FC236}">
                  <a16:creationId xmlns:a16="http://schemas.microsoft.com/office/drawing/2014/main" id="{45B58613-BF72-9847-A603-92F5F10A9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2316" y="3504654"/>
              <a:ext cx="1983056" cy="46166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0" name="Text Box 83">
            <a:extLst>
              <a:ext uri="{FF2B5EF4-FFF2-40B4-BE49-F238E27FC236}">
                <a16:creationId xmlns:a16="http://schemas.microsoft.com/office/drawing/2014/main" id="{3A71517F-2630-E14F-B4A5-B7AD1A33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724" y="6212256"/>
            <a:ext cx="45657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Cost: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faster access link (expensive!)</a:t>
            </a:r>
          </a:p>
        </p:txBody>
      </p:sp>
      <p:sp>
        <p:nvSpPr>
          <p:cNvPr id="231" name="Slide Number Placeholder 2">
            <a:extLst>
              <a:ext uri="{FF2B5EF4-FFF2-40B4-BE49-F238E27FC236}">
                <a16:creationId xmlns:a16="http://schemas.microsoft.com/office/drawing/2014/main" id="{FF0ECF32-52FF-7941-8B38-AE471D68A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27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Rectangle 4">
            <a:extLst>
              <a:ext uri="{FF2B5EF4-FFF2-40B4-BE49-F238E27FC236}">
                <a16:creationId xmlns:a16="http://schemas.microsoft.com/office/drawing/2014/main" id="{3F40E6FA-56EE-4440-AD4E-B2DDBBC6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868" y="4719957"/>
            <a:ext cx="6361287" cy="2302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LAN utilization: 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end-end delay 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Option 2: install a web cache</a:t>
            </a:r>
            <a:endParaRPr lang="en-US" sz="4400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63006" y="4514213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0" name="Rectangle 4">
            <a:extLst>
              <a:ext uri="{FF2B5EF4-FFF2-40B4-BE49-F238E27FC236}">
                <a16:creationId xmlns:a16="http://schemas.microsoft.com/office/drawing/2014/main" id="{0F198874-EC24-3849-8C53-D2436859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RTT from institutional router to server: 2 sec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web object size: 100K bits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request rate from browsers to origin servers: 15/sec</a:t>
            </a:r>
          </a:p>
          <a:p>
            <a:pPr marL="800100" marR="0" lvl="1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avg data rate to browsers: 1.50 Mbps</a:t>
            </a:r>
          </a:p>
        </p:txBody>
      </p: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B9D561-2CE1-E94C-A5B6-6D386991296C}"/>
              </a:ext>
            </a:extLst>
          </p:cNvPr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98426B-04DE-A940-931E-BDC464270408}"/>
                </a:ext>
              </a:extLst>
            </p:cNvPr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8995C0-BBC9-804D-85E8-324290F772D6}"/>
                </a:ext>
              </a:extLst>
            </p:cNvPr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sp>
            <p:nvSpPr>
              <p:cNvPr id="266" name="Line 80">
                <a:extLst>
                  <a:ext uri="{FF2B5EF4-FFF2-40B4-BE49-F238E27FC236}">
                    <a16:creationId xmlns:a16="http://schemas.microsoft.com/office/drawing/2014/main" id="{DC2C9F57-B9EB-1941-A689-B13B8950B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66625" y="5189290"/>
                <a:ext cx="76200" cy="32226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60" name="Group 307">
                <a:extLst>
                  <a:ext uri="{FF2B5EF4-FFF2-40B4-BE49-F238E27FC236}">
                    <a16:creationId xmlns:a16="http://schemas.microsoft.com/office/drawing/2014/main" id="{EBBCE30B-4C00-0843-BA56-FF3F98DF9C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461" name="Freeform 308">
                  <a:extLst>
                    <a:ext uri="{FF2B5EF4-FFF2-40B4-BE49-F238E27FC236}">
                      <a16:creationId xmlns:a16="http://schemas.microsoft.com/office/drawing/2014/main" id="{83748550-5535-714B-A011-5732D5AB9F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2" name="Rectangle 309">
                  <a:extLst>
                    <a:ext uri="{FF2B5EF4-FFF2-40B4-BE49-F238E27FC236}">
                      <a16:creationId xmlns:a16="http://schemas.microsoft.com/office/drawing/2014/main" id="{9EDD97E5-06A3-F844-AC12-86FF0C9889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3" name="Freeform 310">
                  <a:extLst>
                    <a:ext uri="{FF2B5EF4-FFF2-40B4-BE49-F238E27FC236}">
                      <a16:creationId xmlns:a16="http://schemas.microsoft.com/office/drawing/2014/main" id="{70945480-4E5A-4D4D-9CB5-2EE3B8B723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4" name="Freeform 311">
                  <a:extLst>
                    <a:ext uri="{FF2B5EF4-FFF2-40B4-BE49-F238E27FC236}">
                      <a16:creationId xmlns:a16="http://schemas.microsoft.com/office/drawing/2014/main" id="{2D50B6AC-633A-E648-9313-0B33331842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5" name="Rectangle 312">
                  <a:extLst>
                    <a:ext uri="{FF2B5EF4-FFF2-40B4-BE49-F238E27FC236}">
                      <a16:creationId xmlns:a16="http://schemas.microsoft.com/office/drawing/2014/main" id="{47F72229-4C07-FF49-B907-A9D7C03797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6" name="Group 313">
                  <a:extLst>
                    <a:ext uri="{FF2B5EF4-FFF2-40B4-BE49-F238E27FC236}">
                      <a16:creationId xmlns:a16="http://schemas.microsoft.com/office/drawing/2014/main" id="{A42FF10A-615B-304D-8C35-154C0E4C57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91" name="AutoShape 314">
                    <a:extLst>
                      <a:ext uri="{FF2B5EF4-FFF2-40B4-BE49-F238E27FC236}">
                        <a16:creationId xmlns:a16="http://schemas.microsoft.com/office/drawing/2014/main" id="{34A57301-3C4F-8449-804B-13CE58B484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5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2" name="AutoShape 315">
                    <a:extLst>
                      <a:ext uri="{FF2B5EF4-FFF2-40B4-BE49-F238E27FC236}">
                        <a16:creationId xmlns:a16="http://schemas.microsoft.com/office/drawing/2014/main" id="{9A1FA8F9-C3C6-0F4F-92B5-0F88F3CADE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95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7" name="Rectangle 316">
                  <a:extLst>
                    <a:ext uri="{FF2B5EF4-FFF2-40B4-BE49-F238E27FC236}">
                      <a16:creationId xmlns:a16="http://schemas.microsoft.com/office/drawing/2014/main" id="{9C19D553-23E1-C642-BE27-380720AFE3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8" name="Group 317">
                  <a:extLst>
                    <a:ext uri="{FF2B5EF4-FFF2-40B4-BE49-F238E27FC236}">
                      <a16:creationId xmlns:a16="http://schemas.microsoft.com/office/drawing/2014/main" id="{BA84A45F-1D87-2D4A-ADC6-FBD0F07175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9" name="AutoShape 318">
                    <a:extLst>
                      <a:ext uri="{FF2B5EF4-FFF2-40B4-BE49-F238E27FC236}">
                        <a16:creationId xmlns:a16="http://schemas.microsoft.com/office/drawing/2014/main" id="{9967BFD2-AF98-6C48-9664-709DAD7F64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0" name="AutoShape 319">
                    <a:extLst>
                      <a:ext uri="{FF2B5EF4-FFF2-40B4-BE49-F238E27FC236}">
                        <a16:creationId xmlns:a16="http://schemas.microsoft.com/office/drawing/2014/main" id="{98F66D34-8A75-524A-85C0-CD7FBB2309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4"/>
                    <a:ext cx="695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9" name="Rectangle 320">
                  <a:extLst>
                    <a:ext uri="{FF2B5EF4-FFF2-40B4-BE49-F238E27FC236}">
                      <a16:creationId xmlns:a16="http://schemas.microsoft.com/office/drawing/2014/main" id="{C6107AE3-3C09-A34C-964D-28157ABBD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0" name="Rectangle 321">
                  <a:extLst>
                    <a:ext uri="{FF2B5EF4-FFF2-40B4-BE49-F238E27FC236}">
                      <a16:creationId xmlns:a16="http://schemas.microsoft.com/office/drawing/2014/main" id="{737FBD85-26B2-914A-8B0D-606EB3EDB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1" name="Group 322">
                  <a:extLst>
                    <a:ext uri="{FF2B5EF4-FFF2-40B4-BE49-F238E27FC236}">
                      <a16:creationId xmlns:a16="http://schemas.microsoft.com/office/drawing/2014/main" id="{E5A59E91-C5CD-894D-8213-3909A8CC3A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87" name="AutoShape 323">
                    <a:extLst>
                      <a:ext uri="{FF2B5EF4-FFF2-40B4-BE49-F238E27FC236}">
                        <a16:creationId xmlns:a16="http://schemas.microsoft.com/office/drawing/2014/main" id="{8962A917-2AE1-7242-B9FB-8E9263A510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31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8" name="AutoShape 324">
                    <a:extLst>
                      <a:ext uri="{FF2B5EF4-FFF2-40B4-BE49-F238E27FC236}">
                        <a16:creationId xmlns:a16="http://schemas.microsoft.com/office/drawing/2014/main" id="{97C18552-37AD-CE49-8BBD-05E8608B61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9"/>
                    <a:ext cx="701" cy="9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2" name="Freeform 325">
                  <a:extLst>
                    <a:ext uri="{FF2B5EF4-FFF2-40B4-BE49-F238E27FC236}">
                      <a16:creationId xmlns:a16="http://schemas.microsoft.com/office/drawing/2014/main" id="{426DAACD-E1F3-7E44-9DC7-B1A44414F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3" name="Group 326">
                  <a:extLst>
                    <a:ext uri="{FF2B5EF4-FFF2-40B4-BE49-F238E27FC236}">
                      <a16:creationId xmlns:a16="http://schemas.microsoft.com/office/drawing/2014/main" id="{73D89D04-968E-6442-873B-B8D1778FD2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85" name="AutoShape 327">
                    <a:extLst>
                      <a:ext uri="{FF2B5EF4-FFF2-40B4-BE49-F238E27FC236}">
                        <a16:creationId xmlns:a16="http://schemas.microsoft.com/office/drawing/2014/main" id="{6065DB5E-95E8-8643-B0FE-6CB09E8FDB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8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6" name="AutoShape 328">
                    <a:extLst>
                      <a:ext uri="{FF2B5EF4-FFF2-40B4-BE49-F238E27FC236}">
                        <a16:creationId xmlns:a16="http://schemas.microsoft.com/office/drawing/2014/main" id="{F973A90F-0F3C-F744-97ED-8AAC23F79D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1"/>
                    <a:ext cx="694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4" name="Rectangle 329">
                  <a:extLst>
                    <a:ext uri="{FF2B5EF4-FFF2-40B4-BE49-F238E27FC236}">
                      <a16:creationId xmlns:a16="http://schemas.microsoft.com/office/drawing/2014/main" id="{F4ADD3E7-CF4E-ED4B-B276-1E6A7B9D4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2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5" name="Freeform 330">
                  <a:extLst>
                    <a:ext uri="{FF2B5EF4-FFF2-40B4-BE49-F238E27FC236}">
                      <a16:creationId xmlns:a16="http://schemas.microsoft.com/office/drawing/2014/main" id="{1CEE161A-40E6-604E-B7AD-3830C72F6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6" name="Freeform 331">
                  <a:extLst>
                    <a:ext uri="{FF2B5EF4-FFF2-40B4-BE49-F238E27FC236}">
                      <a16:creationId xmlns:a16="http://schemas.microsoft.com/office/drawing/2014/main" id="{40DF445E-B42A-CF43-806C-B86CD0017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7" name="Oval 332">
                  <a:extLst>
                    <a:ext uri="{FF2B5EF4-FFF2-40B4-BE49-F238E27FC236}">
                      <a16:creationId xmlns:a16="http://schemas.microsoft.com/office/drawing/2014/main" id="{4AA850BD-AD7E-884D-BB50-C36880F43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8" name="Freeform 333">
                  <a:extLst>
                    <a:ext uri="{FF2B5EF4-FFF2-40B4-BE49-F238E27FC236}">
                      <a16:creationId xmlns:a16="http://schemas.microsoft.com/office/drawing/2014/main" id="{04990E0C-FF14-0448-9208-F0CB93DA52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9" name="AutoShape 334">
                  <a:extLst>
                    <a:ext uri="{FF2B5EF4-FFF2-40B4-BE49-F238E27FC236}">
                      <a16:creationId xmlns:a16="http://schemas.microsoft.com/office/drawing/2014/main" id="{29F22CD1-333F-2444-8E27-DB06458666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197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0" name="AutoShape 335">
                  <a:extLst>
                    <a:ext uri="{FF2B5EF4-FFF2-40B4-BE49-F238E27FC236}">
                      <a16:creationId xmlns:a16="http://schemas.microsoft.com/office/drawing/2014/main" id="{9522690A-CB4D-3F4F-855E-313DECF4F1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2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1" name="Oval 336">
                  <a:extLst>
                    <a:ext uri="{FF2B5EF4-FFF2-40B4-BE49-F238E27FC236}">
                      <a16:creationId xmlns:a16="http://schemas.microsoft.com/office/drawing/2014/main" id="{749723D7-4892-4246-90CC-F3A241CAD0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2" name="Oval 337">
                  <a:extLst>
                    <a:ext uri="{FF2B5EF4-FFF2-40B4-BE49-F238E27FC236}">
                      <a16:creationId xmlns:a16="http://schemas.microsoft.com/office/drawing/2014/main" id="{B774EC24-F0E4-0846-B90E-1164E93324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3" name="Oval 338">
                  <a:extLst>
                    <a:ext uri="{FF2B5EF4-FFF2-40B4-BE49-F238E27FC236}">
                      <a16:creationId xmlns:a16="http://schemas.microsoft.com/office/drawing/2014/main" id="{2751493B-E933-8A4F-BE77-A10013F6A4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4" name="Rectangle 339">
                  <a:extLst>
                    <a:ext uri="{FF2B5EF4-FFF2-40B4-BE49-F238E27FC236}">
                      <a16:creationId xmlns:a16="http://schemas.microsoft.com/office/drawing/2014/main" id="{635CA67E-C290-3742-9D2C-39D9B69DB5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sp>
        <p:nvSpPr>
          <p:cNvPr id="281" name="Text Box 76">
            <a:extLst>
              <a:ext uri="{FF2B5EF4-FFF2-40B4-BE49-F238E27FC236}">
                <a16:creationId xmlns:a16="http://schemas.microsoft.com/office/drawing/2014/main" id="{3175A1F8-F48E-9749-AA0C-8A115012D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372" y="5180762"/>
            <a:ext cx="2818464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How to compute link </a:t>
            </a:r>
          </a:p>
          <a:p>
            <a:pPr marL="342900" marR="0" lvl="0" indent="-34290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utilization, delay?</a:t>
            </a:r>
          </a:p>
        </p:txBody>
      </p:sp>
      <p:sp>
        <p:nvSpPr>
          <p:cNvPr id="282" name="Text Box 83">
            <a:extLst>
              <a:ext uri="{FF2B5EF4-FFF2-40B4-BE49-F238E27FC236}">
                <a16:creationId xmlns:a16="http://schemas.microsoft.com/office/drawing/2014/main" id="{445BA7C8-9DBB-B245-98C3-EA83E67E0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791" y="4053039"/>
            <a:ext cx="33066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Cost: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web cache (cheap!)</a:t>
            </a:r>
          </a:p>
        </p:txBody>
      </p:sp>
      <p:sp>
        <p:nvSpPr>
          <p:cNvPr id="251" name="Text Box 98">
            <a:extLst>
              <a:ext uri="{FF2B5EF4-FFF2-40B4-BE49-F238E27FC236}">
                <a16:creationId xmlns:a16="http://schemas.microsoft.com/office/drawing/2014/main" id="{40BB819D-0723-5748-B260-0AF0BBAC2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local web cache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2" name="Slide Number Placeholder 2">
            <a:extLst>
              <a:ext uri="{FF2B5EF4-FFF2-40B4-BE49-F238E27FC236}">
                <a16:creationId xmlns:a16="http://schemas.microsoft.com/office/drawing/2014/main" id="{CD12BA19-40D2-F44B-8E23-E4E6B15A6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15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" grpId="0"/>
      <p:bldP spid="282" grpId="0"/>
      <p:bldP spid="25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Calculating access link utilization, end-end delay with cache:</a:t>
            </a:r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48492" y="4470671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B9D561-2CE1-E94C-A5B6-6D386991296C}"/>
              </a:ext>
            </a:extLst>
          </p:cNvPr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98426B-04DE-A940-931E-BDC464270408}"/>
                </a:ext>
              </a:extLst>
            </p:cNvPr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8995C0-BBC9-804D-85E8-324290F772D6}"/>
                </a:ext>
              </a:extLst>
            </p:cNvPr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sp>
            <p:nvSpPr>
              <p:cNvPr id="266" name="Line 80">
                <a:extLst>
                  <a:ext uri="{FF2B5EF4-FFF2-40B4-BE49-F238E27FC236}">
                    <a16:creationId xmlns:a16="http://schemas.microsoft.com/office/drawing/2014/main" id="{DC2C9F57-B9EB-1941-A689-B13B8950B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66625" y="5189290"/>
                <a:ext cx="76200" cy="32226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60" name="Group 307">
                <a:extLst>
                  <a:ext uri="{FF2B5EF4-FFF2-40B4-BE49-F238E27FC236}">
                    <a16:creationId xmlns:a16="http://schemas.microsoft.com/office/drawing/2014/main" id="{EBBCE30B-4C00-0843-BA56-FF3F98DF9C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461" name="Freeform 308">
                  <a:extLst>
                    <a:ext uri="{FF2B5EF4-FFF2-40B4-BE49-F238E27FC236}">
                      <a16:creationId xmlns:a16="http://schemas.microsoft.com/office/drawing/2014/main" id="{83748550-5535-714B-A011-5732D5AB9F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2" name="Rectangle 309">
                  <a:extLst>
                    <a:ext uri="{FF2B5EF4-FFF2-40B4-BE49-F238E27FC236}">
                      <a16:creationId xmlns:a16="http://schemas.microsoft.com/office/drawing/2014/main" id="{9EDD97E5-06A3-F844-AC12-86FF0C9889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3" name="Freeform 310">
                  <a:extLst>
                    <a:ext uri="{FF2B5EF4-FFF2-40B4-BE49-F238E27FC236}">
                      <a16:creationId xmlns:a16="http://schemas.microsoft.com/office/drawing/2014/main" id="{70945480-4E5A-4D4D-9CB5-2EE3B8B723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4" name="Freeform 311">
                  <a:extLst>
                    <a:ext uri="{FF2B5EF4-FFF2-40B4-BE49-F238E27FC236}">
                      <a16:creationId xmlns:a16="http://schemas.microsoft.com/office/drawing/2014/main" id="{2D50B6AC-633A-E648-9313-0B33331842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5" name="Rectangle 312">
                  <a:extLst>
                    <a:ext uri="{FF2B5EF4-FFF2-40B4-BE49-F238E27FC236}">
                      <a16:creationId xmlns:a16="http://schemas.microsoft.com/office/drawing/2014/main" id="{47F72229-4C07-FF49-B907-A9D7C03797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6" name="Group 313">
                  <a:extLst>
                    <a:ext uri="{FF2B5EF4-FFF2-40B4-BE49-F238E27FC236}">
                      <a16:creationId xmlns:a16="http://schemas.microsoft.com/office/drawing/2014/main" id="{A42FF10A-615B-304D-8C35-154C0E4C57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91" name="AutoShape 314">
                    <a:extLst>
                      <a:ext uri="{FF2B5EF4-FFF2-40B4-BE49-F238E27FC236}">
                        <a16:creationId xmlns:a16="http://schemas.microsoft.com/office/drawing/2014/main" id="{34A57301-3C4F-8449-804B-13CE58B484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5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2" name="AutoShape 315">
                    <a:extLst>
                      <a:ext uri="{FF2B5EF4-FFF2-40B4-BE49-F238E27FC236}">
                        <a16:creationId xmlns:a16="http://schemas.microsoft.com/office/drawing/2014/main" id="{9A1FA8F9-C3C6-0F4F-92B5-0F88F3CADE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95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7" name="Rectangle 316">
                  <a:extLst>
                    <a:ext uri="{FF2B5EF4-FFF2-40B4-BE49-F238E27FC236}">
                      <a16:creationId xmlns:a16="http://schemas.microsoft.com/office/drawing/2014/main" id="{9C19D553-23E1-C642-BE27-380720AFE3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8" name="Group 317">
                  <a:extLst>
                    <a:ext uri="{FF2B5EF4-FFF2-40B4-BE49-F238E27FC236}">
                      <a16:creationId xmlns:a16="http://schemas.microsoft.com/office/drawing/2014/main" id="{BA84A45F-1D87-2D4A-ADC6-FBD0F07175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9" name="AutoShape 318">
                    <a:extLst>
                      <a:ext uri="{FF2B5EF4-FFF2-40B4-BE49-F238E27FC236}">
                        <a16:creationId xmlns:a16="http://schemas.microsoft.com/office/drawing/2014/main" id="{9967BFD2-AF98-6C48-9664-709DAD7F64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0" name="AutoShape 319">
                    <a:extLst>
                      <a:ext uri="{FF2B5EF4-FFF2-40B4-BE49-F238E27FC236}">
                        <a16:creationId xmlns:a16="http://schemas.microsoft.com/office/drawing/2014/main" id="{98F66D34-8A75-524A-85C0-CD7FBB2309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4"/>
                    <a:ext cx="695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9" name="Rectangle 320">
                  <a:extLst>
                    <a:ext uri="{FF2B5EF4-FFF2-40B4-BE49-F238E27FC236}">
                      <a16:creationId xmlns:a16="http://schemas.microsoft.com/office/drawing/2014/main" id="{C6107AE3-3C09-A34C-964D-28157ABBD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0" name="Rectangle 321">
                  <a:extLst>
                    <a:ext uri="{FF2B5EF4-FFF2-40B4-BE49-F238E27FC236}">
                      <a16:creationId xmlns:a16="http://schemas.microsoft.com/office/drawing/2014/main" id="{737FBD85-26B2-914A-8B0D-606EB3EDB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1" name="Group 322">
                  <a:extLst>
                    <a:ext uri="{FF2B5EF4-FFF2-40B4-BE49-F238E27FC236}">
                      <a16:creationId xmlns:a16="http://schemas.microsoft.com/office/drawing/2014/main" id="{E5A59E91-C5CD-894D-8213-3909A8CC3A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87" name="AutoShape 323">
                    <a:extLst>
                      <a:ext uri="{FF2B5EF4-FFF2-40B4-BE49-F238E27FC236}">
                        <a16:creationId xmlns:a16="http://schemas.microsoft.com/office/drawing/2014/main" id="{8962A917-2AE1-7242-B9FB-8E9263A510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31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8" name="AutoShape 324">
                    <a:extLst>
                      <a:ext uri="{FF2B5EF4-FFF2-40B4-BE49-F238E27FC236}">
                        <a16:creationId xmlns:a16="http://schemas.microsoft.com/office/drawing/2014/main" id="{97C18552-37AD-CE49-8BBD-05E8608B61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9"/>
                    <a:ext cx="701" cy="9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2" name="Freeform 325">
                  <a:extLst>
                    <a:ext uri="{FF2B5EF4-FFF2-40B4-BE49-F238E27FC236}">
                      <a16:creationId xmlns:a16="http://schemas.microsoft.com/office/drawing/2014/main" id="{426DAACD-E1F3-7E44-9DC7-B1A44414F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3" name="Group 326">
                  <a:extLst>
                    <a:ext uri="{FF2B5EF4-FFF2-40B4-BE49-F238E27FC236}">
                      <a16:creationId xmlns:a16="http://schemas.microsoft.com/office/drawing/2014/main" id="{73D89D04-968E-6442-873B-B8D1778FD2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85" name="AutoShape 327">
                    <a:extLst>
                      <a:ext uri="{FF2B5EF4-FFF2-40B4-BE49-F238E27FC236}">
                        <a16:creationId xmlns:a16="http://schemas.microsoft.com/office/drawing/2014/main" id="{6065DB5E-95E8-8643-B0FE-6CB09E8FDB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8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6" name="AutoShape 328">
                    <a:extLst>
                      <a:ext uri="{FF2B5EF4-FFF2-40B4-BE49-F238E27FC236}">
                        <a16:creationId xmlns:a16="http://schemas.microsoft.com/office/drawing/2014/main" id="{F973A90F-0F3C-F744-97ED-8AAC23F79D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1"/>
                    <a:ext cx="694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4" name="Rectangle 329">
                  <a:extLst>
                    <a:ext uri="{FF2B5EF4-FFF2-40B4-BE49-F238E27FC236}">
                      <a16:creationId xmlns:a16="http://schemas.microsoft.com/office/drawing/2014/main" id="{F4ADD3E7-CF4E-ED4B-B276-1E6A7B9D4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2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5" name="Freeform 330">
                  <a:extLst>
                    <a:ext uri="{FF2B5EF4-FFF2-40B4-BE49-F238E27FC236}">
                      <a16:creationId xmlns:a16="http://schemas.microsoft.com/office/drawing/2014/main" id="{1CEE161A-40E6-604E-B7AD-3830C72F6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6" name="Freeform 331">
                  <a:extLst>
                    <a:ext uri="{FF2B5EF4-FFF2-40B4-BE49-F238E27FC236}">
                      <a16:creationId xmlns:a16="http://schemas.microsoft.com/office/drawing/2014/main" id="{40DF445E-B42A-CF43-806C-B86CD0017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7" name="Oval 332">
                  <a:extLst>
                    <a:ext uri="{FF2B5EF4-FFF2-40B4-BE49-F238E27FC236}">
                      <a16:creationId xmlns:a16="http://schemas.microsoft.com/office/drawing/2014/main" id="{4AA850BD-AD7E-884D-BB50-C36880F43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8" name="Freeform 333">
                  <a:extLst>
                    <a:ext uri="{FF2B5EF4-FFF2-40B4-BE49-F238E27FC236}">
                      <a16:creationId xmlns:a16="http://schemas.microsoft.com/office/drawing/2014/main" id="{04990E0C-FF14-0448-9208-F0CB93DA52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9" name="AutoShape 334">
                  <a:extLst>
                    <a:ext uri="{FF2B5EF4-FFF2-40B4-BE49-F238E27FC236}">
                      <a16:creationId xmlns:a16="http://schemas.microsoft.com/office/drawing/2014/main" id="{29F22CD1-333F-2444-8E27-DB06458666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197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0" name="AutoShape 335">
                  <a:extLst>
                    <a:ext uri="{FF2B5EF4-FFF2-40B4-BE49-F238E27FC236}">
                      <a16:creationId xmlns:a16="http://schemas.microsoft.com/office/drawing/2014/main" id="{9522690A-CB4D-3F4F-855E-313DECF4F1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2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1" name="Oval 336">
                  <a:extLst>
                    <a:ext uri="{FF2B5EF4-FFF2-40B4-BE49-F238E27FC236}">
                      <a16:creationId xmlns:a16="http://schemas.microsoft.com/office/drawing/2014/main" id="{749723D7-4892-4246-90CC-F3A241CAD0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2" name="Oval 337">
                  <a:extLst>
                    <a:ext uri="{FF2B5EF4-FFF2-40B4-BE49-F238E27FC236}">
                      <a16:creationId xmlns:a16="http://schemas.microsoft.com/office/drawing/2014/main" id="{B774EC24-F0E4-0846-B90E-1164E93324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3" name="Oval 338">
                  <a:extLst>
                    <a:ext uri="{FF2B5EF4-FFF2-40B4-BE49-F238E27FC236}">
                      <a16:creationId xmlns:a16="http://schemas.microsoft.com/office/drawing/2014/main" id="{2751493B-E933-8A4F-BE77-A10013F6A4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4" name="Rectangle 339">
                  <a:extLst>
                    <a:ext uri="{FF2B5EF4-FFF2-40B4-BE49-F238E27FC236}">
                      <a16:creationId xmlns:a16="http://schemas.microsoft.com/office/drawing/2014/main" id="{635CA67E-C290-3742-9D2C-39D9B69DB5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sp>
        <p:nvSpPr>
          <p:cNvPr id="251" name="Text Box 98">
            <a:extLst>
              <a:ext uri="{FF2B5EF4-FFF2-40B4-BE49-F238E27FC236}">
                <a16:creationId xmlns:a16="http://schemas.microsoft.com/office/drawing/2014/main" id="{40BB819D-0723-5748-B260-0AF0BBAC2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local web cache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2" name="Rectangle 4">
            <a:extLst>
              <a:ext uri="{FF2B5EF4-FFF2-40B4-BE49-F238E27FC236}">
                <a16:creationId xmlns:a16="http://schemas.microsoft.com/office/drawing/2014/main" id="{5292EFEC-88AD-0B46-B2E3-643489D30B9D}"/>
              </a:ext>
            </a:extLst>
          </p:cNvPr>
          <p:cNvSpPr txBox="1">
            <a:spLocks noChangeArrowheads="1"/>
          </p:cNvSpPr>
          <p:nvPr/>
        </p:nvSpPr>
        <p:spPr>
          <a:xfrm>
            <a:off x="889002" y="1405471"/>
            <a:ext cx="6166171" cy="17441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>
                <a:tab pos="53975" algn="l"/>
                <a:tab pos="576263" algn="l"/>
              </a:tabLst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suppose cache hit rate is 0.4:  </a:t>
            </a:r>
          </a:p>
          <a:p>
            <a:pPr marL="352425" marR="0" lvl="0" indent="-231775" algn="l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3975" algn="l"/>
                <a:tab pos="576263" algn="l"/>
              </a:tabLst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40% requests served by cache, with low (msec) delay 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>
                <a:tab pos="576263" algn="l"/>
              </a:tabLst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 </a:t>
            </a:r>
          </a:p>
        </p:txBody>
      </p:sp>
      <p:sp>
        <p:nvSpPr>
          <p:cNvPr id="253" name="Rectangle 4">
            <a:extLst>
              <a:ext uri="{FF2B5EF4-FFF2-40B4-BE49-F238E27FC236}">
                <a16:creationId xmlns:a16="http://schemas.microsoft.com/office/drawing/2014/main" id="{0C139AEE-1F5A-A64B-9C16-223417C8C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219" y="2685374"/>
            <a:ext cx="616836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>
                <a:tab pos="576263" algn="l"/>
              </a:tabLst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60% requests satisfied at origin </a:t>
            </a:r>
          </a:p>
          <a:p>
            <a:pPr marL="406400" marR="0" lvl="1" indent="-1698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rate to browsers over access link 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ZapfDingbats" charset="0"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      = 0.6 * 1.50 Mbps  =  .9 Mbps </a:t>
            </a:r>
          </a:p>
          <a:p>
            <a:pPr marL="4730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Arial" panose="020B0604020202020204" pitchFamily="34" charset="0"/>
              <a:buChar char="•"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access link utilization = 0.9/1.54 = .58 means low (msec) queueing delay at access link</a:t>
            </a:r>
          </a:p>
        </p:txBody>
      </p:sp>
      <p:sp>
        <p:nvSpPr>
          <p:cNvPr id="271" name="Rectangle 4">
            <a:extLst>
              <a:ext uri="{FF2B5EF4-FFF2-40B4-BE49-F238E27FC236}">
                <a16:creationId xmlns:a16="http://schemas.microsoft.com/office/drawing/2014/main" id="{D2059C01-2D9C-6C48-A831-71AE55D0D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6" y="4570944"/>
            <a:ext cx="6438281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marR="0" lvl="0" indent="-220663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average end-end delay:</a:t>
            </a:r>
          </a:p>
          <a:p>
            <a:pPr marL="34290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Tx/>
              <a:buFontTx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0.6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* (delay from origin servers)</a:t>
            </a:r>
          </a:p>
          <a:p>
            <a:pPr marL="34290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Tx/>
              <a:buFontTx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          +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0.4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* (delay when satisfied at cache)</a:t>
            </a:r>
          </a:p>
          <a:p>
            <a:pPr marL="34290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Tx/>
              <a:buFontTx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= 0.6 (2.01) + 0.4 (~msecs) = ~ 1.2 secs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ＭＳ Ｐゴシック" charset="0"/>
              </a:rPr>
              <a:t>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ABE105-9733-D741-944B-F6DC771B29F2}"/>
              </a:ext>
            </a:extLst>
          </p:cNvPr>
          <p:cNvSpPr txBox="1"/>
          <p:nvPr/>
        </p:nvSpPr>
        <p:spPr>
          <a:xfrm>
            <a:off x="990600" y="6119336"/>
            <a:ext cx="92749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lower average end-end delay than with 154 Mbps link (and cheaper too!)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2" name="Slide Number Placeholder 2">
            <a:extLst>
              <a:ext uri="{FF2B5EF4-FFF2-40B4-BE49-F238E27FC236}">
                <a16:creationId xmlns:a16="http://schemas.microsoft.com/office/drawing/2014/main" id="{14DEAC98-1261-9342-BC5F-A639A0695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42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" grpId="0"/>
      <p:bldP spid="271" grpId="0"/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Conditional GET</a:t>
            </a:r>
            <a:endParaRPr lang="en-US" sz="4400" dirty="0"/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id="{8CBA4EFF-1AC8-A245-B998-4DDACE8C36D2}"/>
              </a:ext>
            </a:extLst>
          </p:cNvPr>
          <p:cNvSpPr txBox="1">
            <a:spLocks noChangeArrowheads="1"/>
          </p:cNvSpPr>
          <p:nvPr/>
        </p:nvSpPr>
        <p:spPr>
          <a:xfrm>
            <a:off x="714337" y="1626575"/>
            <a:ext cx="5597253" cy="513238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don’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 send object if cache has up-to-date cached version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object transmission delay (or use of network resources)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specify date of cached copy in HTTP request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If-modified-since: &lt;date&gt;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 contains no object if cached copy is up-to-date: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HTTP/1.0 304 Not Modified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3" name="Line 4">
            <a:extLst>
              <a:ext uri="{FF2B5EF4-FFF2-40B4-BE49-F238E27FC236}">
                <a16:creationId xmlns:a16="http://schemas.microsoft.com/office/drawing/2014/main" id="{F2F5CF00-0B08-CD49-8216-B019F02D6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5490" y="2068251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4" name="Text Box 8">
            <a:extLst>
              <a:ext uri="{FF2B5EF4-FFF2-40B4-BE49-F238E27FC236}">
                <a16:creationId xmlns:a16="http://schemas.microsoft.com/office/drawing/2014/main" id="{906861D1-0EDE-1E49-A686-C17A98961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1878" y="1952364"/>
            <a:ext cx="2681287" cy="6207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request msg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If-modified-since: &lt;date&gt;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5" name="Line 9">
            <a:extLst>
              <a:ext uri="{FF2B5EF4-FFF2-40B4-BE49-F238E27FC236}">
                <a16:creationId xmlns:a16="http://schemas.microsoft.com/office/drawing/2014/main" id="{ED4D0E55-FFE9-4141-9763-499742C88E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54540" y="2814376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76" name="Group 30">
            <a:extLst>
              <a:ext uri="{FF2B5EF4-FFF2-40B4-BE49-F238E27FC236}">
                <a16:creationId xmlns:a16="http://schemas.microsoft.com/office/drawing/2014/main" id="{F2D4CC5D-48B8-6642-A163-00E2785A7CB2}"/>
              </a:ext>
            </a:extLst>
          </p:cNvPr>
          <p:cNvGrpSpPr>
            <a:grpSpLocks/>
          </p:cNvGrpSpPr>
          <p:nvPr/>
        </p:nvGrpSpPr>
        <p:grpSpPr bwMode="auto">
          <a:xfrm>
            <a:off x="7322828" y="2808026"/>
            <a:ext cx="2643187" cy="865188"/>
            <a:chOff x="2698" y="2036"/>
            <a:chExt cx="1665" cy="545"/>
          </a:xfrm>
        </p:grpSpPr>
        <p:sp>
          <p:nvSpPr>
            <p:cNvPr id="277" name="Rectangle 10">
              <a:extLst>
                <a:ext uri="{FF2B5EF4-FFF2-40B4-BE49-F238E27FC236}">
                  <a16:creationId xmlns:a16="http://schemas.microsoft.com/office/drawing/2014/main" id="{B8FAE946-FF4C-5F4E-8634-A0F622EB3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" y="2071"/>
              <a:ext cx="1578" cy="4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Text Box 11">
              <a:extLst>
                <a:ext uri="{FF2B5EF4-FFF2-40B4-BE49-F238E27FC236}">
                  <a16:creationId xmlns:a16="http://schemas.microsoft.com/office/drawing/2014/main" id="{D0F47DD5-D98D-8947-AE9C-C9BE59718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8" y="2036"/>
              <a:ext cx="1665" cy="54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HTTP/1.0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304 Not Modified</a:t>
              </a:r>
              <a:endPara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79" name="Text Box 28">
            <a:extLst>
              <a:ext uri="{FF2B5EF4-FFF2-40B4-BE49-F238E27FC236}">
                <a16:creationId xmlns:a16="http://schemas.microsoft.com/office/drawing/2014/main" id="{FD73E46B-3F04-E648-BC54-671B5D578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0040" y="2103176"/>
            <a:ext cx="1047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modified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before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&lt;date&gt;</a:t>
            </a:r>
          </a:p>
        </p:txBody>
      </p:sp>
      <p:sp>
        <p:nvSpPr>
          <p:cNvPr id="280" name="Line 31">
            <a:extLst>
              <a:ext uri="{FF2B5EF4-FFF2-40B4-BE49-F238E27FC236}">
                <a16:creationId xmlns:a16="http://schemas.microsoft.com/office/drawing/2014/main" id="{C63FE7CD-8932-5842-A550-AB95E976B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2603" y="4033576"/>
            <a:ext cx="3905250" cy="0"/>
          </a:xfrm>
          <a:prstGeom prst="line">
            <a:avLst/>
          </a:prstGeom>
          <a:noFill/>
          <a:ln w="28575">
            <a:solidFill>
              <a:srgbClr val="00009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1" name="Line 32">
            <a:extLst>
              <a:ext uri="{FF2B5EF4-FFF2-40B4-BE49-F238E27FC236}">
                <a16:creationId xmlns:a16="http://schemas.microsoft.com/office/drawing/2014/main" id="{FB4BB9E8-5BA3-1A4B-A22B-B43D879791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2165" y="4632064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2" name="Text Box 34">
            <a:extLst>
              <a:ext uri="{FF2B5EF4-FFF2-40B4-BE49-F238E27FC236}">
                <a16:creationId xmlns:a16="http://schemas.microsoft.com/office/drawing/2014/main" id="{EEDA71D6-F453-1A4D-98C9-B23EA89D5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640" y="4516176"/>
            <a:ext cx="2681288" cy="6207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request msg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If-modified-since: &lt;date&gt;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83" name="Line 35">
            <a:extLst>
              <a:ext uri="{FF2B5EF4-FFF2-40B4-BE49-F238E27FC236}">
                <a16:creationId xmlns:a16="http://schemas.microsoft.com/office/drawing/2014/main" id="{8CE24BAA-3E73-704D-A359-BE2DD47924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21215" y="5411526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4" name="Text Box 38">
            <a:extLst>
              <a:ext uri="{FF2B5EF4-FFF2-40B4-BE49-F238E27FC236}">
                <a16:creationId xmlns:a16="http://schemas.microsoft.com/office/drawing/2014/main" id="{6B6CFEBF-546C-2C4A-A9DA-A2BC6976D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5690" y="5355964"/>
            <a:ext cx="2643188" cy="123110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response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HTTP/1.0 200 OK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&lt;data&gt;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85" name="Text Box 39">
            <a:extLst>
              <a:ext uri="{FF2B5EF4-FFF2-40B4-BE49-F238E27FC236}">
                <a16:creationId xmlns:a16="http://schemas.microsoft.com/office/drawing/2014/main" id="{F31EAC50-5999-F949-836E-741F26435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9415" y="4762239"/>
            <a:ext cx="10477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modified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after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&lt;date&gt;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DA0E8B-38E2-9342-A1EB-20A2D702A664}"/>
              </a:ext>
            </a:extLst>
          </p:cNvPr>
          <p:cNvGrpSpPr/>
          <p:nvPr/>
        </p:nvGrpSpPr>
        <p:grpSpPr>
          <a:xfrm>
            <a:off x="6311590" y="931601"/>
            <a:ext cx="4549154" cy="787400"/>
            <a:chOff x="6311590" y="931601"/>
            <a:chExt cx="4549154" cy="787400"/>
          </a:xfrm>
        </p:grpSpPr>
        <p:sp>
          <p:nvSpPr>
            <p:cNvPr id="286" name="Text Box 5">
              <a:extLst>
                <a:ext uri="{FF2B5EF4-FFF2-40B4-BE49-F238E27FC236}">
                  <a16:creationId xmlns:a16="http://schemas.microsoft.com/office/drawing/2014/main" id="{E637D672-7B6C-1647-8EEE-A788FA28F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1590" y="1015739"/>
              <a:ext cx="7778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client</a:t>
              </a:r>
            </a:p>
          </p:txBody>
        </p:sp>
        <p:sp>
          <p:nvSpPr>
            <p:cNvPr id="287" name="Text Box 6">
              <a:extLst>
                <a:ext uri="{FF2B5EF4-FFF2-40B4-BE49-F238E27FC236}">
                  <a16:creationId xmlns:a16="http://schemas.microsoft.com/office/drawing/2014/main" id="{5AC69B11-5115-184E-9F7C-26E36EF6D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23785" y="1010976"/>
              <a:ext cx="83695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</a:t>
              </a:r>
            </a:p>
          </p:txBody>
        </p:sp>
        <p:grpSp>
          <p:nvGrpSpPr>
            <p:cNvPr id="288" name="Group 34">
              <a:extLst>
                <a:ext uri="{FF2B5EF4-FFF2-40B4-BE49-F238E27FC236}">
                  <a16:creationId xmlns:a16="http://schemas.microsoft.com/office/drawing/2014/main" id="{966CD3F7-7AB2-924F-823A-58555F3217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88190" y="931601"/>
              <a:ext cx="422275" cy="685800"/>
              <a:chOff x="4140" y="429"/>
              <a:chExt cx="1425" cy="2396"/>
            </a:xfrm>
          </p:grpSpPr>
          <p:sp>
            <p:nvSpPr>
              <p:cNvPr id="289" name="Freeform 35">
                <a:extLst>
                  <a:ext uri="{FF2B5EF4-FFF2-40B4-BE49-F238E27FC236}">
                    <a16:creationId xmlns:a16="http://schemas.microsoft.com/office/drawing/2014/main" id="{8CE7E2BE-E936-F147-8C06-143889566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0" name="Rectangle 36">
                <a:extLst>
                  <a:ext uri="{FF2B5EF4-FFF2-40B4-BE49-F238E27FC236}">
                    <a16:creationId xmlns:a16="http://schemas.microsoft.com/office/drawing/2014/main" id="{A6315B9D-328B-4B4A-938A-EEDFB67D3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50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1" name="Freeform 37">
                <a:extLst>
                  <a:ext uri="{FF2B5EF4-FFF2-40B4-BE49-F238E27FC236}">
                    <a16:creationId xmlns:a16="http://schemas.microsoft.com/office/drawing/2014/main" id="{D6D629FF-99A4-C445-814B-73349ADDC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99" name="Freeform 38">
                <a:extLst>
                  <a:ext uri="{FF2B5EF4-FFF2-40B4-BE49-F238E27FC236}">
                    <a16:creationId xmlns:a16="http://schemas.microsoft.com/office/drawing/2014/main" id="{99A64A90-EA88-094D-B5BA-9DEE55C335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0" name="Rectangle 39">
                <a:extLst>
                  <a:ext uri="{FF2B5EF4-FFF2-40B4-BE49-F238E27FC236}">
                    <a16:creationId xmlns:a16="http://schemas.microsoft.com/office/drawing/2014/main" id="{4F858703-B37B-004C-96CE-22FC3EB7F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5"/>
                <a:ext cx="600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501" name="Group 40">
                <a:extLst>
                  <a:ext uri="{FF2B5EF4-FFF2-40B4-BE49-F238E27FC236}">
                    <a16:creationId xmlns:a16="http://schemas.microsoft.com/office/drawing/2014/main" id="{94FE2F64-7E16-FF44-B770-1FF34858DF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42" name="AutoShape 41">
                  <a:extLst>
                    <a:ext uri="{FF2B5EF4-FFF2-40B4-BE49-F238E27FC236}">
                      <a16:creationId xmlns:a16="http://schemas.microsoft.com/office/drawing/2014/main" id="{FFB919DB-3DB6-2E47-9682-893EFF4503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3" name="AutoShape 42">
                  <a:extLst>
                    <a:ext uri="{FF2B5EF4-FFF2-40B4-BE49-F238E27FC236}">
                      <a16:creationId xmlns:a16="http://schemas.microsoft.com/office/drawing/2014/main" id="{4E207D69-67B1-E24E-86A3-1CFB9A8ED6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89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03" name="Rectangle 43">
                <a:extLst>
                  <a:ext uri="{FF2B5EF4-FFF2-40B4-BE49-F238E27FC236}">
                    <a16:creationId xmlns:a16="http://schemas.microsoft.com/office/drawing/2014/main" id="{B50DC330-10D1-2A4E-ACAC-FF9B40FF0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017"/>
                <a:ext cx="595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504" name="Group 44">
                <a:extLst>
                  <a:ext uri="{FF2B5EF4-FFF2-40B4-BE49-F238E27FC236}">
                    <a16:creationId xmlns:a16="http://schemas.microsoft.com/office/drawing/2014/main" id="{2E12D255-3950-B547-9406-602D45CB34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40" name="AutoShape 45">
                  <a:extLst>
                    <a:ext uri="{FF2B5EF4-FFF2-40B4-BE49-F238E27FC236}">
                      <a16:creationId xmlns:a16="http://schemas.microsoft.com/office/drawing/2014/main" id="{BE313EB5-0E75-D64F-9B58-846AEC112D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9"/>
                  <a:ext cx="72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1" name="AutoShape 46">
                  <a:extLst>
                    <a:ext uri="{FF2B5EF4-FFF2-40B4-BE49-F238E27FC236}">
                      <a16:creationId xmlns:a16="http://schemas.microsoft.com/office/drawing/2014/main" id="{7CDD2F87-9EE6-9841-BDE1-56E95B3F00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6"/>
                  <a:ext cx="695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05" name="Rectangle 47">
                <a:extLst>
                  <a:ext uri="{FF2B5EF4-FFF2-40B4-BE49-F238E27FC236}">
                    <a16:creationId xmlns:a16="http://schemas.microsoft.com/office/drawing/2014/main" id="{A3C6AC3E-B182-224E-ABE3-984D17D8A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355"/>
                <a:ext cx="600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6" name="Rectangle 48">
                <a:extLst>
                  <a:ext uri="{FF2B5EF4-FFF2-40B4-BE49-F238E27FC236}">
                    <a16:creationId xmlns:a16="http://schemas.microsoft.com/office/drawing/2014/main" id="{D49F39F4-203C-5E48-875C-EE137013C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655"/>
                <a:ext cx="600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507" name="Group 49">
                <a:extLst>
                  <a:ext uri="{FF2B5EF4-FFF2-40B4-BE49-F238E27FC236}">
                    <a16:creationId xmlns:a16="http://schemas.microsoft.com/office/drawing/2014/main" id="{CBB7495C-CDDF-B74E-AC55-41F4E153E9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38" name="AutoShape 50">
                  <a:extLst>
                    <a:ext uri="{FF2B5EF4-FFF2-40B4-BE49-F238E27FC236}">
                      <a16:creationId xmlns:a16="http://schemas.microsoft.com/office/drawing/2014/main" id="{DBD04B1C-004E-494D-9602-0F1310B0C3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7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9" name="AutoShape 51">
                  <a:extLst>
                    <a:ext uri="{FF2B5EF4-FFF2-40B4-BE49-F238E27FC236}">
                      <a16:creationId xmlns:a16="http://schemas.microsoft.com/office/drawing/2014/main" id="{3D0C8D43-BC47-E747-9FD0-5C502E897C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08" name="Freeform 52">
                <a:extLst>
                  <a:ext uri="{FF2B5EF4-FFF2-40B4-BE49-F238E27FC236}">
                    <a16:creationId xmlns:a16="http://schemas.microsoft.com/office/drawing/2014/main" id="{00C2FD89-F255-5B44-B5A0-4E02CB37B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09" name="Group 53">
                <a:extLst>
                  <a:ext uri="{FF2B5EF4-FFF2-40B4-BE49-F238E27FC236}">
                    <a16:creationId xmlns:a16="http://schemas.microsoft.com/office/drawing/2014/main" id="{C35E79E1-71FE-4E4A-83A2-F8C0643953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36" name="AutoShape 54">
                  <a:extLst>
                    <a:ext uri="{FF2B5EF4-FFF2-40B4-BE49-F238E27FC236}">
                      <a16:creationId xmlns:a16="http://schemas.microsoft.com/office/drawing/2014/main" id="{95A667E4-D78B-7A4C-A440-4917259D7A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7" name="AutoShape 55">
                  <a:extLst>
                    <a:ext uri="{FF2B5EF4-FFF2-40B4-BE49-F238E27FC236}">
                      <a16:creationId xmlns:a16="http://schemas.microsoft.com/office/drawing/2014/main" id="{ED50BD44-2B1A-A041-ACD3-EEFDC83411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5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10" name="Rectangle 56">
                <a:extLst>
                  <a:ext uri="{FF2B5EF4-FFF2-40B4-BE49-F238E27FC236}">
                    <a16:creationId xmlns:a16="http://schemas.microsoft.com/office/drawing/2014/main" id="{5DA6EF43-A6D1-5A48-BBCA-48444D1A9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70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8" name="Freeform 57">
                <a:extLst>
                  <a:ext uri="{FF2B5EF4-FFF2-40B4-BE49-F238E27FC236}">
                    <a16:creationId xmlns:a16="http://schemas.microsoft.com/office/drawing/2014/main" id="{3C6C8679-5D2D-A24A-B371-C4C1F50D1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9" name="Freeform 58">
                <a:extLst>
                  <a:ext uri="{FF2B5EF4-FFF2-40B4-BE49-F238E27FC236}">
                    <a16:creationId xmlns:a16="http://schemas.microsoft.com/office/drawing/2014/main" id="{84C1EB21-DBAC-5D42-A7C0-5F245901D0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0" name="Oval 59">
                <a:extLst>
                  <a:ext uri="{FF2B5EF4-FFF2-40B4-BE49-F238E27FC236}">
                    <a16:creationId xmlns:a16="http://schemas.microsoft.com/office/drawing/2014/main" id="{D88785FB-A16E-B34D-8961-EB75C81E8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09"/>
                <a:ext cx="48" cy="1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9" name="Freeform 60">
                <a:extLst>
                  <a:ext uri="{FF2B5EF4-FFF2-40B4-BE49-F238E27FC236}">
                    <a16:creationId xmlns:a16="http://schemas.microsoft.com/office/drawing/2014/main" id="{137D376C-6C12-0648-BCAA-30DCACD94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0" name="AutoShape 61">
                <a:extLst>
                  <a:ext uri="{FF2B5EF4-FFF2-40B4-BE49-F238E27FC236}">
                    <a16:creationId xmlns:a16="http://schemas.microsoft.com/office/drawing/2014/main" id="{3524D490-AC16-CF4B-AAFE-EF4C666B3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200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1" name="AutoShape 62">
                <a:extLst>
                  <a:ext uri="{FF2B5EF4-FFF2-40B4-BE49-F238E27FC236}">
                    <a16:creationId xmlns:a16="http://schemas.microsoft.com/office/drawing/2014/main" id="{B279651A-6EBD-F542-B219-9B4C83AF4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1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2" name="Oval 63">
                <a:extLst>
                  <a:ext uri="{FF2B5EF4-FFF2-40B4-BE49-F238E27FC236}">
                    <a16:creationId xmlns:a16="http://schemas.microsoft.com/office/drawing/2014/main" id="{15D5DA26-8982-F44B-A3F7-03FEC745AB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1"/>
                <a:ext cx="161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3" name="Oval 64">
                <a:extLst>
                  <a:ext uri="{FF2B5EF4-FFF2-40B4-BE49-F238E27FC236}">
                    <a16:creationId xmlns:a16="http://schemas.microsoft.com/office/drawing/2014/main" id="{25B61B78-2AA0-A245-9C22-EC0A104A49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1"/>
                <a:ext cx="155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34" name="Oval 65">
                <a:extLst>
                  <a:ext uri="{FF2B5EF4-FFF2-40B4-BE49-F238E27FC236}">
                    <a16:creationId xmlns:a16="http://schemas.microsoft.com/office/drawing/2014/main" id="{78934A6A-6F9D-5541-8897-F81821D1A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1"/>
                <a:ext cx="161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5" name="Rectangle 66">
                <a:extLst>
                  <a:ext uri="{FF2B5EF4-FFF2-40B4-BE49-F238E27FC236}">
                    <a16:creationId xmlns:a16="http://schemas.microsoft.com/office/drawing/2014/main" id="{4994117A-432E-094B-BF94-5385D43F9B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6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544" name="Group 67">
              <a:extLst>
                <a:ext uri="{FF2B5EF4-FFF2-40B4-BE49-F238E27FC236}">
                  <a16:creationId xmlns:a16="http://schemas.microsoft.com/office/drawing/2014/main" id="{A6DA78F5-835E-D242-9B19-A42AE8C147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87853" y="976051"/>
              <a:ext cx="742950" cy="742950"/>
              <a:chOff x="-44" y="1473"/>
              <a:chExt cx="981" cy="1105"/>
            </a:xfrm>
          </p:grpSpPr>
          <p:pic>
            <p:nvPicPr>
              <p:cNvPr id="545" name="Picture 68" descr="desktop_computer_stylized_medium">
                <a:extLst>
                  <a:ext uri="{FF2B5EF4-FFF2-40B4-BE49-F238E27FC236}">
                    <a16:creationId xmlns:a16="http://schemas.microsoft.com/office/drawing/2014/main" id="{AF3FF2A0-2B19-2846-B88C-3A51C71882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6" name="Freeform 69">
                <a:extLst>
                  <a:ext uri="{FF2B5EF4-FFF2-40B4-BE49-F238E27FC236}">
                    <a16:creationId xmlns:a16="http://schemas.microsoft.com/office/drawing/2014/main" id="{77A4C668-554A-6C44-A4D3-0F6A27C1F48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6" name="Slide Number Placeholder 2">
            <a:extLst>
              <a:ext uri="{FF2B5EF4-FFF2-40B4-BE49-F238E27FC236}">
                <a16:creationId xmlns:a16="http://schemas.microsoft.com/office/drawing/2014/main" id="{8064881B-A35A-8B40-BFE6-0E4FAAB88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45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" grpId="0" animBg="1"/>
      <p:bldP spid="279" grpId="0"/>
      <p:bldP spid="282" grpId="0" animBg="1"/>
      <p:bldP spid="284" grpId="0" animBg="1"/>
      <p:bldP spid="28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9714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4035</Words>
  <Application>Microsoft Office PowerPoint</Application>
  <PresentationFormat>Widescreen</PresentationFormat>
  <Paragraphs>932</Paragraphs>
  <Slides>44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7" baseType="lpstr">
      <vt:lpstr>ＭＳ Ｐゴシック</vt:lpstr>
      <vt:lpstr>Arial</vt:lpstr>
      <vt:lpstr>Calibri</vt:lpstr>
      <vt:lpstr>Calibri Light</vt:lpstr>
      <vt:lpstr>Comic Sans MS</vt:lpstr>
      <vt:lpstr>Courier</vt:lpstr>
      <vt:lpstr>Courier New</vt:lpstr>
      <vt:lpstr>Gill Sans MT</vt:lpstr>
      <vt:lpstr>Tahoma</vt:lpstr>
      <vt:lpstr>Times New Roman</vt:lpstr>
      <vt:lpstr>Wingdings</vt:lpstr>
      <vt:lpstr>ZapfDingbats</vt:lpstr>
      <vt:lpstr>Office Theme</vt:lpstr>
      <vt:lpstr>PowerPoint Presentation</vt:lpstr>
      <vt:lpstr>Application layer: overview</vt:lpstr>
      <vt:lpstr>Application layer: overview</vt:lpstr>
      <vt:lpstr>Some network apps</vt:lpstr>
      <vt:lpstr>Creating a network app</vt:lpstr>
      <vt:lpstr>Client-server paradigm</vt:lpstr>
      <vt:lpstr>Peer-peer architecture</vt:lpstr>
      <vt:lpstr>Processes communicating</vt:lpstr>
      <vt:lpstr>Sockets</vt:lpstr>
      <vt:lpstr>Addressing processes</vt:lpstr>
      <vt:lpstr>An application-layer protocol defines:</vt:lpstr>
      <vt:lpstr>What transport service does an app need?</vt:lpstr>
      <vt:lpstr>Transport service requirements: common apps</vt:lpstr>
      <vt:lpstr>Internet transport protocols services</vt:lpstr>
      <vt:lpstr>Internet applications, and transport protocols</vt:lpstr>
      <vt:lpstr>Securing TCP</vt:lpstr>
      <vt:lpstr>Web and HTTP</vt:lpstr>
      <vt:lpstr>Application layer: overview</vt:lpstr>
      <vt:lpstr>Web and HTTP</vt:lpstr>
      <vt:lpstr>HTTP overview</vt:lpstr>
      <vt:lpstr>HTTP overview (continued)</vt:lpstr>
      <vt:lpstr>HTTP connections: two types</vt:lpstr>
      <vt:lpstr>Non-persistent HTTP: example</vt:lpstr>
      <vt:lpstr>Non-persistent HTTP: example (cont.)</vt:lpstr>
      <vt:lpstr>Non-persistent HTTP: response time</vt:lpstr>
      <vt:lpstr>Persistent HTTP (HTTP 1.1)</vt:lpstr>
      <vt:lpstr>HTTP request message</vt:lpstr>
      <vt:lpstr>HTTP request message: general format</vt:lpstr>
      <vt:lpstr>Other HTTP request messages</vt:lpstr>
      <vt:lpstr>HTTP response message</vt:lpstr>
      <vt:lpstr>HTTP response status codes</vt:lpstr>
      <vt:lpstr>Trying out HTTP (client side) for yourself</vt:lpstr>
      <vt:lpstr>Maintaining user/server state: cookies</vt:lpstr>
      <vt:lpstr>Maintaining user/server state: cookies</vt:lpstr>
      <vt:lpstr>Maintaining user/server state: cookies</vt:lpstr>
      <vt:lpstr>HTTP cookies: comments</vt:lpstr>
      <vt:lpstr>Web caches</vt:lpstr>
      <vt:lpstr>Web caches (aka proxy servers)</vt:lpstr>
      <vt:lpstr>Caching example</vt:lpstr>
      <vt:lpstr>Option 1: buy a faster access link</vt:lpstr>
      <vt:lpstr>Option 2: install a web cache</vt:lpstr>
      <vt:lpstr>Calculating access link utilization, end-end delay with cache:</vt:lpstr>
      <vt:lpstr>Conditional GET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razzaq</dc:creator>
  <cp:lastModifiedBy>Moiz Ansari</cp:lastModifiedBy>
  <cp:revision>9</cp:revision>
  <dcterms:created xsi:type="dcterms:W3CDTF">2024-08-13T05:48:43Z</dcterms:created>
  <dcterms:modified xsi:type="dcterms:W3CDTF">2025-09-16T18:15:56Z</dcterms:modified>
</cp:coreProperties>
</file>